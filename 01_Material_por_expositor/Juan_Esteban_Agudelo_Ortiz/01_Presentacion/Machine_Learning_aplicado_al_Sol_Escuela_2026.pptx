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1.xml"/><Relationship Id="rId23" Type="http://schemas.openxmlformats.org/officeDocument/2006/relationships/notesMaster" Target="notesMasters/notesMaster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no clasifica cada píxel por separado: sus convoluciones 2D (kernels de 3 × 3, figura 7 de la revisión) combinan información de la vecindad espacial en un encoder–decoder con skip connections, y la salida es un mapa; lo que sí se evalúa píxel a píxel es la loss.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Algunos cuadros de SUVI de ese día salen como ruido (p. ej. el de las 09:21 UT); se muestra uno limpio de las 09:56. Proyecto complementario con un colaborador externo. SUVI: Darnel et al. (2022), Space Weather 20, e2022SW003044. GOES no lleva magnetógrafo, así que los canales de HMI no tienen equivalente.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4.png"/><Relationship Id="rId6"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Zonas oscuras en EUV y fuente principal del </a:t>
            </a:r>
            <a:r>
              <a:rPr lang="en-US" sz="1826"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U-Net</a:t>
            </a:r>
            <a:r>
              <a:rPr lang="en-US" sz="1826" spc="-37" strike="noStrike" u="none" i="0">
                <a:solidFill>
                  <a:srgbClr val="071D30"/>
                </a:solidFill>
                <a:latin typeface="Helvetica World"/>
                <a:ea typeface="Helvetica World"/>
                <a:cs typeface="Helvetica World"/>
                <a:sym typeface="Helvetica World"/>
              </a:rPr>
              <a:t> sobre AIA 193 Å: kernels convolucionales 2D que usan el contexto espacial local y devuelven un mapa de agujeros; </a:t>
            </a:r>
            <a:r>
              <a:rPr lang="en-US" sz="1826" spc="-37" strike="noStrike" u="none" b="1" i="0">
                <a:solidFill>
                  <a:srgbClr val="071D30"/>
                </a:solidFill>
                <a:latin typeface="Helvetica World Bold"/>
                <a:ea typeface="Helvetica World Bold"/>
                <a:cs typeface="Helvetica World Bold"/>
                <a:sym typeface="Helvetica World"/>
              </a:rPr>
              <a:t>2385 mapas</a:t>
            </a:r>
            <a:r>
              <a:rPr lang="en-US" sz="1826"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Se entrena con la </a:t>
            </a:r>
            <a:r>
              <a:rPr lang="en-US" sz="1826" spc="-37" strike="noStrike" u="none" b="1" i="0">
                <a:solidFill>
                  <a:srgbClr val="071D30"/>
                </a:solidFill>
                <a:latin typeface="Helvetica World Bold"/>
                <a:ea typeface="Helvetica World Bold"/>
                <a:cs typeface="Helvetica World Bold"/>
                <a:sym typeface="Helvetica World"/>
              </a:rPr>
              <a:t>binary cross-entropy</a:t>
            </a:r>
            <a:r>
              <a:rPr lang="en-US" sz="1826" spc="-37" strike="noStrike" u="none" i="0">
                <a:solidFill>
                  <a:srgbClr val="071D30"/>
                </a:solidFill>
                <a:latin typeface="Helvetica World"/>
                <a:ea typeface="Helvetica World"/>
                <a:cs typeface="Helvetica World"/>
                <a:sym typeface="Helvetica World"/>
              </a:rPr>
              <a:t>, calculada en cada píxel del mapa de salida</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CHRONNOS</a:t>
            </a:r>
            <a:r>
              <a:rPr lang="en-US" sz="1826"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SUVI es un instrumento </a:t>
            </a:r>
            <a:r>
              <a:rPr lang="en-US" sz="2200" spc="-37" strike="noStrike" u="none" b="1" i="0">
                <a:solidFill>
                  <a:srgbClr val="071D30"/>
                </a:solidFill>
                <a:latin typeface="Helvetica World Bold"/>
                <a:ea typeface="Helvetica World Bold"/>
                <a:cs typeface="Helvetica World Bold"/>
                <a:sym typeface="Helvetica World"/>
              </a:rPr>
              <a:t>operativo</a:t>
            </a:r>
            <a:r>
              <a:rPr lang="en-US" sz="2200" spc="-37" strike="noStrike" u="none" i="0">
                <a:solidFill>
                  <a:srgbClr val="071D30"/>
                </a:solidFill>
                <a:latin typeface="Helvetica World"/>
                <a:ea typeface="Helvetica World"/>
                <a:cs typeface="Helvetica World"/>
                <a:sym typeface="Helvetica World"/>
              </a:rPr>
              <a:t> de GOES-R: daría datos en vivo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Solo </a:t>
            </a:r>
            <a:r>
              <a:rPr lang="en-US" sz="2200" spc="-37" strike="noStrike" u="none" b="1" i="0">
                <a:solidFill>
                  <a:srgbClr val="071D30"/>
                </a:solidFill>
                <a:latin typeface="Helvetica World Bold"/>
                <a:ea typeface="Helvetica World Bold"/>
                <a:cs typeface="Helvetica World Bold"/>
                <a:sym typeface="Helvetica World"/>
              </a:rPr>
              <a:t>6 de los 13</a:t>
            </a:r>
            <a:r>
              <a:rPr lang="en-US" sz="2200" spc="-37" strike="noStrike" u="none" i="0">
                <a:solidFill>
                  <a:srgbClr val="071D30"/>
                </a:solidFill>
                <a:latin typeface="Helvetica World"/>
                <a:ea typeface="Helvetica World"/>
                <a:cs typeface="Helvetica World"/>
                <a:sym typeface="Helvetica World"/>
              </a:rPr>
              <a:t> canales de Surya tienen equivalente en SUVI</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SUVI: 1280² px a 2,5″/px; AIA: 4096² a 0,6″/px</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Hay cuadros de SUVI con ruido anómalo: falta un filtro de calidad</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¿Ve Surya a través de GOES-SUVI?</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MÁS ALLÁ DE SDO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Si Surya transfiere, el copiloto podría trabajar con datos en vivo además de SDO.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SUVI 195 Å (GOES-18, NOAA) y AIA 193 Å (SDO, NASA), 15 mar 2023, 09:56 UT</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sp>
      <p:pic>
        <p:nvPicPr>
          <p:cNvPr id="22" name="Picture 21" descr="suvi_aia.png"/>
          <p:cNvPicPr>
            <a:picLocks noChangeAspect="1"/>
          </p:cNvPicPr>
          <p:nvPr/>
        </p:nvPicPr>
        <p:blipFill>
          <a:blip r:embed="rId5"/>
          <a:stretch>
            <a:fillRect/>
          </a:stretch>
        </p:blipFill>
        <p:spPr>
          <a:xfrm>
            <a:off x="9432000" y="2357280"/>
            <a:ext cx="8424000" cy="47174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Darnel et al. (2022), Space Weather 20, e2022SW003044.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30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b="1" i="0">
                <a:solidFill>
                  <a:srgbClr val="071D30"/>
                </a:solidFill>
                <a:latin typeface="Helvetica World Bold"/>
                <a:ea typeface="Helvetica World Bold"/>
                <a:cs typeface="Helvetica World Bo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Gonzales,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2093690"/>
            <a:ext cx="8424000" cy="5244619"/>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