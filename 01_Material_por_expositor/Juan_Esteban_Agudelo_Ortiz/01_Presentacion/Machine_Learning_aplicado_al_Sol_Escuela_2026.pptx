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66" r:id="rId22"/>
    <p:sldId id="267" r:id="rId24"/>
    <p:sldId id="268" r:id="rId25"/>
    <p:sldId id="269" r:id="rId26"/>
    <p:sldId id="270" r:id="rId27"/>
    <p:sldId id="271" r:id="rId28"/>
    <p:sldId id="272" r:id="rId29"/>
    <p:sldId id="273" r:id="rId30"/>
    <p:sldId id="274" r:id="rId31"/>
    <p:sldId id="275" r:id="rId32"/>
    <p:sldId id="276" r:id="rId33"/>
    <p:sldId id="277" r:id="rId34"/>
    <p:sldId id="278" r:id="rId35"/>
    <p:sldId id="279" r:id="rId36"/>
    <p:sldId id="280" r:id="rId37"/>
    <p:sldId id="281" r:id="rId38"/>
    <p:sldId id="282" r:id="rId39"/>
    <p:sldId id="283" r:id="rId40"/>
    <p:sldId id="284" r:id="rId41"/>
    <p:sldId id="285" r:id="rId42"/>
    <p:sldId id="286" r:id="rId43"/>
    <p:sldId id="287" r:id="rId44"/>
    <p:sldId id="288" r:id="rId45"/>
    <p:sldId id="289" r:id="rId46"/>
    <p:sldId id="290" r:id="rId47"/>
    <p:sldId id="291" r:id="rId48"/>
    <p:sldId id="292" r:id="rId49"/>
    <p:sldId id="293" r:id="rId50"/>
    <p:sldId id="294" r:id="rId51"/>
    <p:sldId id="295" r:id="rId52"/>
  </p:sldIdLst>
  <p:sldSz cx="18288000" cy="10287000"/>
  <p:notesSz cx="6858000" cy="9144000"/>
  <p:embeddedFontLst>
    <p:embeddedFont>
      <p:font typeface="Helvetica World" charset="1" panose="020B0500040000020004"/>
      <p:regular r:id="rId16"/>
    </p:embeddedFont>
    <p:embeddedFont>
      <p:font typeface="Georgia Pro Condensed" charset="1" panose="02040506050405020303"/>
      <p:regular r:id="rId17"/>
    </p:embeddedFont>
    <p:embeddedFont>
      <p:font typeface="Arimo Bold" charset="1" panose="020B0704020202020204"/>
      <p:regular r:id="rId18"/>
    </p:embeddedFont>
    <p:embeddedFont>
      <p:font typeface="Arimo" charset="1" panose="020B0604020202020204"/>
      <p:regular r:id="rId19"/>
    </p:embeddedFont>
    <p:embeddedFont>
      <p:font typeface="Helvetica World Bold" charset="1" panose="020B0800040000020004"/>
      <p:regular r:id="rId20"/>
    </p:embeddedFont>
    <p:embeddedFont>
      <p:font typeface="Arimo Italics" charset="1" panose="020B0604020202090204"/>
      <p:regular r:id="rId21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esProps" Target="presProps.xml"/><Relationship Id="rId3" Type="http://schemas.openxmlformats.org/officeDocument/2006/relationships/viewProps" Target="viewProps.xml"/><Relationship Id="rId4" Type="http://schemas.openxmlformats.org/officeDocument/2006/relationships/theme" Target="theme/theme1.xml"/><Relationship Id="rId5" Type="http://schemas.openxmlformats.org/officeDocument/2006/relationships/tableStyles" Target="tableStyles.xml"/><Relationship Id="rId16" Type="http://schemas.openxmlformats.org/officeDocument/2006/relationships/font" Target="fonts/font16.fntdata"/><Relationship Id="rId17" Type="http://schemas.openxmlformats.org/officeDocument/2006/relationships/font" Target="fonts/font17.fntdata"/><Relationship Id="rId18" Type="http://schemas.openxmlformats.org/officeDocument/2006/relationships/font" Target="fonts/font18.fntdata"/><Relationship Id="rId19" Type="http://schemas.openxmlformats.org/officeDocument/2006/relationships/font" Target="fonts/font19.fntdata"/><Relationship Id="rId20" Type="http://schemas.openxmlformats.org/officeDocument/2006/relationships/font" Target="fonts/font20.fntdata"/><Relationship Id="rId21" Type="http://schemas.openxmlformats.org/officeDocument/2006/relationships/font" Target="fonts/font21.fntdata"/><Relationship Id="rId22" Type="http://schemas.openxmlformats.org/officeDocument/2006/relationships/slide" Target="slides/slide11.xml"/><Relationship Id="rId23" Type="http://schemas.openxmlformats.org/officeDocument/2006/relationships/notesMaster" Target="notesMasters/notesMaster1.xml"/><Relationship Id="rId24" Type="http://schemas.openxmlformats.org/officeDocument/2006/relationships/slide" Target="slides/slide12.xml"/><Relationship Id="rId25" Type="http://schemas.openxmlformats.org/officeDocument/2006/relationships/slide" Target="slides/slide13.xml"/><Relationship Id="rId26" Type="http://schemas.openxmlformats.org/officeDocument/2006/relationships/slide" Target="slides/slide14.xml"/><Relationship Id="rId27" Type="http://schemas.openxmlformats.org/officeDocument/2006/relationships/slide" Target="slides/slide15.xml"/><Relationship Id="rId28" Type="http://schemas.openxmlformats.org/officeDocument/2006/relationships/slide" Target="slides/slide16.xml"/><Relationship Id="rId29" Type="http://schemas.openxmlformats.org/officeDocument/2006/relationships/slide" Target="slides/slide17.xml"/><Relationship Id="rId30" Type="http://schemas.openxmlformats.org/officeDocument/2006/relationships/slide" Target="slides/slide18.xml"/><Relationship Id="rId31" Type="http://schemas.openxmlformats.org/officeDocument/2006/relationships/slide" Target="slides/slide19.xml"/><Relationship Id="rId32" Type="http://schemas.openxmlformats.org/officeDocument/2006/relationships/slide" Target="slides/slide20.xml"/><Relationship Id="rId33" Type="http://schemas.openxmlformats.org/officeDocument/2006/relationships/slide" Target="slides/slide21.xml"/><Relationship Id="rId34" Type="http://schemas.openxmlformats.org/officeDocument/2006/relationships/slide" Target="slides/slide22.xml"/><Relationship Id="rId35" Type="http://schemas.openxmlformats.org/officeDocument/2006/relationships/slide" Target="slides/slide23.xml"/><Relationship Id="rId36" Type="http://schemas.openxmlformats.org/officeDocument/2006/relationships/slide" Target="slides/slide24.xml"/><Relationship Id="rId37" Type="http://schemas.openxmlformats.org/officeDocument/2006/relationships/slide" Target="slides/slide25.xml"/><Relationship Id="rId38" Type="http://schemas.openxmlformats.org/officeDocument/2006/relationships/slide" Target="slides/slide26.xml"/><Relationship Id="rId39" Type="http://schemas.openxmlformats.org/officeDocument/2006/relationships/slide" Target="slides/slide27.xml"/><Relationship Id="rId40" Type="http://schemas.openxmlformats.org/officeDocument/2006/relationships/slide" Target="slides/slide28.xml"/><Relationship Id="rId41" Type="http://schemas.openxmlformats.org/officeDocument/2006/relationships/slide" Target="slides/slide29.xml"/><Relationship Id="rId42" Type="http://schemas.openxmlformats.org/officeDocument/2006/relationships/slide" Target="slides/slide30.xml"/><Relationship Id="rId43" Type="http://schemas.openxmlformats.org/officeDocument/2006/relationships/slide" Target="slides/slide31.xml"/><Relationship Id="rId44" Type="http://schemas.openxmlformats.org/officeDocument/2006/relationships/slide" Target="slides/slide32.xml"/><Relationship Id="rId45" Type="http://schemas.openxmlformats.org/officeDocument/2006/relationships/slide" Target="slides/slide33.xml"/><Relationship Id="rId46" Type="http://schemas.openxmlformats.org/officeDocument/2006/relationships/slide" Target="slides/slide34.xml"/><Relationship Id="rId47" Type="http://schemas.openxmlformats.org/officeDocument/2006/relationships/slide" Target="slides/slide35.xml"/><Relationship Id="rId48" Type="http://schemas.openxmlformats.org/officeDocument/2006/relationships/slide" Target="slides/slide36.xml"/><Relationship Id="rId49" Type="http://schemas.openxmlformats.org/officeDocument/2006/relationships/slide" Target="slides/slide37.xml"/><Relationship Id="rId50" Type="http://schemas.openxmlformats.org/officeDocument/2006/relationships/slide" Target="slides/slide38.xml"/><Relationship Id="rId51" Type="http://schemas.openxmlformats.org/officeDocument/2006/relationships/slide" Target="slides/slide39.xml"/><Relationship Id="rId52" Type="http://schemas.openxmlformats.org/officeDocument/2006/relationships/slide" Target="slides/slide4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Sesión del jueves 29 de octubre de 2026, dos horas. Tres bloques: conceptos, aplicaciones en física solar y mi investigación, con dos momentos de práctica en el cuaderno (corre en CPU, sin GPU).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Tiempos propuestos: 20 + 25 + 60 + 15 de discusión = 120 min. Las prácticas son las secciones 1 a 5 y 6 a 7 del cuaderno 01_Del_dato_solar_al_caption.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Conceptos mínimos, con ejemplos solares tomados de la revisión de Asensio Ramos et al. (2023), Living Reviews in Solar Physics 20, 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misma pregunta de erupciones puede plantearse como clasificación (¿habrá una M o mayor?) o como regresión (flujo máximo de rayos X en 24 h): revisión, sección 1.1.1. El ejemplo no supervisado de la revisión es agrupar perfiles de Stokes por su forma (sección 1.2).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Arquitecturas de la revisión, sección 5.1 (CNN, RNN, atención y transformers). La figura es la arquitectura de Surya: bloques espectrales y de atención de corto y largo alcance; la retomamos en el bloque 03.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 la pérdida que usaron Illarionov y Tlatov (2018) para segmentar agujeros coronales con una U-Net (revisión, sección 7.1). Entrenar es minimizar una pérdida; se separan datos de entrenamiento y de prueba para saber si el modelo generaliza.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Ejemplos de la revisión de Asensio Ramos et al. (2023) y del libro HelioML, más MUISCA, nuestro trabajo en curso.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Fuentes, todas en la revisión: Illarionov y Tlatov (2018), sección 7.1; Enhance, Díaz Baso y Asensio Ramos (2018), sección 7.10.3 (advertir que la superresolución puede crear artefactos); SICON, Asensio Ramos y Díaz Baso (2019), sección 7.7.1; FarNet, Felipe y Asensio Ramos (2019) y Broock et al. (2021), sección 7.10.6.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Revisión, secciones 7.3 y 7.3.6; HelioML, capítulo 1 (Bobra e Ilonidis 2016, ApJ 821, 127). La figura es el recorte del cuaderno: los 13 canales de la AR 11944 a las 18:24 UT, en plena erupción X1.2.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figura sale del cuaderno del capítulo 1 (helioml.org/02/notebook.html): qué tanto separa cada parámetro SHARP las regiones con y sin CME; la helicidad de corriente media es la que más separa. Nueve capítulos con cuaderno: CME, Enhance, DEM, centelleo, espectros de regiones con erupciones, lado lejano, cruces de la magnetopausa, electrones de MeV y regiones fuente del viento solar. Licencia CC BY-NC-ND 4.0. Buen sitio para practicar después de la sesión.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Trabajo en curso; el artículo está en preparación. Todo sale del resumen del borrador: evaluado en un paso de MURaM apartado y en cuatro regiones de Hinode/SOT-SP del catálogo MODEST, comparando con las inversiones 2D de SPINOR. La mancha está fuera del rango de campos del entrenamiento. Arriba, la arquitectura; abajo, B_LOS: verdad de SPINOR, línea base y cada variante, con el error en la fila inferior.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Según el resumen de Surya (Roy et al. 2025), se evaluó sin ajuste en pronóstico de dinámica solar y de erupciones, y con LoRA en viento solar, segmentación de regiones activas, erupciones y espectros EUV.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Presento el prototipo de modelo de visión y lenguaje sobre Surya, con dos prácticas en el cuaderno.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El copiloto es la meta a largo plazo; el VLM que describe una observación es el primer eslabón.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Dos cuadros de entrada separados 60 min, cadencia de 12 min. Nunca se entrenó para hablar: sus embeddings no están alineados con el lenguaje.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Las constantes vienen de scalers.yaml. Cifras reales de la imagen del 7 de enero de 2014, 18:24 UT: mínimo −0,526 y máximo 219,601 tras normalizar aia94.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Celda de la sección 2 del cuaderno (sin el bucle de impresión). Después, secciones 3 a 5: región de interés, tokens y pooling.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caja viene de los reportes de regiones activas de NOAA (vía HEK). El pooling numpy del cuaderno coincide con el de torch (diferencia máxima 6e-8).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El pipeline de artículos busca en NASA ADS, extrae figuras, lee metadatos con un LLM y ubica el evento en HEK; la comparación con plantilla la diseñó e implementó Julio Flórez.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Como Surya está congelado, los embeddings se calculan una vez y se guardan; Surya y el LLM nunca comparten memoria de GPU.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Ejemplo real con un caption de 10 tokens: «A prominence eruption at the north-west limb.» (secuencia_ejemplo.json).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Extracto de la sección 6 (sin docstrings ni __init__). Los pesos son aleatorios: solo sirve para ver las formas.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Corrida 2: 139 muestras de entrenamiento y 55 apartadas. La brecha de imagen es el promedio de las épocas 5 a 20. El sesgo hacia «sur» sale del ejercicio 4 del cuaderno.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Error de longitud grande (31° en días nuevos). La evaluación completa tendrá tres niveles: métricas léxicas, un LLM como juez y revisión humana.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Algunos cuadros de SUVI de ese día salen como ruido (p. ej. el de las 09:21 UT); se muestra uno limpio de las 09:56. Proyecto complementario con un colaborador externo. SUVI: Darnel et al. (2022). GOES no lleva magnetógrafo, así que los canales de HMI no tienen equivalente.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Cerrar y abrir la discusión.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Enlaces completos en 04_Lecturas/README.md.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Iniciativa independiente; sin logos institucionales en esta lámina. Cuadernos de la serie: github.com/Datos-De-Ciencia/series-numpy-curva-de-luz.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Invitar a escanear el QR con el celular.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Preguntas y discusión.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jpeg"/><Relationship Id="rId4" Type="http://schemas.openxmlformats.org/officeDocument/2006/relationships/image" Target="../media/image3.png"/><Relationship Id="rId5" Type="http://schemas.openxmlformats.org/officeDocument/2006/relationships/notesSlide" Target="../notesSlides/notesSlide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e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e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e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2.jpeg"/><Relationship Id="rId4" Type="http://schemas.openxmlformats.org/officeDocument/2006/relationships/image" Target="../media/image3.png"/><Relationship Id="rId5" Type="http://schemas.openxmlformats.org/officeDocument/2006/relationships/image" Target="../media/image8.png"/><Relationship Id="rId6" Type="http://schemas.openxmlformats.org/officeDocument/2006/relationships/notesSlide" Target="../notesSlides/notesSlide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2.jpeg"/><Relationship Id="rId4" Type="http://schemas.openxmlformats.org/officeDocument/2006/relationships/image" Target="../media/image3.png"/><Relationship Id="rId5" Type="http://schemas.openxmlformats.org/officeDocument/2006/relationships/image" Target="../media/image9.png"/><Relationship Id="rId6" Type="http://schemas.openxmlformats.org/officeDocument/2006/relationships/image" Target="../media/image10.png"/><Relationship Id="rId7" Type="http://schemas.openxmlformats.org/officeDocument/2006/relationships/notesSlide" Target="../notesSlides/notesSlide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e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e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2.jpeg"/><Relationship Id="rId4" Type="http://schemas.openxmlformats.org/officeDocument/2006/relationships/image" Target="../media/image3.png"/><Relationship Id="rId5" Type="http://schemas.openxmlformats.org/officeDocument/2006/relationships/image" Target="../media/image11.png"/><Relationship Id="rId6" Type="http://schemas.openxmlformats.org/officeDocument/2006/relationships/notesSlide" Target="../notesSlides/notesSlide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2.jpeg"/><Relationship Id="rId4" Type="http://schemas.openxmlformats.org/officeDocument/2006/relationships/image" Target="../media/image3.png"/><Relationship Id="rId5" Type="http://schemas.openxmlformats.org/officeDocument/2006/relationships/image" Target="../media/image12.png"/><Relationship Id="rId6" Type="http://schemas.openxmlformats.org/officeDocument/2006/relationships/notesSlide" Target="../notesSlides/notesSlide1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2.jpeg"/><Relationship Id="rId4" Type="http://schemas.openxmlformats.org/officeDocument/2006/relationships/image" Target="../media/image3.png"/><Relationship Id="rId5" Type="http://schemas.openxmlformats.org/officeDocument/2006/relationships/image" Target="../media/image13.png"/><Relationship Id="rId6" Type="http://schemas.openxmlformats.org/officeDocument/2006/relationships/notesSlide" Target="../notesSlides/notesSlide1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e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1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e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1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2.jpeg"/><Relationship Id="rId4" Type="http://schemas.openxmlformats.org/officeDocument/2006/relationships/image" Target="../media/image3.png"/><Relationship Id="rId5" Type="http://schemas.openxmlformats.org/officeDocument/2006/relationships/image" Target="../media/image14.png"/><Relationship Id="rId6" Type="http://schemas.openxmlformats.org/officeDocument/2006/relationships/notesSlide" Target="../notesSlides/notesSlide1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e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1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2.jpeg"/><Relationship Id="rId4" Type="http://schemas.openxmlformats.org/officeDocument/2006/relationships/image" Target="../media/image3.png"/><Relationship Id="rId5" Type="http://schemas.openxmlformats.org/officeDocument/2006/relationships/image" Target="../media/image15.png"/><Relationship Id="rId6" Type="http://schemas.openxmlformats.org/officeDocument/2006/relationships/image" Target="../media/image11.png"/><Relationship Id="rId7" Type="http://schemas.openxmlformats.org/officeDocument/2006/relationships/notesSlide" Target="../notesSlides/notesSlide1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e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1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2.jpeg"/><Relationship Id="rId4" Type="http://schemas.openxmlformats.org/officeDocument/2006/relationships/image" Target="../media/image3.png"/><Relationship Id="rId5" Type="http://schemas.openxmlformats.org/officeDocument/2006/relationships/image" Target="../media/image16.png"/><Relationship Id="rId6" Type="http://schemas.openxmlformats.org/officeDocument/2006/relationships/notesSlide" Target="../notesSlides/notesSlide1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e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1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2.jpeg"/><Relationship Id="rId4" Type="http://schemas.openxmlformats.org/officeDocument/2006/relationships/image" Target="../media/image3.png"/><Relationship Id="rId5" Type="http://schemas.openxmlformats.org/officeDocument/2006/relationships/image" Target="../media/image17.png"/><Relationship Id="rId6" Type="http://schemas.openxmlformats.org/officeDocument/2006/relationships/notesSlide" Target="../notesSlides/notesSlide2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2.jpeg"/><Relationship Id="rId4" Type="http://schemas.openxmlformats.org/officeDocument/2006/relationships/image" Target="../media/image3.png"/><Relationship Id="rId5" Type="http://schemas.openxmlformats.org/officeDocument/2006/relationships/image" Target="../media/image18.png"/><Relationship Id="rId6" Type="http://schemas.openxmlformats.org/officeDocument/2006/relationships/notesSlide" Target="../notesSlides/notesSlide2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e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2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e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2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2.jpeg"/><Relationship Id="rId4" Type="http://schemas.openxmlformats.org/officeDocument/2006/relationships/image" Target="../media/image3.png"/><Relationship Id="rId5" Type="http://schemas.openxmlformats.org/officeDocument/2006/relationships/image" Target="../media/image19.png"/><Relationship Id="rId6" Type="http://schemas.openxmlformats.org/officeDocument/2006/relationships/notesSlide" Target="../notesSlides/notesSlide2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2.jpeg"/><Relationship Id="rId4" Type="http://schemas.openxmlformats.org/officeDocument/2006/relationships/image" Target="../media/image3.png"/><Relationship Id="rId5" Type="http://schemas.openxmlformats.org/officeDocument/2006/relationships/image" Target="../media/image20.png"/><Relationship Id="rId6" Type="http://schemas.openxmlformats.org/officeDocument/2006/relationships/notesSlide" Target="../notesSlides/notesSlide2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e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2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e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2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2.jpeg"/><Relationship Id="rId4" Type="http://schemas.openxmlformats.org/officeDocument/2006/relationships/image" Target="../media/image3.png"/><Relationship Id="rId5" Type="http://schemas.openxmlformats.org/officeDocument/2006/relationships/image" Target="../media/image21.png"/><Relationship Id="rId6" Type="http://schemas.openxmlformats.org/officeDocument/2006/relationships/notesSlide" Target="../notesSlides/notesSlide2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2.jpeg"/><Relationship Id="rId4" Type="http://schemas.openxmlformats.org/officeDocument/2006/relationships/image" Target="../media/image3.png"/><Relationship Id="rId5" Type="http://schemas.openxmlformats.org/officeDocument/2006/relationships/image" Target="../media/image22.png"/><Relationship Id="rId6" Type="http://schemas.openxmlformats.org/officeDocument/2006/relationships/notesSlide" Target="../notesSlides/notesSlide2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image" Target="../media/image2.jpeg"/><Relationship Id="rId5" Type="http://schemas.openxmlformats.org/officeDocument/2006/relationships/image" Target="../media/image3.png"/><Relationship Id="rId6" Type="http://schemas.openxmlformats.org/officeDocument/2006/relationships/notesSlide" Target="../notesSlides/notesSlide30.xml"/></Relationships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D30"/>
        </a:solidFill>
      </p:bgPr>
    </p:bg>
    <p:spTree>
      <p:nvGrpSpPr>
        <p:cNvPr id="1" name=""/>
        <p:cNvGrpSpPr/>
        <p:nvPr/>
      </p:nvGrpSpPr>
      <p:grpSpPr/>
      <p:grpSp>
        <p:nvGrpSpPr>
          <p:cNvPr name="Group 2" id="2"/>
          <p:cNvGrpSpPr/>
          <p:nvPr/>
        </p:nvGrpSpPr>
        <p:grpSpPr>
          <a:xfrm rot="0">
            <a:off x="0" y="-12700"/>
            <a:ext cx="11201400" cy="10299700"/>
            <a:chOff x="0" y="0"/>
            <a:chExt cx="963348" cy="885799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963348" cy="885799"/>
            </a:xfrm>
            <a:custGeom>
              <a:avLst/>
              <a:gdLst/>
              <a:ahLst/>
              <a:cxnLst/>
              <a:rect r="r" b="b" t="t" l="l"/>
              <a:pathLst>
                <a:path h="885799" w="963348">
                  <a:moveTo>
                    <a:pt x="0" y="0"/>
                  </a:moveTo>
                  <a:lnTo>
                    <a:pt x="963348" y="0"/>
                  </a:lnTo>
                  <a:lnTo>
                    <a:pt x="963348" y="885799"/>
                  </a:lnTo>
                  <a:lnTo>
                    <a:pt x="0" y="885799"/>
                  </a:lnTo>
                  <a:close/>
                </a:path>
              </a:pathLst>
            </a:custGeom>
            <a:solidFill>
              <a:srgbClr val="071D30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11868150" y="666750"/>
            <a:ext cx="5753100" cy="8953500"/>
            <a:chOff x="0" y="0"/>
            <a:chExt cx="814724" cy="1267949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814724" cy="1267949"/>
            </a:xfrm>
            <a:custGeom>
              <a:avLst/>
              <a:gdLst/>
              <a:ahLst/>
              <a:cxnLst/>
              <a:rect r="r" b="b" t="t" l="l"/>
              <a:pathLst>
                <a:path h="1267949" w="814724">
                  <a:moveTo>
                    <a:pt x="26914" y="0"/>
                  </a:moveTo>
                  <a:lnTo>
                    <a:pt x="787810" y="0"/>
                  </a:lnTo>
                  <a:cubicBezTo>
                    <a:pt x="802675" y="0"/>
                    <a:pt x="814724" y="12050"/>
                    <a:pt x="814724" y="26914"/>
                  </a:cubicBezTo>
                  <a:lnTo>
                    <a:pt x="814724" y="1241035"/>
                  </a:lnTo>
                  <a:cubicBezTo>
                    <a:pt x="814724" y="1255899"/>
                    <a:pt x="802675" y="1267949"/>
                    <a:pt x="787810" y="1267949"/>
                  </a:cubicBezTo>
                  <a:lnTo>
                    <a:pt x="26914" y="1267949"/>
                  </a:lnTo>
                  <a:cubicBezTo>
                    <a:pt x="12050" y="1267949"/>
                    <a:pt x="0" y="1255899"/>
                    <a:pt x="0" y="1241035"/>
                  </a:cubicBezTo>
                  <a:lnTo>
                    <a:pt x="0" y="26914"/>
                  </a:lnTo>
                  <a:cubicBezTo>
                    <a:pt x="0" y="12050"/>
                    <a:pt x="12050" y="0"/>
                    <a:pt x="26914" y="0"/>
                  </a:cubicBezTo>
                  <a:close/>
                </a:path>
              </a:pathLst>
            </a:custGeom>
            <a:blipFill>
              <a:blip r:embed="rId2"/>
              <a:stretch>
                <a:fillRect l="0" t="-199" r="0" b="-199"/>
              </a:stretch>
            </a:blipFill>
          </p:spPr>
        </p:sp>
      </p:grpSp>
      <p:sp>
        <p:nvSpPr>
          <p:cNvPr name="TextBox 6" id="6"/>
          <p:cNvSpPr txBox="true"/>
          <p:nvPr/>
        </p:nvSpPr>
        <p:spPr>
          <a:xfrm rot="0">
            <a:off x="857250" y="7400925"/>
            <a:ext cx="9525000" cy="3714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925"/>
              </a:lnSpc>
              <a:spcBef>
                <a:spcPct val="0"/>
              </a:spcBef>
            </a:pPr>
            <a:r>
              <a:rPr lang="en-US" sz="2250" spc="-33" strike="noStrike" u="none">
                <a:solidFill>
                  <a:srgbClr val="F5F7FA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Juan Esteban Agudelo Ortiz  ·  OAN, Universidad Nacional de Colombia  ·  29 oct 2026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857250" y="1809750"/>
            <a:ext cx="9754495" cy="27432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10500"/>
              </a:lnSpc>
              <a:spcBef>
                <a:spcPct val="0"/>
              </a:spcBef>
            </a:pPr>
            <a:r>
              <a:rPr lang="en-US" sz="10500" spc="-367" strike="noStrike" u="none">
                <a:solidFill>
                  <a:srgbClr val="F5B82E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HelioData</a:t>
            </a:r>
          </a:p>
          <a:p>
            <a:pPr algn="l" marL="0" indent="0" lvl="0">
              <a:lnSpc>
                <a:spcPts val="10500"/>
              </a:lnSpc>
              <a:spcBef>
                <a:spcPct val="0"/>
              </a:spcBef>
            </a:pPr>
            <a:r>
              <a:rPr lang="en-US" sz="10500" spc="-367" strike="noStrike" u="none">
                <a:solidFill>
                  <a:srgbClr val="F5B82E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Academy 2026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876300" y="847725"/>
            <a:ext cx="9525000" cy="3505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29"/>
              </a:lnSpc>
            </a:pPr>
            <a:r>
              <a:rPr lang="en-US" sz="1950" b="true">
                <a:solidFill>
                  <a:srgbClr val="F5B82E"/>
                </a:solidFill>
                <a:latin typeface="Arimo Bold"/>
                <a:ea typeface="Arimo Bold"/>
                <a:cs typeface="Arimo Bold"/>
                <a:sym typeface="Arimo Bold"/>
              </a:rPr>
              <a:t>ESCUELA DE ASTROFÍSICA SOLAR  ·  OCTUBRE 2026</a:t>
            </a:r>
          </a:p>
        </p:txBody>
      </p:sp>
      <p:grpSp>
        <p:nvGrpSpPr>
          <p:cNvPr name="Group 9" id="9"/>
          <p:cNvGrpSpPr/>
          <p:nvPr/>
        </p:nvGrpSpPr>
        <p:grpSpPr>
          <a:xfrm rot="0">
            <a:off x="876300" y="4667250"/>
            <a:ext cx="1428750" cy="57150"/>
            <a:chOff x="0" y="0"/>
            <a:chExt cx="1905000" cy="76200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1905000" cy="76200"/>
            </a:xfrm>
            <a:custGeom>
              <a:avLst/>
              <a:gdLst/>
              <a:ahLst/>
              <a:cxnLst/>
              <a:rect r="r" b="b" t="t" l="l"/>
              <a:pathLst>
                <a:path h="76200" w="1905000">
                  <a:moveTo>
                    <a:pt x="0" y="0"/>
                  </a:moveTo>
                  <a:lnTo>
                    <a:pt x="1905000" y="0"/>
                  </a:lnTo>
                  <a:lnTo>
                    <a:pt x="1905000" y="76200"/>
                  </a:lnTo>
                  <a:lnTo>
                    <a:pt x="0" y="76200"/>
                  </a:lnTo>
                  <a:close/>
                </a:path>
              </a:pathLst>
            </a:custGeom>
            <a:solidFill>
              <a:srgbClr val="F5B82E"/>
            </a:solidFill>
          </p:spPr>
        </p:sp>
        <p:sp>
          <p:nvSpPr>
            <p:cNvPr name="TextBox 11" id="11"/>
            <p:cNvSpPr txBox="true"/>
            <p:nvPr/>
          </p:nvSpPr>
          <p:spPr>
            <a:xfrm>
              <a:off x="0" y="-38100"/>
              <a:ext cx="1905000" cy="1143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2" id="12"/>
          <p:cNvSpPr txBox="true"/>
          <p:nvPr/>
        </p:nvSpPr>
        <p:spPr>
          <a:xfrm rot="0">
            <a:off x="857250" y="5076825"/>
            <a:ext cx="9525000" cy="6991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520"/>
              </a:lnSpc>
            </a:pPr>
            <a:r>
              <a:rPr lang="en-US" sz="3200" b="true">
                <a:solidFill>
                  <a:srgbClr val="FFFFFF"/>
                </a:solidFill>
                <a:latin typeface="Arimo Bold"/>
                <a:ea typeface="Arimo Bold"/>
                <a:cs typeface="Arimo Bold"/>
                <a:sym typeface="Arimo Bold"/>
              </a:rPr>
              <a:t>Machine Learning aplicado al estudio del Sol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857250" y="5895975"/>
            <a:ext cx="7620000" cy="4400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569"/>
              </a:lnSpc>
            </a:pPr>
            <a:r>
              <a:rPr lang="en-US" sz="2550">
                <a:solidFill>
                  <a:srgbClr val="9FB3C8"/>
                </a:solidFill>
                <a:latin typeface="Arimo"/>
                <a:ea typeface="Arimo"/>
                <a:cs typeface="Arimo"/>
                <a:sym typeface="Arimo"/>
              </a:rPr>
              <a:t>Del dato solar al lenguaje: aplicaciones y un copiloto de física solar</a:t>
            </a:r>
          </a:p>
        </p:txBody>
      </p:sp>
      <p:grpSp>
        <p:nvGrpSpPr>
          <p:cNvPr name="Group 14" id="14"/>
          <p:cNvGrpSpPr/>
          <p:nvPr/>
        </p:nvGrpSpPr>
        <p:grpSpPr>
          <a:xfrm rot="0">
            <a:off x="8763000" y="1047750"/>
            <a:ext cx="2381250" cy="2381250"/>
            <a:chOff x="0" y="0"/>
            <a:chExt cx="3175000" cy="3175000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357188" y="357188"/>
              <a:ext cx="2460625" cy="2460625"/>
            </a:xfrm>
            <a:custGeom>
              <a:avLst/>
              <a:gdLst/>
              <a:ahLst/>
              <a:cxnLst/>
              <a:rect r="r" b="b" t="t" l="l"/>
              <a:pathLst>
                <a:path h="2460625" w="2460625">
                  <a:moveTo>
                    <a:pt x="529166" y="1230312"/>
                  </a:moveTo>
                  <a:cubicBezTo>
                    <a:pt x="529166" y="1617544"/>
                    <a:pt x="843080" y="1931458"/>
                    <a:pt x="1230312" y="1931458"/>
                  </a:cubicBezTo>
                  <a:cubicBezTo>
                    <a:pt x="1617544" y="1931458"/>
                    <a:pt x="1931458" y="1617544"/>
                    <a:pt x="1931458" y="1230312"/>
                  </a:cubicBezTo>
                  <a:cubicBezTo>
                    <a:pt x="1931458" y="843080"/>
                    <a:pt x="1617544" y="529166"/>
                    <a:pt x="1230312" y="529166"/>
                  </a:cubicBezTo>
                  <a:cubicBezTo>
                    <a:pt x="843080" y="529166"/>
                    <a:pt x="529166" y="843080"/>
                    <a:pt x="529166" y="1230312"/>
                  </a:cubicBezTo>
                  <a:close/>
                  <a:moveTo>
                    <a:pt x="2397124" y="501385"/>
                  </a:moveTo>
                  <a:cubicBezTo>
                    <a:pt x="2315128" y="362089"/>
                    <a:pt x="2014204" y="373351"/>
                    <a:pt x="1608809" y="530888"/>
                  </a:cubicBezTo>
                  <a:cubicBezTo>
                    <a:pt x="1203414" y="688424"/>
                    <a:pt x="755853" y="968023"/>
                    <a:pt x="436355" y="1263339"/>
                  </a:cubicBezTo>
                  <a:cubicBezTo>
                    <a:pt x="116858" y="1558655"/>
                    <a:pt x="-25473" y="1824302"/>
                    <a:pt x="63500" y="1959239"/>
                  </a:cubicBezTo>
                  <a:cubicBezTo>
                    <a:pt x="145496" y="2098535"/>
                    <a:pt x="446420" y="2087273"/>
                    <a:pt x="851815" y="1929736"/>
                  </a:cubicBezTo>
                  <a:cubicBezTo>
                    <a:pt x="1257210" y="1772200"/>
                    <a:pt x="1704771" y="1492601"/>
                    <a:pt x="2024269" y="1197285"/>
                  </a:cubicBezTo>
                  <a:cubicBezTo>
                    <a:pt x="2343766" y="901969"/>
                    <a:pt x="2486097" y="636323"/>
                    <a:pt x="2397124" y="501385"/>
                  </a:cubicBezTo>
                  <a:close/>
                  <a:moveTo>
                    <a:pt x="1230312" y="211666"/>
                  </a:moveTo>
                  <a:lnTo>
                    <a:pt x="1230312" y="0"/>
                  </a:lnTo>
                  <a:moveTo>
                    <a:pt x="1230312" y="2460624"/>
                  </a:moveTo>
                  <a:lnTo>
                    <a:pt x="1230312" y="2248958"/>
                  </a:lnTo>
                  <a:moveTo>
                    <a:pt x="211666" y="1230312"/>
                  </a:moveTo>
                  <a:lnTo>
                    <a:pt x="0" y="1230312"/>
                  </a:lnTo>
                  <a:moveTo>
                    <a:pt x="2460624" y="1230312"/>
                  </a:moveTo>
                  <a:lnTo>
                    <a:pt x="2248958" y="1230312"/>
                  </a:lnTo>
                  <a:moveTo>
                    <a:pt x="515937" y="515937"/>
                  </a:moveTo>
                  <a:lnTo>
                    <a:pt x="370416" y="370416"/>
                  </a:lnTo>
                  <a:moveTo>
                    <a:pt x="1944687" y="1944687"/>
                  </a:moveTo>
                  <a:lnTo>
                    <a:pt x="2090208" y="2090208"/>
                  </a:lnTo>
                  <a:moveTo>
                    <a:pt x="582083" y="1322916"/>
                  </a:moveTo>
                  <a:lnTo>
                    <a:pt x="873124" y="1322916"/>
                  </a:lnTo>
                  <a:lnTo>
                    <a:pt x="1018645" y="1018645"/>
                  </a:lnTo>
                  <a:lnTo>
                    <a:pt x="1243541" y="1547812"/>
                  </a:lnTo>
                  <a:lnTo>
                    <a:pt x="1441979" y="1150937"/>
                  </a:lnTo>
                  <a:lnTo>
                    <a:pt x="1574270" y="1322916"/>
                  </a:lnTo>
                  <a:lnTo>
                    <a:pt x="1891770" y="1322916"/>
                  </a:lnTo>
                </a:path>
              </a:pathLst>
            </a:custGeom>
            <a:ln w="66675" cap="sq">
              <a:solidFill>
                <a:srgbClr val="F5B82E"/>
              </a:solidFill>
              <a:prstDash val="solid"/>
              <a:miter/>
            </a:ln>
          </p:spPr>
        </p:sp>
        <p:sp>
          <p:nvSpPr>
            <p:cNvPr name="TextBox 16" id="16"/>
            <p:cNvSpPr txBox="true"/>
            <p:nvPr/>
          </p:nvSpPr>
          <p:spPr>
            <a:xfrm>
              <a:off x="0" y="-38100"/>
              <a:ext cx="3175000" cy="3213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7" id="17"/>
          <p:cNvGrpSpPr/>
          <p:nvPr/>
        </p:nvGrpSpPr>
        <p:grpSpPr>
          <a:xfrm rot="0">
            <a:off x="8763000" y="1047750"/>
            <a:ext cx="2381250" cy="2381250"/>
            <a:chOff x="0" y="0"/>
            <a:chExt cx="3175000" cy="3175000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2275417" y="410104"/>
              <a:ext cx="423333" cy="423333"/>
            </a:xfrm>
            <a:custGeom>
              <a:avLst/>
              <a:gdLst/>
              <a:ahLst/>
              <a:cxnLst/>
              <a:rect r="r" b="b" t="t" l="l"/>
              <a:pathLst>
                <a:path h="423333" w="423333">
                  <a:moveTo>
                    <a:pt x="211666" y="0"/>
                  </a:moveTo>
                  <a:lnTo>
                    <a:pt x="264583" y="158750"/>
                  </a:lnTo>
                  <a:lnTo>
                    <a:pt x="423333" y="211667"/>
                  </a:lnTo>
                  <a:lnTo>
                    <a:pt x="264583" y="264584"/>
                  </a:lnTo>
                  <a:lnTo>
                    <a:pt x="211666" y="423334"/>
                  </a:lnTo>
                  <a:lnTo>
                    <a:pt x="158750" y="264584"/>
                  </a:lnTo>
                  <a:lnTo>
                    <a:pt x="0" y="211667"/>
                  </a:lnTo>
                  <a:lnTo>
                    <a:pt x="158750" y="158750"/>
                  </a:lnTo>
                  <a:close/>
                </a:path>
              </a:pathLst>
            </a:custGeom>
            <a:solidFill>
              <a:srgbClr val="F5B82E"/>
            </a:solidFill>
          </p:spPr>
        </p:sp>
        <p:sp>
          <p:nvSpPr>
            <p:cNvPr name="TextBox 19" id="19"/>
            <p:cNvSpPr txBox="true"/>
            <p:nvPr/>
          </p:nvSpPr>
          <p:spPr>
            <a:xfrm>
              <a:off x="0" y="-38100"/>
              <a:ext cx="3175000" cy="3213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20" id="20"/>
          <p:cNvGrpSpPr/>
          <p:nvPr/>
        </p:nvGrpSpPr>
        <p:grpSpPr>
          <a:xfrm rot="0">
            <a:off x="857250" y="8905875"/>
            <a:ext cx="3143250" cy="1000125"/>
            <a:chOff x="0" y="0"/>
            <a:chExt cx="4191000" cy="1333500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4191000" cy="1333500"/>
            </a:xfrm>
            <a:custGeom>
              <a:avLst/>
              <a:gdLst/>
              <a:ahLst/>
              <a:cxnLst/>
              <a:rect r="r" b="b" t="t" l="l"/>
              <a:pathLst>
                <a:path h="1333500" w="4191000">
                  <a:moveTo>
                    <a:pt x="228600" y="0"/>
                  </a:moveTo>
                  <a:lnTo>
                    <a:pt x="3962400" y="0"/>
                  </a:lnTo>
                  <a:cubicBezTo>
                    <a:pt x="4088652" y="0"/>
                    <a:pt x="4191000" y="102348"/>
                    <a:pt x="4191000" y="228600"/>
                  </a:cubicBezTo>
                  <a:lnTo>
                    <a:pt x="4191000" y="1104900"/>
                  </a:lnTo>
                  <a:cubicBezTo>
                    <a:pt x="4191000" y="1231152"/>
                    <a:pt x="4088652" y="1333500"/>
                    <a:pt x="3962400" y="1333500"/>
                  </a:cubicBezTo>
                  <a:lnTo>
                    <a:pt x="228600" y="1333500"/>
                  </a:lnTo>
                  <a:cubicBezTo>
                    <a:pt x="102348" y="1333500"/>
                    <a:pt x="0" y="1231152"/>
                    <a:pt x="0" y="1104900"/>
                  </a:cubicBezTo>
                  <a:lnTo>
                    <a:pt x="0" y="228600"/>
                  </a:lnTo>
                  <a:cubicBezTo>
                    <a:pt x="0" y="102348"/>
                    <a:pt x="102348" y="0"/>
                    <a:pt x="228600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22" id="22"/>
            <p:cNvSpPr txBox="true"/>
            <p:nvPr/>
          </p:nvSpPr>
          <p:spPr>
            <a:xfrm>
              <a:off x="0" y="-38100"/>
              <a:ext cx="4191000" cy="13716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Freeform 23" id="23" descr="Logo Group of Solar Astrophysics GoSA"/>
          <p:cNvSpPr/>
          <p:nvPr/>
        </p:nvSpPr>
        <p:spPr>
          <a:xfrm flipH="false" flipV="false" rot="0">
            <a:off x="1028700" y="9029700"/>
            <a:ext cx="1619250" cy="762000"/>
          </a:xfrm>
          <a:custGeom>
            <a:avLst/>
            <a:gdLst/>
            <a:ahLst/>
            <a:cxnLst/>
            <a:rect r="r" b="b" t="t" l="l"/>
            <a:pathLst>
              <a:path h="762000" w="1619250">
                <a:moveTo>
                  <a:pt x="0" y="0"/>
                </a:moveTo>
                <a:lnTo>
                  <a:pt x="1619250" y="0"/>
                </a:lnTo>
                <a:lnTo>
                  <a:pt x="1619250" y="762000"/>
                </a:lnTo>
                <a:lnTo>
                  <a:pt x="0" y="762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278" t="0" r="-278" b="0"/>
            </a:stretch>
          </a:blipFill>
        </p:spPr>
      </p:sp>
      <p:sp>
        <p:nvSpPr>
          <p:cNvPr name="Freeform 24" id="24" descr="Logo Observatorio Astronómico Nacional"/>
          <p:cNvSpPr/>
          <p:nvPr/>
        </p:nvSpPr>
        <p:spPr>
          <a:xfrm flipH="false" flipV="false" rot="0">
            <a:off x="2857500" y="8991600"/>
            <a:ext cx="895350" cy="838200"/>
          </a:xfrm>
          <a:custGeom>
            <a:avLst/>
            <a:gdLst/>
            <a:ahLst/>
            <a:cxnLst/>
            <a:rect r="r" b="b" t="t" l="l"/>
            <a:pathLst>
              <a:path h="838200" w="895350">
                <a:moveTo>
                  <a:pt x="0" y="0"/>
                </a:moveTo>
                <a:lnTo>
                  <a:pt x="895350" y="0"/>
                </a:lnTo>
                <a:lnTo>
                  <a:pt x="895350" y="838200"/>
                </a:lnTo>
                <a:lnTo>
                  <a:pt x="0" y="83820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-257" t="0" r="-257" b="0"/>
            </a:stretch>
          </a:blipFill>
        </p:spPr>
      </p:sp>
      <p:sp>
        <p:nvSpPr>
          <p:cNvPr name="TextBox 25" id="25"/>
          <p:cNvSpPr txBox="true"/>
          <p:nvPr/>
        </p:nvSpPr>
        <p:spPr>
          <a:xfrm rot="0">
            <a:off x="4286250" y="8982075"/>
            <a:ext cx="6667500" cy="6324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75"/>
              </a:lnSpc>
            </a:pPr>
            <a:r>
              <a:rPr lang="en-US" sz="1650">
                <a:solidFill>
                  <a:srgbClr val="9FB3C8"/>
                </a:solidFill>
                <a:latin typeface="Arimo"/>
                <a:ea typeface="Arimo"/>
                <a:cs typeface="Arimo"/>
                <a:sym typeface="Arimo"/>
              </a:rPr>
              <a:t>Group of Solar Astrophysics GoSA</a:t>
            </a:r>
          </a:p>
          <a:p>
            <a:pPr algn="l">
              <a:lnSpc>
                <a:spcPts val="2475"/>
              </a:lnSpc>
            </a:pPr>
            <a:r>
              <a:rPr lang="en-US" sz="1650">
                <a:solidFill>
                  <a:srgbClr val="9FB3C8"/>
                </a:solidFill>
                <a:latin typeface="Arimo"/>
                <a:ea typeface="Arimo"/>
                <a:cs typeface="Arimo"/>
                <a:sym typeface="Arimo"/>
              </a:rPr>
              <a:t>Observatorio Astronómico Nacional · UNAL Bogotá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/>
      <p:sp>
        <p:nvSpPr>
          <p:cNvPr name="TextBox 2" id="2"/>
          <p:cNvSpPr txBox="true"/>
          <p:nvPr/>
        </p:nvSpPr>
        <p:spPr>
          <a:xfrm rot="0">
            <a:off x="669118" y="3367087"/>
            <a:ext cx="5445932" cy="390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999"/>
              </a:lnSpc>
              <a:spcBef>
                <a:spcPct val="0"/>
              </a:spcBef>
            </a:pPr>
            <a:r>
              <a:rPr lang="en-US" b="true" sz="2499" spc="-37" strike="noStrike" u="none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Conceptos de ML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669118" y="5105400"/>
            <a:ext cx="5445932" cy="6921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800"/>
              </a:lnSpc>
              <a:spcBef>
                <a:spcPct val="0"/>
              </a:spcBef>
            </a:pPr>
            <a:r>
              <a:rPr lang="en-US" sz="2000" spc="-30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Supervisado y no supervisado, redes profundas y cómo se entrenan. (≈ 20 min)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6419850" y="3367087"/>
            <a:ext cx="5446184" cy="390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999"/>
              </a:lnSpc>
              <a:spcBef>
                <a:spcPct val="0"/>
              </a:spcBef>
            </a:pPr>
            <a:r>
              <a:rPr lang="en-US" b="true" sz="2499" spc="-37" strike="noStrike" u="none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Aplicaciones en física solar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6421966" y="5105400"/>
            <a:ext cx="5446184" cy="6921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800"/>
              </a:lnSpc>
              <a:spcBef>
                <a:spcPct val="0"/>
              </a:spcBef>
            </a:pPr>
            <a:r>
              <a:rPr lang="en-US" sz="2000" spc="-30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Segmentar, enfocar, invertir y predecir; HelioML y MUISCA. (≈ 25 min)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12172950" y="3367087"/>
            <a:ext cx="5448300" cy="390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999"/>
              </a:lnSpc>
              <a:spcBef>
                <a:spcPct val="0"/>
              </a:spcBef>
            </a:pPr>
            <a:r>
              <a:rPr lang="en-US" b="true" sz="2499" spc="-37" strike="noStrike" u="none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 Bold"/>
              </a:rPr>
              <a:t>Mi investigación: un copiloto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2172950" y="5105400"/>
            <a:ext cx="5448300" cy="6921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800"/>
              </a:lnSpc>
              <a:spcBef>
                <a:spcPct val="0"/>
              </a:spcBef>
            </a:pPr>
            <a:r>
              <a:rPr lang="en-US" sz="2000" spc="-30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Surya, pares imagen–texto, proyector y resultados, con dos prácticas. (≈ 60 min + 15 de discusión)</a:t>
            </a:r>
          </a:p>
        </p:txBody>
      </p:sp>
      <p:grpSp>
        <p:nvGrpSpPr>
          <p:cNvPr name="Group 8" id="8"/>
          <p:cNvGrpSpPr/>
          <p:nvPr/>
        </p:nvGrpSpPr>
        <p:grpSpPr>
          <a:xfrm rot="0">
            <a:off x="669118" y="4248150"/>
            <a:ext cx="323850" cy="323850"/>
            <a:chOff x="0" y="0"/>
            <a:chExt cx="6350000" cy="635000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6350000" cy="6350000"/>
            </a:xfrm>
            <a:custGeom>
              <a:avLst/>
              <a:gdLst/>
              <a:ahLst/>
              <a:cxnLst/>
              <a:rect r="r" b="b" t="t" l="l"/>
              <a:pathLst>
                <a:path h="6350000" w="6350000">
                  <a:moveTo>
                    <a:pt x="3175000" y="0"/>
                  </a:moveTo>
                  <a:cubicBezTo>
                    <a:pt x="1421496" y="0"/>
                    <a:pt x="0" y="1421496"/>
                    <a:pt x="0" y="3175000"/>
                  </a:cubicBezTo>
                  <a:cubicBezTo>
                    <a:pt x="0" y="4928504"/>
                    <a:pt x="1421496" y="6350000"/>
                    <a:pt x="3175000" y="6350000"/>
                  </a:cubicBezTo>
                  <a:cubicBezTo>
                    <a:pt x="4928504" y="6350000"/>
                    <a:pt x="6350000" y="4928504"/>
                    <a:pt x="6350000" y="3175000"/>
                  </a:cubicBezTo>
                  <a:cubicBezTo>
                    <a:pt x="6350000" y="1421496"/>
                    <a:pt x="4928504" y="0"/>
                    <a:pt x="3175000" y="0"/>
                  </a:cubicBezTo>
                  <a:close/>
                </a:path>
              </a:pathLst>
            </a:custGeom>
            <a:solidFill>
              <a:srgbClr val="F5B82E"/>
            </a:solidFill>
          </p:spPr>
        </p:sp>
      </p:grpSp>
      <p:grpSp>
        <p:nvGrpSpPr>
          <p:cNvPr name="Group 10" id="10"/>
          <p:cNvGrpSpPr/>
          <p:nvPr/>
        </p:nvGrpSpPr>
        <p:grpSpPr>
          <a:xfrm rot="0">
            <a:off x="6421966" y="4248150"/>
            <a:ext cx="323850" cy="323850"/>
            <a:chOff x="0" y="0"/>
            <a:chExt cx="6350000" cy="635000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6350000" cy="6350000"/>
            </a:xfrm>
            <a:custGeom>
              <a:avLst/>
              <a:gdLst/>
              <a:ahLst/>
              <a:cxnLst/>
              <a:rect r="r" b="b" t="t" l="l"/>
              <a:pathLst>
                <a:path h="6350000" w="6350000">
                  <a:moveTo>
                    <a:pt x="3175000" y="0"/>
                  </a:moveTo>
                  <a:cubicBezTo>
                    <a:pt x="1421496" y="0"/>
                    <a:pt x="0" y="1421496"/>
                    <a:pt x="0" y="3175000"/>
                  </a:cubicBezTo>
                  <a:cubicBezTo>
                    <a:pt x="0" y="4928504"/>
                    <a:pt x="1421496" y="6350000"/>
                    <a:pt x="3175000" y="6350000"/>
                  </a:cubicBezTo>
                  <a:cubicBezTo>
                    <a:pt x="4928504" y="6350000"/>
                    <a:pt x="6350000" y="4928504"/>
                    <a:pt x="6350000" y="3175000"/>
                  </a:cubicBezTo>
                  <a:cubicBezTo>
                    <a:pt x="6350000" y="1421496"/>
                    <a:pt x="4928504" y="0"/>
                    <a:pt x="3175000" y="0"/>
                  </a:cubicBezTo>
                  <a:close/>
                </a:path>
              </a:pathLst>
            </a:custGeom>
            <a:solidFill>
              <a:srgbClr val="F5B82E"/>
            </a:solidFill>
          </p:spPr>
        </p:sp>
      </p:grpSp>
      <p:grpSp>
        <p:nvGrpSpPr>
          <p:cNvPr name="Group 12" id="12"/>
          <p:cNvGrpSpPr/>
          <p:nvPr/>
        </p:nvGrpSpPr>
        <p:grpSpPr>
          <a:xfrm rot="0">
            <a:off x="12172950" y="4248150"/>
            <a:ext cx="323850" cy="323850"/>
            <a:chOff x="0" y="0"/>
            <a:chExt cx="6350000" cy="6350000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6350000" cy="6350000"/>
            </a:xfrm>
            <a:custGeom>
              <a:avLst/>
              <a:gdLst/>
              <a:ahLst/>
              <a:cxnLst/>
              <a:rect r="r" b="b" t="t" l="l"/>
              <a:pathLst>
                <a:path h="6350000" w="6350000">
                  <a:moveTo>
                    <a:pt x="3175000" y="0"/>
                  </a:moveTo>
                  <a:cubicBezTo>
                    <a:pt x="1421496" y="0"/>
                    <a:pt x="0" y="1421496"/>
                    <a:pt x="0" y="3175000"/>
                  </a:cubicBezTo>
                  <a:cubicBezTo>
                    <a:pt x="0" y="4928504"/>
                    <a:pt x="1421496" y="6350000"/>
                    <a:pt x="3175000" y="6350000"/>
                  </a:cubicBezTo>
                  <a:cubicBezTo>
                    <a:pt x="4928504" y="6350000"/>
                    <a:pt x="6350000" y="4928504"/>
                    <a:pt x="6350000" y="3175000"/>
                  </a:cubicBezTo>
                  <a:cubicBezTo>
                    <a:pt x="6350000" y="1421496"/>
                    <a:pt x="4928504" y="0"/>
                    <a:pt x="3175000" y="0"/>
                  </a:cubicBezTo>
                  <a:close/>
                </a:path>
              </a:pathLst>
            </a:custGeom>
            <a:solidFill>
              <a:srgbClr val="F5B82E"/>
            </a:solidFill>
          </p:spPr>
        </p:sp>
      </p:grpSp>
      <p:sp>
        <p:nvSpPr>
          <p:cNvPr name="TextBox 14" id="14"/>
          <p:cNvSpPr txBox="true"/>
          <p:nvPr/>
        </p:nvSpPr>
        <p:spPr>
          <a:xfrm rot="0">
            <a:off x="666750" y="809625"/>
            <a:ext cx="16954500" cy="106997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8000"/>
              </a:lnSpc>
            </a:pPr>
            <a:r>
              <a:rPr lang="en-US" sz="8000">
                <a:solidFill>
                  <a:srgbClr val="071D30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Agenda de la sesión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666750" y="2371725"/>
            <a:ext cx="1905000" cy="7905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299"/>
              </a:lnSpc>
            </a:pPr>
            <a:r>
              <a:rPr lang="en-US" sz="4500" b="true">
                <a:solidFill>
                  <a:srgbClr val="F5B82E"/>
                </a:solidFill>
                <a:latin typeface="Arimo Bold"/>
                <a:ea typeface="Arimo Bold"/>
                <a:cs typeface="Arimo Bold"/>
                <a:sym typeface="Arimo Bold"/>
              </a:rPr>
              <a:t>01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6419850" y="2371725"/>
            <a:ext cx="1905000" cy="7905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299"/>
              </a:lnSpc>
            </a:pPr>
            <a:r>
              <a:rPr lang="en-US" sz="4500" b="true">
                <a:solidFill>
                  <a:srgbClr val="F5B82E"/>
                </a:solidFill>
                <a:latin typeface="Arimo Bold"/>
                <a:ea typeface="Arimo Bold"/>
                <a:cs typeface="Arimo Bold"/>
                <a:sym typeface="Arimo Bold"/>
              </a:rPr>
              <a:t>02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12172950" y="2371725"/>
            <a:ext cx="1905000" cy="7905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299"/>
              </a:lnSpc>
            </a:pPr>
            <a:r>
              <a:rPr lang="en-US" sz="4500" b="true">
                <a:solidFill>
                  <a:srgbClr val="F5B82E"/>
                </a:solidFill>
                <a:latin typeface="Arimo Bold"/>
                <a:ea typeface="Arimo Bold"/>
                <a:cs typeface="Arimo Bold"/>
                <a:sym typeface="Arimo Bold"/>
              </a:rPr>
              <a:t>03</a:t>
            </a:r>
          </a:p>
        </p:txBody>
      </p:sp>
      <p:sp>
        <p:nvSpPr>
          <p:cNvPr name="TextBox 18" id="18"/>
          <p:cNvSpPr txBox="true"/>
          <p:nvPr/>
        </p:nvSpPr>
        <p:spPr>
          <a:xfrm rot="0">
            <a:off x="685800" y="1943100"/>
            <a:ext cx="76200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>
                <a:solidFill>
                  <a:srgbClr val="087F8C"/>
                </a:solidFill>
                <a:latin typeface="Arimo Bold"/>
                <a:ea typeface="Arimo Bold"/>
                <a:cs typeface="Arimo Bold"/>
                <a:sym typeface="Arimo Bold"/>
              </a:rPr>
              <a:t>RUTA DE LA SESIÓN</a:t>
            </a:r>
          </a:p>
        </p:txBody>
      </p:sp>
      <p:grpSp>
        <p:nvGrpSpPr>
          <p:cNvPr name="Group 19" id="19"/>
          <p:cNvGrpSpPr/>
          <p:nvPr/>
        </p:nvGrpSpPr>
        <p:grpSpPr>
          <a:xfrm rot="0">
            <a:off x="16383000" y="571500"/>
            <a:ext cx="1238250" cy="1238250"/>
            <a:chOff x="0" y="0"/>
            <a:chExt cx="1651000" cy="1651000"/>
          </a:xfrm>
        </p:grpSpPr>
        <p:sp>
          <p:nvSpPr>
            <p:cNvPr name="Freeform 20" id="20"/>
            <p:cNvSpPr/>
            <p:nvPr/>
          </p:nvSpPr>
          <p:spPr>
            <a:xfrm flipH="false" flipV="false" rot="0">
              <a:off x="185738" y="185738"/>
              <a:ext cx="1279525" cy="1279525"/>
            </a:xfrm>
            <a:custGeom>
              <a:avLst/>
              <a:gdLst/>
              <a:ahLst/>
              <a:cxnLst/>
              <a:rect r="r" b="b" t="t" l="l"/>
              <a:pathLst>
                <a:path h="1279525" w="1279525">
                  <a:moveTo>
                    <a:pt x="275166" y="639762"/>
                  </a:moveTo>
                  <a:cubicBezTo>
                    <a:pt x="275166" y="841123"/>
                    <a:pt x="438401" y="1004358"/>
                    <a:pt x="639762" y="1004358"/>
                  </a:cubicBezTo>
                  <a:cubicBezTo>
                    <a:pt x="841123" y="1004358"/>
                    <a:pt x="1004358" y="841123"/>
                    <a:pt x="1004358" y="639762"/>
                  </a:cubicBezTo>
                  <a:cubicBezTo>
                    <a:pt x="1004358" y="438401"/>
                    <a:pt x="841123" y="275166"/>
                    <a:pt x="639762" y="275166"/>
                  </a:cubicBezTo>
                  <a:cubicBezTo>
                    <a:pt x="438401" y="275166"/>
                    <a:pt x="275166" y="438401"/>
                    <a:pt x="275166" y="639762"/>
                  </a:cubicBezTo>
                  <a:close/>
                  <a:moveTo>
                    <a:pt x="1246505" y="260720"/>
                  </a:moveTo>
                  <a:cubicBezTo>
                    <a:pt x="1203867" y="188286"/>
                    <a:pt x="1047386" y="194142"/>
                    <a:pt x="836581" y="276061"/>
                  </a:cubicBezTo>
                  <a:cubicBezTo>
                    <a:pt x="625775" y="357980"/>
                    <a:pt x="393043" y="503372"/>
                    <a:pt x="226905" y="656936"/>
                  </a:cubicBezTo>
                  <a:cubicBezTo>
                    <a:pt x="60766" y="810500"/>
                    <a:pt x="-13246" y="948637"/>
                    <a:pt x="33020" y="1018804"/>
                  </a:cubicBezTo>
                  <a:cubicBezTo>
                    <a:pt x="75657" y="1091238"/>
                    <a:pt x="232138" y="1085382"/>
                    <a:pt x="442943" y="1003463"/>
                  </a:cubicBezTo>
                  <a:cubicBezTo>
                    <a:pt x="653749" y="921544"/>
                    <a:pt x="886481" y="776152"/>
                    <a:pt x="1052619" y="622588"/>
                  </a:cubicBezTo>
                  <a:cubicBezTo>
                    <a:pt x="1218758" y="469024"/>
                    <a:pt x="1292770" y="330887"/>
                    <a:pt x="1246505" y="260720"/>
                  </a:cubicBezTo>
                  <a:close/>
                  <a:moveTo>
                    <a:pt x="639762" y="110066"/>
                  </a:moveTo>
                  <a:lnTo>
                    <a:pt x="639762" y="0"/>
                  </a:lnTo>
                  <a:moveTo>
                    <a:pt x="639762" y="1279524"/>
                  </a:moveTo>
                  <a:lnTo>
                    <a:pt x="639762" y="1169458"/>
                  </a:lnTo>
                  <a:moveTo>
                    <a:pt x="110066" y="639762"/>
                  </a:moveTo>
                  <a:lnTo>
                    <a:pt x="0" y="639762"/>
                  </a:lnTo>
                  <a:moveTo>
                    <a:pt x="1279524" y="639762"/>
                  </a:moveTo>
                  <a:lnTo>
                    <a:pt x="1169458" y="639762"/>
                  </a:lnTo>
                  <a:moveTo>
                    <a:pt x="268287" y="268287"/>
                  </a:moveTo>
                  <a:lnTo>
                    <a:pt x="192616" y="192616"/>
                  </a:lnTo>
                  <a:moveTo>
                    <a:pt x="1011237" y="1011237"/>
                  </a:moveTo>
                  <a:lnTo>
                    <a:pt x="1086908" y="1086908"/>
                  </a:lnTo>
                  <a:moveTo>
                    <a:pt x="302683" y="687916"/>
                  </a:moveTo>
                  <a:lnTo>
                    <a:pt x="454024" y="687916"/>
                  </a:lnTo>
                  <a:lnTo>
                    <a:pt x="529695" y="529695"/>
                  </a:lnTo>
                  <a:lnTo>
                    <a:pt x="646641" y="804862"/>
                  </a:lnTo>
                  <a:lnTo>
                    <a:pt x="749829" y="598487"/>
                  </a:lnTo>
                  <a:lnTo>
                    <a:pt x="818620" y="687916"/>
                  </a:lnTo>
                  <a:lnTo>
                    <a:pt x="983720" y="687916"/>
                  </a:lnTo>
                </a:path>
              </a:pathLst>
            </a:custGeom>
            <a:ln w="38100" cap="sq">
              <a:solidFill>
                <a:srgbClr val="087F8C"/>
              </a:solidFill>
              <a:prstDash val="solid"/>
              <a:miter/>
            </a:ln>
          </p:spPr>
        </p:sp>
        <p:sp>
          <p:nvSpPr>
            <p:cNvPr name="TextBox 21" id="21"/>
            <p:cNvSpPr txBox="true"/>
            <p:nvPr/>
          </p:nvSpPr>
          <p:spPr>
            <a:xfrm>
              <a:off x="0" y="-38100"/>
              <a:ext cx="1651000" cy="1689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22" id="22"/>
          <p:cNvGrpSpPr/>
          <p:nvPr/>
        </p:nvGrpSpPr>
        <p:grpSpPr>
          <a:xfrm rot="0">
            <a:off x="16383000" y="571500"/>
            <a:ext cx="1238250" cy="1238250"/>
            <a:chOff x="0" y="0"/>
            <a:chExt cx="1651000" cy="1651000"/>
          </a:xfrm>
        </p:grpSpPr>
        <p:sp>
          <p:nvSpPr>
            <p:cNvPr name="Freeform 23" id="23"/>
            <p:cNvSpPr/>
            <p:nvPr/>
          </p:nvSpPr>
          <p:spPr>
            <a:xfrm flipH="false" flipV="false" rot="0">
              <a:off x="1183217" y="213254"/>
              <a:ext cx="220133" cy="220133"/>
            </a:xfrm>
            <a:custGeom>
              <a:avLst/>
              <a:gdLst/>
              <a:ahLst/>
              <a:cxnLst/>
              <a:rect r="r" b="b" t="t" l="l"/>
              <a:pathLst>
                <a:path h="220133" w="220133">
                  <a:moveTo>
                    <a:pt x="110066" y="0"/>
                  </a:moveTo>
                  <a:lnTo>
                    <a:pt x="137583" y="82550"/>
                  </a:lnTo>
                  <a:lnTo>
                    <a:pt x="220133" y="110067"/>
                  </a:lnTo>
                  <a:lnTo>
                    <a:pt x="137583" y="137584"/>
                  </a:lnTo>
                  <a:lnTo>
                    <a:pt x="110066" y="220134"/>
                  </a:lnTo>
                  <a:lnTo>
                    <a:pt x="82550" y="137584"/>
                  </a:lnTo>
                  <a:lnTo>
                    <a:pt x="0" y="110067"/>
                  </a:lnTo>
                  <a:lnTo>
                    <a:pt x="82550" y="82550"/>
                  </a:lnTo>
                  <a:close/>
                </a:path>
              </a:pathLst>
            </a:custGeom>
            <a:solidFill>
              <a:srgbClr val="F5B82E"/>
            </a:solidFill>
          </p:spPr>
        </p:sp>
        <p:sp>
          <p:nvSpPr>
            <p:cNvPr name="TextBox 24" id="24"/>
            <p:cNvSpPr txBox="true"/>
            <p:nvPr/>
          </p:nvSpPr>
          <p:spPr>
            <a:xfrm>
              <a:off x="0" y="-38100"/>
              <a:ext cx="1651000" cy="1689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25" id="25"/>
          <p:cNvSpPr txBox="true"/>
          <p:nvPr/>
        </p:nvSpPr>
        <p:spPr>
          <a:xfrm rot="0">
            <a:off x="666750" y="9772650"/>
            <a:ext cx="9525000" cy="224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84"/>
              </a:lnSpc>
            </a:pPr>
            <a:r>
              <a:rPr lang="en-US" sz="1275" b="true">
                <a:solidFill>
                  <a:srgbClr val="53697A"/>
                </a:solidFill>
                <a:latin typeface="Arimo Bold"/>
                <a:ea typeface="Arimo Bold"/>
                <a:cs typeface="Arimo Bold"/>
                <a:sym typeface="Arimo Bold"/>
              </a:rPr>
              <a:t>HELIODATA ACADEMY 2026  ·  ESCUELA DE ASTROFÍSICA SOLAR</a:t>
            </a:r>
          </a:p>
        </p:txBody>
      </p:sp>
      <p:grpSp>
        <p:nvGrpSpPr>
          <p:cNvPr name="Group 26" id="26"/>
          <p:cNvGrpSpPr/>
          <p:nvPr/>
        </p:nvGrpSpPr>
        <p:grpSpPr>
          <a:xfrm rot="0">
            <a:off x="666750" y="9639300"/>
            <a:ext cx="16954500" cy="19050"/>
            <a:chOff x="0" y="0"/>
            <a:chExt cx="22606000" cy="25400"/>
          </a:xfrm>
        </p:grpSpPr>
        <p:sp>
          <p:nvSpPr>
            <p:cNvPr name="Freeform 27" id="27"/>
            <p:cNvSpPr/>
            <p:nvPr/>
          </p:nvSpPr>
          <p:spPr>
            <a:xfrm flipH="false" flipV="false" rot="0">
              <a:off x="0" y="0"/>
              <a:ext cx="22606000" cy="25400"/>
            </a:xfrm>
            <a:custGeom>
              <a:avLst/>
              <a:gdLst/>
              <a:ahLst/>
              <a:cxnLst/>
              <a:rect r="r" b="b" t="t" l="l"/>
              <a:pathLst>
                <a:path h="25400" w="22606000">
                  <a:moveTo>
                    <a:pt x="0" y="0"/>
                  </a:moveTo>
                  <a:lnTo>
                    <a:pt x="22606000" y="0"/>
                  </a:lnTo>
                  <a:lnTo>
                    <a:pt x="22606000" y="25400"/>
                  </a:lnTo>
                  <a:lnTo>
                    <a:pt x="0" y="25400"/>
                  </a:lnTo>
                  <a:close/>
                </a:path>
              </a:pathLst>
            </a:custGeom>
            <a:solidFill>
              <a:srgbClr val="C9D3DD"/>
            </a:solidFill>
          </p:spPr>
        </p:sp>
        <p:sp>
          <p:nvSpPr>
            <p:cNvPr name="TextBox 28" id="28"/>
            <p:cNvSpPr txBox="true"/>
            <p:nvPr/>
          </p:nvSpPr>
          <p:spPr>
            <a:xfrm>
              <a:off x="0" y="-38100"/>
              <a:ext cx="22606000" cy="635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Freeform 29" id="29" descr="Logo GoSA"/>
          <p:cNvSpPr/>
          <p:nvPr/>
        </p:nvSpPr>
        <p:spPr>
          <a:xfrm flipH="false" flipV="false" rot="0">
            <a:off x="16192500" y="9734550"/>
            <a:ext cx="819150" cy="381000"/>
          </a:xfrm>
          <a:custGeom>
            <a:avLst/>
            <a:gdLst/>
            <a:ahLst/>
            <a:cxnLst/>
            <a:rect r="r" b="b" t="t" l="l"/>
            <a:pathLst>
              <a:path h="381000" w="819150">
                <a:moveTo>
                  <a:pt x="0" y="0"/>
                </a:moveTo>
                <a:lnTo>
                  <a:pt x="819150" y="0"/>
                </a:lnTo>
                <a:lnTo>
                  <a:pt x="819150" y="381000"/>
                </a:lnTo>
                <a:lnTo>
                  <a:pt x="0" y="381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07" r="0" b="-307"/>
            </a:stretch>
          </a:blipFill>
        </p:spPr>
      </p:sp>
      <p:sp>
        <p:nvSpPr>
          <p:cNvPr name="Freeform 30" id="30" descr="Logo Observatorio Astronómico Nacional"/>
          <p:cNvSpPr/>
          <p:nvPr/>
        </p:nvSpPr>
        <p:spPr>
          <a:xfrm flipH="false" flipV="false" rot="0">
            <a:off x="17145000" y="9715500"/>
            <a:ext cx="457200" cy="428625"/>
          </a:xfrm>
          <a:custGeom>
            <a:avLst/>
            <a:gdLst/>
            <a:ahLst/>
            <a:cxnLst/>
            <a:rect r="r" b="b" t="t" l="l"/>
            <a:pathLst>
              <a:path h="428625" w="457200">
                <a:moveTo>
                  <a:pt x="0" y="0"/>
                </a:moveTo>
                <a:lnTo>
                  <a:pt x="457200" y="0"/>
                </a:lnTo>
                <a:lnTo>
                  <a:pt x="45720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328" t="0" r="-328" b="0"/>
            </a:stretch>
          </a:blipFill>
        </p:spPr>
      </p:sp>
      <p:grpSp>
        <p:nvGrpSpPr>
          <p:cNvPr name="Group 31" id="31"/>
          <p:cNvGrpSpPr/>
          <p:nvPr/>
        </p:nvGrpSpPr>
        <p:grpSpPr>
          <a:xfrm rot="0">
            <a:off x="828675" y="4391025"/>
            <a:ext cx="16792575" cy="28575"/>
            <a:chOff x="0" y="0"/>
            <a:chExt cx="22390100" cy="38100"/>
          </a:xfrm>
        </p:grpSpPr>
        <p:sp>
          <p:nvSpPr>
            <p:cNvPr name="Freeform 32" id="32"/>
            <p:cNvSpPr/>
            <p:nvPr/>
          </p:nvSpPr>
          <p:spPr>
            <a:xfrm flipH="false" flipV="false" rot="0">
              <a:off x="0" y="0"/>
              <a:ext cx="22390100" cy="38100"/>
            </a:xfrm>
            <a:custGeom>
              <a:avLst/>
              <a:gdLst/>
              <a:ahLst/>
              <a:cxnLst/>
              <a:rect r="r" b="b" t="t" l="l"/>
              <a:pathLst>
                <a:path h="38100" w="22390100">
                  <a:moveTo>
                    <a:pt x="0" y="0"/>
                  </a:moveTo>
                  <a:lnTo>
                    <a:pt x="22390100" y="0"/>
                  </a:lnTo>
                  <a:lnTo>
                    <a:pt x="22390100" y="38100"/>
                  </a:lnTo>
                  <a:lnTo>
                    <a:pt x="0" y="38100"/>
                  </a:lnTo>
                  <a:close/>
                </a:path>
              </a:pathLst>
            </a:custGeom>
            <a:solidFill>
              <a:srgbClr val="087F8C"/>
            </a:solidFill>
          </p:spPr>
        </p:sp>
        <p:sp>
          <p:nvSpPr>
            <p:cNvPr name="TextBox 33" id="33"/>
            <p:cNvSpPr txBox="true"/>
            <p:nvPr/>
          </p:nvSpPr>
          <p:spPr>
            <a:xfrm>
              <a:off x="0" y="-38100"/>
              <a:ext cx="22390100" cy="762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D30"/>
        </a:solidFill>
      </p:bgPr>
    </p:bg>
    <p:spTree>
      <p:nvGrpSpPr>
        <p:cNvPr id="1" name=""/>
        <p:cNvGrpSpPr/>
        <p:nvPr/>
      </p:nvGrpSpPr>
      <p:grpSpPr/>
      <p:sp>
        <p:nvSpPr>
          <p:cNvPr name="TextBox 2" id="2"/>
          <p:cNvSpPr txBox="true"/>
          <p:nvPr/>
        </p:nvSpPr>
        <p:spPr>
          <a:xfrm rot="0">
            <a:off x="17259300" y="9220200"/>
            <a:ext cx="152400" cy="190500"/>
          </a:xfrm>
          <a:prstGeom prst="rect">
            <a:avLst/>
          </a:prstGeom>
        </p:spPr>
        <p:txBody>
          <a:bodyPr anchor="t" rtlCol="false" tIns="0" lIns="0" bIns="0" rIns="0" wrap="none">
            <a:spAutoFit/>
          </a:bodyPr>
          <a:lstStyle/>
          <a:p>
            <a:pPr algn="ctr">
              <a:lnSpc>
                <a:spcPts val="2800"/>
              </a:lnSpc>
              <a:spcBef>
                <a:spcPct val="0"/>
              </a:spcBef>
            </a:pPr>
            <a:r>
              <a:rPr lang="en-US" sz="2000">
                <a:solidFill>
                  <a:srgbClr val="F5F7FA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3</a:t>
            </a:r>
          </a:p>
        </p:txBody>
      </p:sp>
      <p:grpSp>
        <p:nvGrpSpPr>
          <p:cNvPr name="Group 3" id="3"/>
          <p:cNvGrpSpPr/>
          <p:nvPr/>
        </p:nvGrpSpPr>
        <p:grpSpPr>
          <a:xfrm rot="0">
            <a:off x="666750" y="666750"/>
            <a:ext cx="16954500" cy="8953500"/>
            <a:chOff x="0" y="0"/>
            <a:chExt cx="4465383" cy="2358123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4465383" cy="2358124"/>
            </a:xfrm>
            <a:custGeom>
              <a:avLst/>
              <a:gdLst/>
              <a:ahLst/>
              <a:cxnLst/>
              <a:rect r="r" b="b" t="t" l="l"/>
              <a:pathLst>
                <a:path h="2358124" w="4465383">
                  <a:moveTo>
                    <a:pt x="20548" y="0"/>
                  </a:moveTo>
                  <a:lnTo>
                    <a:pt x="4444835" y="0"/>
                  </a:lnTo>
                  <a:cubicBezTo>
                    <a:pt x="4456183" y="0"/>
                    <a:pt x="4465383" y="9200"/>
                    <a:pt x="4465383" y="20548"/>
                  </a:cubicBezTo>
                  <a:lnTo>
                    <a:pt x="4465383" y="2337575"/>
                  </a:lnTo>
                  <a:cubicBezTo>
                    <a:pt x="4465383" y="2348924"/>
                    <a:pt x="4456183" y="2358124"/>
                    <a:pt x="4444835" y="2358124"/>
                  </a:cubicBezTo>
                  <a:lnTo>
                    <a:pt x="20548" y="2358124"/>
                  </a:lnTo>
                  <a:cubicBezTo>
                    <a:pt x="9200" y="2358124"/>
                    <a:pt x="0" y="2348924"/>
                    <a:pt x="0" y="2337575"/>
                  </a:cubicBezTo>
                  <a:lnTo>
                    <a:pt x="0" y="20548"/>
                  </a:lnTo>
                  <a:cubicBezTo>
                    <a:pt x="0" y="9200"/>
                    <a:pt x="9200" y="0"/>
                    <a:pt x="20548" y="0"/>
                  </a:cubicBezTo>
                  <a:close/>
                </a:path>
              </a:pathLst>
            </a:custGeom>
            <a:solidFill>
              <a:srgbClr val="F5B82E"/>
            </a:solidFill>
            <a:ln cap="rnd">
              <a:noFill/>
              <a:prstDash val="solid"/>
              <a:round/>
            </a:ln>
          </p:spPr>
        </p:sp>
        <p:sp>
          <p:nvSpPr>
            <p:cNvPr name="TextBox 5" id="5"/>
            <p:cNvSpPr txBox="true"/>
            <p:nvPr/>
          </p:nvSpPr>
          <p:spPr>
            <a:xfrm>
              <a:off x="0" y="-38100"/>
              <a:ext cx="4465383" cy="239622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359"/>
                </a:lnSpc>
              </a:pPr>
            </a:p>
          </p:txBody>
        </p:sp>
      </p:grpSp>
      <p:sp>
        <p:nvSpPr>
          <p:cNvPr name="TextBox 6" id="6"/>
          <p:cNvSpPr txBox="true"/>
          <p:nvPr/>
        </p:nvSpPr>
        <p:spPr>
          <a:xfrm rot="0">
            <a:off x="1619250" y="5248275"/>
            <a:ext cx="12944475" cy="12985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10400"/>
              </a:lnSpc>
              <a:spcBef>
                <a:spcPct val="0"/>
              </a:spcBef>
            </a:pPr>
            <a:r>
              <a:rPr lang="en-US" sz="8000" spc="-240" strike="noStrike" u="none">
                <a:solidFill>
                  <a:srgbClr val="071D30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Aprendizaje automático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524000" y="2628900"/>
            <a:ext cx="6667500" cy="22669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6500"/>
              </a:lnSpc>
            </a:pPr>
            <a:r>
              <a:rPr lang="en-US" sz="16500" b="true">
                <a:solidFill>
                  <a:srgbClr val="071D30"/>
                </a:solidFill>
                <a:latin typeface="Arimo Bold"/>
                <a:ea typeface="Arimo Bold"/>
                <a:cs typeface="Arimo Bold"/>
                <a:sym typeface="Arimo Bold"/>
              </a:rPr>
              <a:t>01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638300" y="1752600"/>
            <a:ext cx="4762500" cy="3505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29"/>
              </a:lnSpc>
            </a:pPr>
            <a:r>
              <a:rPr lang="en-US" sz="1950" b="true">
                <a:solidFill>
                  <a:srgbClr val="071D30"/>
                </a:solidFill>
                <a:latin typeface="Arimo Bold"/>
                <a:ea typeface="Arimo Bold"/>
                <a:cs typeface="Arimo Bold"/>
                <a:sym typeface="Arimo Bold"/>
              </a:rPr>
              <a:t>SECCIÓN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1638300" y="6791325"/>
            <a:ext cx="10477500" cy="4991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990"/>
              </a:lnSpc>
            </a:pPr>
            <a:r>
              <a:rPr lang="en-US" sz="2850">
                <a:solidFill>
                  <a:srgbClr val="071D30"/>
                </a:solidFill>
                <a:latin typeface="Arimo"/>
                <a:ea typeface="Arimo"/>
                <a:cs typeface="Arimo"/>
                <a:sym typeface="Arimo"/>
              </a:rPr>
              <a:t>¿Qué significa que un modelo aprenda de los datos?</a:t>
            </a:r>
          </a:p>
        </p:txBody>
      </p:sp>
      <p:grpSp>
        <p:nvGrpSpPr>
          <p:cNvPr name="Group 10" id="10"/>
          <p:cNvGrpSpPr/>
          <p:nvPr/>
        </p:nvGrpSpPr>
        <p:grpSpPr>
          <a:xfrm rot="0">
            <a:off x="11715750" y="2095500"/>
            <a:ext cx="5334000" cy="5334000"/>
            <a:chOff x="0" y="0"/>
            <a:chExt cx="7112000" cy="711200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800100" y="800100"/>
              <a:ext cx="5511800" cy="5511800"/>
            </a:xfrm>
            <a:custGeom>
              <a:avLst/>
              <a:gdLst/>
              <a:ahLst/>
              <a:cxnLst/>
              <a:rect r="r" b="b" t="t" l="l"/>
              <a:pathLst>
                <a:path h="5511800" w="5511800">
                  <a:moveTo>
                    <a:pt x="1185333" y="2755900"/>
                  </a:moveTo>
                  <a:cubicBezTo>
                    <a:pt x="1185333" y="3623300"/>
                    <a:pt x="1888500" y="4326467"/>
                    <a:pt x="2755900" y="4326467"/>
                  </a:cubicBezTo>
                  <a:cubicBezTo>
                    <a:pt x="3623300" y="4326467"/>
                    <a:pt x="4326467" y="3623300"/>
                    <a:pt x="4326467" y="2755900"/>
                  </a:cubicBezTo>
                  <a:cubicBezTo>
                    <a:pt x="4326467" y="1888500"/>
                    <a:pt x="3623300" y="1185333"/>
                    <a:pt x="2755900" y="1185333"/>
                  </a:cubicBezTo>
                  <a:cubicBezTo>
                    <a:pt x="1888500" y="1185333"/>
                    <a:pt x="1185333" y="1888500"/>
                    <a:pt x="1185333" y="2755900"/>
                  </a:cubicBezTo>
                  <a:close/>
                  <a:moveTo>
                    <a:pt x="5369560" y="1123103"/>
                  </a:moveTo>
                  <a:cubicBezTo>
                    <a:pt x="5185888" y="811081"/>
                    <a:pt x="4511819" y="836308"/>
                    <a:pt x="3603734" y="1189190"/>
                  </a:cubicBezTo>
                  <a:cubicBezTo>
                    <a:pt x="2695649" y="1542071"/>
                    <a:pt x="1693112" y="2168373"/>
                    <a:pt x="977437" y="2829881"/>
                  </a:cubicBezTo>
                  <a:cubicBezTo>
                    <a:pt x="261763" y="3491389"/>
                    <a:pt x="-57058" y="4086437"/>
                    <a:pt x="142240" y="4388697"/>
                  </a:cubicBezTo>
                  <a:cubicBezTo>
                    <a:pt x="325911" y="4700719"/>
                    <a:pt x="999981" y="4675492"/>
                    <a:pt x="1908066" y="4322611"/>
                  </a:cubicBezTo>
                  <a:cubicBezTo>
                    <a:pt x="2816151" y="3969729"/>
                    <a:pt x="3818688" y="3343427"/>
                    <a:pt x="4534363" y="2681919"/>
                  </a:cubicBezTo>
                  <a:cubicBezTo>
                    <a:pt x="5250037" y="2020411"/>
                    <a:pt x="5568857" y="1425364"/>
                    <a:pt x="5369560" y="1123103"/>
                  </a:cubicBezTo>
                  <a:close/>
                  <a:moveTo>
                    <a:pt x="2755900" y="474133"/>
                  </a:moveTo>
                  <a:lnTo>
                    <a:pt x="2755900" y="0"/>
                  </a:lnTo>
                  <a:moveTo>
                    <a:pt x="2755900" y="5511800"/>
                  </a:moveTo>
                  <a:lnTo>
                    <a:pt x="2755900" y="5037667"/>
                  </a:lnTo>
                  <a:moveTo>
                    <a:pt x="474133" y="2755900"/>
                  </a:moveTo>
                  <a:lnTo>
                    <a:pt x="0" y="2755900"/>
                  </a:lnTo>
                  <a:moveTo>
                    <a:pt x="5511800" y="2755900"/>
                  </a:moveTo>
                  <a:lnTo>
                    <a:pt x="5037667" y="2755900"/>
                  </a:lnTo>
                  <a:moveTo>
                    <a:pt x="1155700" y="1155700"/>
                  </a:moveTo>
                  <a:lnTo>
                    <a:pt x="829733" y="829733"/>
                  </a:lnTo>
                  <a:moveTo>
                    <a:pt x="4356100" y="4356100"/>
                  </a:moveTo>
                  <a:lnTo>
                    <a:pt x="4682067" y="4682067"/>
                  </a:lnTo>
                  <a:moveTo>
                    <a:pt x="1303867" y="2963333"/>
                  </a:moveTo>
                  <a:lnTo>
                    <a:pt x="1955800" y="2963333"/>
                  </a:lnTo>
                  <a:lnTo>
                    <a:pt x="2281767" y="2281767"/>
                  </a:lnTo>
                  <a:lnTo>
                    <a:pt x="2785533" y="3467100"/>
                  </a:lnTo>
                  <a:lnTo>
                    <a:pt x="3230033" y="2578100"/>
                  </a:lnTo>
                  <a:lnTo>
                    <a:pt x="3526367" y="2963333"/>
                  </a:lnTo>
                  <a:lnTo>
                    <a:pt x="4237567" y="2963333"/>
                  </a:lnTo>
                </a:path>
              </a:pathLst>
            </a:custGeom>
            <a:ln w="85725" cap="sq">
              <a:solidFill>
                <a:srgbClr val="071D30"/>
              </a:solidFill>
              <a:prstDash val="solid"/>
              <a:miter/>
            </a:ln>
          </p:spPr>
        </p:sp>
        <p:sp>
          <p:nvSpPr>
            <p:cNvPr name="TextBox 12" id="12"/>
            <p:cNvSpPr txBox="true"/>
            <p:nvPr/>
          </p:nvSpPr>
          <p:spPr>
            <a:xfrm>
              <a:off x="0" y="-38100"/>
              <a:ext cx="7112000" cy="7150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3" id="13"/>
          <p:cNvGrpSpPr/>
          <p:nvPr/>
        </p:nvGrpSpPr>
        <p:grpSpPr>
          <a:xfrm rot="0">
            <a:off x="11715750" y="2095500"/>
            <a:ext cx="5334000" cy="5334000"/>
            <a:chOff x="0" y="0"/>
            <a:chExt cx="7112000" cy="7112000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5096933" y="918633"/>
              <a:ext cx="948267" cy="948267"/>
            </a:xfrm>
            <a:custGeom>
              <a:avLst/>
              <a:gdLst/>
              <a:ahLst/>
              <a:cxnLst/>
              <a:rect r="r" b="b" t="t" l="l"/>
              <a:pathLst>
                <a:path h="948267" w="948267">
                  <a:moveTo>
                    <a:pt x="474134" y="0"/>
                  </a:moveTo>
                  <a:lnTo>
                    <a:pt x="592667" y="355600"/>
                  </a:lnTo>
                  <a:lnTo>
                    <a:pt x="948267" y="474134"/>
                  </a:lnTo>
                  <a:lnTo>
                    <a:pt x="592667" y="592667"/>
                  </a:lnTo>
                  <a:lnTo>
                    <a:pt x="474134" y="948267"/>
                  </a:lnTo>
                  <a:lnTo>
                    <a:pt x="355600" y="592667"/>
                  </a:lnTo>
                  <a:lnTo>
                    <a:pt x="0" y="474134"/>
                  </a:lnTo>
                  <a:lnTo>
                    <a:pt x="355600" y="355600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15" id="15"/>
            <p:cNvSpPr txBox="true"/>
            <p:nvPr/>
          </p:nvSpPr>
          <p:spPr>
            <a:xfrm>
              <a:off x="0" y="-38100"/>
              <a:ext cx="7112000" cy="7150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6" id="16"/>
          <p:cNvSpPr txBox="true"/>
          <p:nvPr/>
        </p:nvSpPr>
        <p:spPr>
          <a:xfrm rot="0">
            <a:off x="666750" y="9772650"/>
            <a:ext cx="9525000" cy="224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84"/>
              </a:lnSpc>
            </a:pPr>
            <a:r>
              <a:rPr lang="en-US" sz="1275" b="true">
                <a:solidFill>
                  <a:srgbClr val="9FB3C8"/>
                </a:solidFill>
                <a:latin typeface="Arimo Bold"/>
                <a:ea typeface="Arimo Bold"/>
                <a:cs typeface="Arimo Bold"/>
                <a:sym typeface="Arimo Bold"/>
              </a:rPr>
              <a:t>HELIODATA ACADEMY 2026  ·  ESCUELA DE ASTROFÍSICA SOLAR</a:t>
            </a:r>
          </a:p>
        </p:txBody>
      </p:sp>
      <p:sp>
        <p:nvSpPr>
          <p:cNvPr name="Freeform 17" id="17" descr="Logo GoSA"/>
          <p:cNvSpPr/>
          <p:nvPr/>
        </p:nvSpPr>
        <p:spPr>
          <a:xfrm flipH="false" flipV="false" rot="0">
            <a:off x="16192500" y="9753600"/>
            <a:ext cx="762000" cy="352425"/>
          </a:xfrm>
          <a:custGeom>
            <a:avLst/>
            <a:gdLst/>
            <a:ahLst/>
            <a:cxnLst/>
            <a:rect r="r" b="b" t="t" l="l"/>
            <a:pathLst>
              <a:path h="352425" w="762000">
                <a:moveTo>
                  <a:pt x="0" y="0"/>
                </a:moveTo>
                <a:lnTo>
                  <a:pt x="762000" y="0"/>
                </a:lnTo>
                <a:lnTo>
                  <a:pt x="762000" y="352425"/>
                </a:lnTo>
                <a:lnTo>
                  <a:pt x="0" y="352425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592" r="0" b="-592"/>
            </a:stretch>
          </a:blipFill>
        </p:spPr>
      </p:sp>
      <p:sp>
        <p:nvSpPr>
          <p:cNvPr name="Freeform 18" id="18" descr="Logo Observatorio Astronómico Nacional"/>
          <p:cNvSpPr/>
          <p:nvPr/>
        </p:nvSpPr>
        <p:spPr>
          <a:xfrm flipH="false" flipV="false" rot="0">
            <a:off x="17145000" y="9715500"/>
            <a:ext cx="457200" cy="428625"/>
          </a:xfrm>
          <a:custGeom>
            <a:avLst/>
            <a:gdLst/>
            <a:ahLst/>
            <a:cxnLst/>
            <a:rect r="r" b="b" t="t" l="l"/>
            <a:pathLst>
              <a:path h="428625" w="457200">
                <a:moveTo>
                  <a:pt x="0" y="0"/>
                </a:moveTo>
                <a:lnTo>
                  <a:pt x="457200" y="0"/>
                </a:lnTo>
                <a:lnTo>
                  <a:pt x="45720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328" t="0" r="-328" b="0"/>
            </a:stretch>
          </a:blipFill>
        </p:spPr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D30"/>
        </a:solidFill>
      </p:bgPr>
    </p:bg>
    <p:spTree>
      <p:nvGrpSpPr>
        <p:cNvPr id="1" name=""/>
        <p:cNvGrpSpPr/>
        <p:nvPr/>
      </p:nvGrpSpPr>
      <p:grpSpPr/>
      <p:sp>
        <p:nvSpPr>
          <p:cNvPr name="TextBox 2" id="2"/>
          <p:cNvSpPr txBox="true"/>
          <p:nvPr/>
        </p:nvSpPr>
        <p:spPr>
          <a:xfrm rot="0">
            <a:off x="17259300" y="9220200"/>
            <a:ext cx="152400" cy="190500"/>
          </a:xfrm>
          <a:prstGeom prst="rect">
            <a:avLst/>
          </a:prstGeom>
        </p:spPr>
        <p:txBody>
          <a:bodyPr anchor="t" rtlCol="false" tIns="0" lIns="0" bIns="0" rIns="0" wrap="none">
            <a:spAutoFit/>
          </a:bodyPr>
          <a:lstStyle/>
          <a:p>
            <a:pPr algn="ctr">
              <a:lnSpc>
                <a:spcPts val="2800"/>
              </a:lnSpc>
              <a:spcBef>
                <a:spcPct val="0"/>
              </a:spcBef>
            </a:pPr>
            <a:r>
              <a:rPr lang="en-US" sz="2000">
                <a:solidFill>
                  <a:srgbClr val="F5F7FA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4</a:t>
            </a:r>
          </a:p>
        </p:txBody>
      </p:sp>
      <p:grpSp>
        <p:nvGrpSpPr>
          <p:cNvPr name="Group 3" id="3"/>
          <p:cNvGrpSpPr/>
          <p:nvPr/>
        </p:nvGrpSpPr>
        <p:grpSpPr>
          <a:xfrm rot="0">
            <a:off x="666750" y="666750"/>
            <a:ext cx="16954500" cy="8953500"/>
            <a:chOff x="0" y="0"/>
            <a:chExt cx="4465383" cy="2358123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4465383" cy="2358124"/>
            </a:xfrm>
            <a:custGeom>
              <a:avLst/>
              <a:gdLst/>
              <a:ahLst/>
              <a:cxnLst/>
              <a:rect r="r" b="b" t="t" l="l"/>
              <a:pathLst>
                <a:path h="2358124" w="4465383">
                  <a:moveTo>
                    <a:pt x="20548" y="0"/>
                  </a:moveTo>
                  <a:lnTo>
                    <a:pt x="4444835" y="0"/>
                  </a:lnTo>
                  <a:cubicBezTo>
                    <a:pt x="4456183" y="0"/>
                    <a:pt x="4465383" y="9200"/>
                    <a:pt x="4465383" y="20548"/>
                  </a:cubicBezTo>
                  <a:lnTo>
                    <a:pt x="4465383" y="2337575"/>
                  </a:lnTo>
                  <a:cubicBezTo>
                    <a:pt x="4465383" y="2348924"/>
                    <a:pt x="4456183" y="2358124"/>
                    <a:pt x="4444835" y="2358124"/>
                  </a:cubicBezTo>
                  <a:lnTo>
                    <a:pt x="20548" y="2358124"/>
                  </a:lnTo>
                  <a:cubicBezTo>
                    <a:pt x="9200" y="2358124"/>
                    <a:pt x="0" y="2348924"/>
                    <a:pt x="0" y="2337575"/>
                  </a:cubicBezTo>
                  <a:lnTo>
                    <a:pt x="0" y="20548"/>
                  </a:lnTo>
                  <a:cubicBezTo>
                    <a:pt x="0" y="9200"/>
                    <a:pt x="9200" y="0"/>
                    <a:pt x="20548" y="0"/>
                  </a:cubicBezTo>
                  <a:close/>
                </a:path>
              </a:pathLst>
            </a:custGeom>
            <a:solidFill>
              <a:srgbClr val="087F8C"/>
            </a:solidFill>
            <a:ln cap="rnd">
              <a:noFill/>
              <a:prstDash val="solid"/>
              <a:round/>
            </a:ln>
          </p:spPr>
        </p:sp>
        <p:sp>
          <p:nvSpPr>
            <p:cNvPr name="TextBox 5" id="5"/>
            <p:cNvSpPr txBox="true"/>
            <p:nvPr/>
          </p:nvSpPr>
          <p:spPr>
            <a:xfrm>
              <a:off x="0" y="-38100"/>
              <a:ext cx="4465383" cy="239622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3359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6" id="6"/>
          <p:cNvGrpSpPr/>
          <p:nvPr/>
        </p:nvGrpSpPr>
        <p:grpSpPr>
          <a:xfrm rot="0">
            <a:off x="1800225" y="1562100"/>
            <a:ext cx="12944475" cy="2067009"/>
            <a:chOff x="0" y="0"/>
            <a:chExt cx="17259300" cy="2756012"/>
          </a:xfrm>
        </p:grpSpPr>
        <p:sp>
          <p:nvSpPr>
            <p:cNvPr name="TextBox 7" id="7"/>
            <p:cNvSpPr txBox="true"/>
            <p:nvPr/>
          </p:nvSpPr>
          <p:spPr>
            <a:xfrm rot="0">
              <a:off x="0" y="-85725"/>
              <a:ext cx="17259300" cy="1702858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10400"/>
                </a:lnSpc>
                <a:spcBef>
                  <a:spcPct val="0"/>
                </a:spcBef>
              </a:pPr>
              <a:r>
                <a:rPr lang="en-US" sz="8000" spc="-240" strike="noStrike" u="none">
                  <a:solidFill>
                    <a:srgbClr val="F5B82E"/>
                  </a:solidFill>
                  <a:latin typeface="Georgia Pro Condensed"/>
                  <a:ea typeface="Georgia Pro Condensed"/>
                  <a:cs typeface="Georgia Pro Condensed"/>
                  <a:sym typeface="Georgia Pro Condensed"/>
                </a:rPr>
                <a:t>Dos formas de aprender</a:t>
              </a:r>
            </a:p>
          </p:txBody>
        </p:sp>
        <p:sp>
          <p:nvSpPr>
            <p:cNvPr name="TextBox 8" id="8"/>
            <p:cNvSpPr txBox="true"/>
            <p:nvPr/>
          </p:nvSpPr>
          <p:spPr>
            <a:xfrm rot="0">
              <a:off x="0" y="2197212"/>
              <a:ext cx="17259300" cy="5588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000"/>
                </a:lnSpc>
                <a:spcBef>
                  <a:spcPct val="0"/>
                </a:spcBef>
              </a:pPr>
              <a:r>
                <a:rPr lang="en-US" b="true" sz="2500" spc="-37" strike="noStrike" u="none">
                  <a:solidFill>
                    <a:srgbClr val="F5F7FA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Supervisado vs. no supervisado (Asensio Ramos et al. 2023, §1)</a:t>
              </a:r>
            </a:p>
          </p:txBody>
        </p:sp>
      </p:grpSp>
      <p:grpSp>
        <p:nvGrpSpPr>
          <p:cNvPr name="Group 9" id="9"/>
          <p:cNvGrpSpPr/>
          <p:nvPr/>
        </p:nvGrpSpPr>
        <p:grpSpPr>
          <a:xfrm rot="0">
            <a:off x="1800225" y="5143500"/>
            <a:ext cx="5753100" cy="1844675"/>
            <a:chOff x="0" y="0"/>
            <a:chExt cx="7670800" cy="2459567"/>
          </a:xfrm>
        </p:grpSpPr>
        <p:sp>
          <p:nvSpPr>
            <p:cNvPr name="TextBox 10" id="10"/>
            <p:cNvSpPr txBox="true"/>
            <p:nvPr/>
          </p:nvSpPr>
          <p:spPr>
            <a:xfrm rot="0">
              <a:off x="0" y="9525"/>
              <a:ext cx="7670800" cy="52387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2999"/>
                </a:lnSpc>
                <a:spcBef>
                  <a:spcPct val="0"/>
                </a:spcBef>
              </a:pPr>
              <a:r>
                <a:rPr lang="en-US" b="true" sz="2499" spc="-37" strike="noStrike" u="none">
                  <a:solidFill>
                    <a:srgbClr val="F5F7FA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Supervisado</a:t>
              </a:r>
            </a:p>
          </p:txBody>
        </p:sp>
        <p:sp>
          <p:nvSpPr>
            <p:cNvPr name="TextBox 11" id="11"/>
            <p:cNvSpPr txBox="true"/>
            <p:nvPr/>
          </p:nvSpPr>
          <p:spPr>
            <a:xfrm rot="0">
              <a:off x="0" y="1079500"/>
              <a:ext cx="7670800" cy="138006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2800"/>
                </a:lnSpc>
                <a:spcBef>
                  <a:spcPct val="0"/>
                </a:spcBef>
              </a:pPr>
              <a:r>
                <a:rPr lang="en-US" sz="2000" spc="-30" strike="noStrike" u="none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• Aprende de pares entrada–salida</a:t>
              </a:r>
            </a:p>
            <a:p>
              <a:pPr algn="l" marL="0" indent="0" lvl="0">
                <a:lnSpc>
                  <a:spcPts val="2800"/>
                </a:lnSpc>
                <a:spcBef>
                  <a:spcPct val="0"/>
                </a:spcBef>
              </a:pPr>
              <a:r>
                <a:rPr lang="en-US" sz="2000" spc="-30" strike="noStrike" u="none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• Regresión: flujo máximo de rayos X</a:t>
              </a:r>
            </a:p>
            <a:p>
              <a:pPr algn="l" marL="0" indent="0" lvl="0">
                <a:lnSpc>
                  <a:spcPts val="2800"/>
                </a:lnSpc>
                <a:spcBef>
                  <a:spcPct val="0"/>
                </a:spcBef>
              </a:pPr>
              <a:r>
                <a:rPr lang="en-US" sz="2000" spc="-30" strike="noStrike" u="none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• Clasificación: ¿erupción M o mayor?</a:t>
              </a:r>
            </a:p>
          </p:txBody>
        </p:sp>
      </p:grpSp>
      <p:grpSp>
        <p:nvGrpSpPr>
          <p:cNvPr name="Group 12" id="12"/>
          <p:cNvGrpSpPr/>
          <p:nvPr/>
        </p:nvGrpSpPr>
        <p:grpSpPr>
          <a:xfrm rot="0">
            <a:off x="9296400" y="5143500"/>
            <a:ext cx="5448300" cy="1844675"/>
            <a:chOff x="0" y="0"/>
            <a:chExt cx="7264400" cy="2459567"/>
          </a:xfrm>
        </p:grpSpPr>
        <p:sp>
          <p:nvSpPr>
            <p:cNvPr name="TextBox 13" id="13"/>
            <p:cNvSpPr txBox="true"/>
            <p:nvPr/>
          </p:nvSpPr>
          <p:spPr>
            <a:xfrm rot="0">
              <a:off x="0" y="9525"/>
              <a:ext cx="7264400" cy="52387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2999"/>
                </a:lnSpc>
                <a:spcBef>
                  <a:spcPct val="0"/>
                </a:spcBef>
              </a:pPr>
              <a:r>
                <a:rPr lang="en-US" b="true" sz="2499" spc="-37" strike="noStrike" u="none">
                  <a:solidFill>
                    <a:srgbClr val="F5F7FA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No supervisado</a:t>
              </a:r>
            </a:p>
          </p:txBody>
        </p:sp>
        <p:sp>
          <p:nvSpPr>
            <p:cNvPr name="TextBox 14" id="14"/>
            <p:cNvSpPr txBox="true"/>
            <p:nvPr/>
          </p:nvSpPr>
          <p:spPr>
            <a:xfrm rot="0">
              <a:off x="0" y="1079500"/>
              <a:ext cx="7264400" cy="138006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2800"/>
                </a:lnSpc>
                <a:spcBef>
                  <a:spcPct val="0"/>
                </a:spcBef>
              </a:pPr>
              <a:r>
                <a:rPr lang="en-US" sz="2000" spc="-30" strike="noStrike" u="none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• Solo ve observaciones, sin etiquetas</a:t>
              </a:r>
            </a:p>
            <a:p>
              <a:pPr algn="l" marL="0" indent="0" lvl="0">
                <a:lnSpc>
                  <a:spcPts val="2800"/>
                </a:lnSpc>
                <a:spcBef>
                  <a:spcPct val="0"/>
                </a:spcBef>
              </a:pPr>
              <a:r>
                <a:rPr lang="en-US" sz="2000" spc="-30" strike="noStrike" u="none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• Busca estructura: agrupar (clustering)</a:t>
              </a:r>
            </a:p>
            <a:p>
              <a:pPr algn="l" marL="0" indent="0" lvl="0">
                <a:lnSpc>
                  <a:spcPts val="2800"/>
                </a:lnSpc>
                <a:spcBef>
                  <a:spcPct val="0"/>
                </a:spcBef>
              </a:pPr>
              <a:r>
                <a:rPr lang="en-US" sz="2000" spc="-30" strike="noStrike" u="none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• Ej.: perfiles de Stokes parecidos</a:t>
              </a:r>
            </a:p>
          </p:txBody>
        </p:sp>
      </p:grpSp>
      <p:grpSp>
        <p:nvGrpSpPr>
          <p:cNvPr name="Group 15" id="15"/>
          <p:cNvGrpSpPr/>
          <p:nvPr/>
        </p:nvGrpSpPr>
        <p:grpSpPr>
          <a:xfrm rot="0">
            <a:off x="8572500" y="5143500"/>
            <a:ext cx="28575" cy="2381250"/>
            <a:chOff x="0" y="0"/>
            <a:chExt cx="38100" cy="317500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38100" cy="3175000"/>
            </a:xfrm>
            <a:custGeom>
              <a:avLst/>
              <a:gdLst/>
              <a:ahLst/>
              <a:cxnLst/>
              <a:rect r="r" b="b" t="t" l="l"/>
              <a:pathLst>
                <a:path h="3175000" w="38100">
                  <a:moveTo>
                    <a:pt x="0" y="0"/>
                  </a:moveTo>
                  <a:lnTo>
                    <a:pt x="38100" y="0"/>
                  </a:lnTo>
                  <a:lnTo>
                    <a:pt x="38100" y="3175000"/>
                  </a:lnTo>
                  <a:lnTo>
                    <a:pt x="0" y="3175000"/>
                  </a:lnTo>
                  <a:close/>
                </a:path>
              </a:pathLst>
            </a:custGeom>
            <a:solidFill>
              <a:srgbClr val="F5B82E"/>
            </a:solidFill>
          </p:spPr>
        </p:sp>
        <p:sp>
          <p:nvSpPr>
            <p:cNvPr name="TextBox 17" id="17"/>
            <p:cNvSpPr txBox="true"/>
            <p:nvPr/>
          </p:nvSpPr>
          <p:spPr>
            <a:xfrm>
              <a:off x="0" y="-38100"/>
              <a:ext cx="38100" cy="3213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8" id="18"/>
          <p:cNvGrpSpPr/>
          <p:nvPr/>
        </p:nvGrpSpPr>
        <p:grpSpPr>
          <a:xfrm rot="0">
            <a:off x="1800225" y="8001000"/>
            <a:ext cx="12944475" cy="952500"/>
            <a:chOff x="0" y="0"/>
            <a:chExt cx="17259300" cy="1270000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17259300" cy="1270000"/>
            </a:xfrm>
            <a:custGeom>
              <a:avLst/>
              <a:gdLst/>
              <a:ahLst/>
              <a:cxnLst/>
              <a:rect r="r" b="b" t="t" l="l"/>
              <a:pathLst>
                <a:path h="1270000" w="17259300">
                  <a:moveTo>
                    <a:pt x="203200" y="0"/>
                  </a:moveTo>
                  <a:lnTo>
                    <a:pt x="17056100" y="0"/>
                  </a:lnTo>
                  <a:cubicBezTo>
                    <a:pt x="17168324" y="0"/>
                    <a:pt x="17259300" y="90976"/>
                    <a:pt x="17259300" y="203200"/>
                  </a:cubicBezTo>
                  <a:lnTo>
                    <a:pt x="17259300" y="1066800"/>
                  </a:lnTo>
                  <a:cubicBezTo>
                    <a:pt x="17259300" y="1179024"/>
                    <a:pt x="17168324" y="1270000"/>
                    <a:pt x="17056100" y="1270000"/>
                  </a:cubicBezTo>
                  <a:lnTo>
                    <a:pt x="203200" y="1270000"/>
                  </a:lnTo>
                  <a:cubicBezTo>
                    <a:pt x="90976" y="1270000"/>
                    <a:pt x="0" y="1179024"/>
                    <a:pt x="0" y="1066800"/>
                  </a:cubicBezTo>
                  <a:lnTo>
                    <a:pt x="0" y="203200"/>
                  </a:lnTo>
                  <a:cubicBezTo>
                    <a:pt x="0" y="90976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71D30"/>
            </a:solidFill>
          </p:spPr>
        </p:sp>
        <p:sp>
          <p:nvSpPr>
            <p:cNvPr name="TextBox 20" id="20"/>
            <p:cNvSpPr txBox="true"/>
            <p:nvPr/>
          </p:nvSpPr>
          <p:spPr>
            <a:xfrm>
              <a:off x="0" y="-38100"/>
              <a:ext cx="17259300" cy="1308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21" id="21"/>
          <p:cNvSpPr txBox="true"/>
          <p:nvPr/>
        </p:nvSpPr>
        <p:spPr>
          <a:xfrm rot="0">
            <a:off x="2143125" y="8229600"/>
            <a:ext cx="12382500" cy="4000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149"/>
              </a:lnSpc>
            </a:pPr>
            <a:r>
              <a:rPr lang="en-US" sz="2250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CONCLUSIÓN   Con etiquetas confiables, supervisado; para explorar datos sin etiquetas, no supervisado.</a:t>
            </a:r>
          </a:p>
        </p:txBody>
      </p:sp>
      <p:grpSp>
        <p:nvGrpSpPr>
          <p:cNvPr name="Group 22" id="22"/>
          <p:cNvGrpSpPr/>
          <p:nvPr/>
        </p:nvGrpSpPr>
        <p:grpSpPr>
          <a:xfrm rot="0">
            <a:off x="15049500" y="1238250"/>
            <a:ext cx="1905000" cy="1905000"/>
            <a:chOff x="0" y="0"/>
            <a:chExt cx="2540000" cy="2540000"/>
          </a:xfrm>
        </p:grpSpPr>
        <p:sp>
          <p:nvSpPr>
            <p:cNvPr name="Freeform 23" id="23"/>
            <p:cNvSpPr/>
            <p:nvPr/>
          </p:nvSpPr>
          <p:spPr>
            <a:xfrm flipH="false" flipV="false" rot="0">
              <a:off x="285750" y="285750"/>
              <a:ext cx="1968500" cy="1968500"/>
            </a:xfrm>
            <a:custGeom>
              <a:avLst/>
              <a:gdLst/>
              <a:ahLst/>
              <a:cxnLst/>
              <a:rect r="r" b="b" t="t" l="l"/>
              <a:pathLst>
                <a:path h="1968500" w="1968500">
                  <a:moveTo>
                    <a:pt x="423333" y="984250"/>
                  </a:moveTo>
                  <a:cubicBezTo>
                    <a:pt x="423333" y="1294036"/>
                    <a:pt x="674464" y="1545167"/>
                    <a:pt x="984250" y="1545167"/>
                  </a:cubicBezTo>
                  <a:cubicBezTo>
                    <a:pt x="1294036" y="1545167"/>
                    <a:pt x="1545167" y="1294036"/>
                    <a:pt x="1545167" y="984250"/>
                  </a:cubicBezTo>
                  <a:cubicBezTo>
                    <a:pt x="1545167" y="674464"/>
                    <a:pt x="1294036" y="423333"/>
                    <a:pt x="984250" y="423333"/>
                  </a:cubicBezTo>
                  <a:cubicBezTo>
                    <a:pt x="674464" y="423333"/>
                    <a:pt x="423333" y="674464"/>
                    <a:pt x="423333" y="984250"/>
                  </a:cubicBezTo>
                  <a:close/>
                  <a:moveTo>
                    <a:pt x="1917700" y="401108"/>
                  </a:moveTo>
                  <a:cubicBezTo>
                    <a:pt x="1852103" y="289672"/>
                    <a:pt x="1611364" y="298681"/>
                    <a:pt x="1287048" y="424711"/>
                  </a:cubicBezTo>
                  <a:cubicBezTo>
                    <a:pt x="962732" y="550740"/>
                    <a:pt x="604683" y="774419"/>
                    <a:pt x="349085" y="1010672"/>
                  </a:cubicBezTo>
                  <a:cubicBezTo>
                    <a:pt x="93487" y="1246925"/>
                    <a:pt x="-20378" y="1459442"/>
                    <a:pt x="50800" y="1567392"/>
                  </a:cubicBezTo>
                  <a:cubicBezTo>
                    <a:pt x="116397" y="1678828"/>
                    <a:pt x="357136" y="1669819"/>
                    <a:pt x="681452" y="1543789"/>
                  </a:cubicBezTo>
                  <a:cubicBezTo>
                    <a:pt x="1005768" y="1417760"/>
                    <a:pt x="1363817" y="1194081"/>
                    <a:pt x="1619415" y="957828"/>
                  </a:cubicBezTo>
                  <a:cubicBezTo>
                    <a:pt x="1875013" y="721575"/>
                    <a:pt x="1988878" y="509058"/>
                    <a:pt x="1917700" y="401108"/>
                  </a:cubicBezTo>
                  <a:close/>
                  <a:moveTo>
                    <a:pt x="984250" y="169333"/>
                  </a:moveTo>
                  <a:lnTo>
                    <a:pt x="984250" y="0"/>
                  </a:lnTo>
                  <a:moveTo>
                    <a:pt x="984250" y="1968500"/>
                  </a:moveTo>
                  <a:lnTo>
                    <a:pt x="984250" y="1799167"/>
                  </a:lnTo>
                  <a:moveTo>
                    <a:pt x="169333" y="984250"/>
                  </a:moveTo>
                  <a:lnTo>
                    <a:pt x="0" y="984250"/>
                  </a:lnTo>
                  <a:moveTo>
                    <a:pt x="1968500" y="984250"/>
                  </a:moveTo>
                  <a:lnTo>
                    <a:pt x="1799167" y="984250"/>
                  </a:lnTo>
                  <a:moveTo>
                    <a:pt x="412750" y="412750"/>
                  </a:moveTo>
                  <a:lnTo>
                    <a:pt x="296333" y="296333"/>
                  </a:lnTo>
                  <a:moveTo>
                    <a:pt x="1555750" y="1555750"/>
                  </a:moveTo>
                  <a:lnTo>
                    <a:pt x="1672167" y="1672167"/>
                  </a:lnTo>
                  <a:moveTo>
                    <a:pt x="465667" y="1058333"/>
                  </a:moveTo>
                  <a:lnTo>
                    <a:pt x="698500" y="1058333"/>
                  </a:lnTo>
                  <a:lnTo>
                    <a:pt x="814917" y="814917"/>
                  </a:lnTo>
                  <a:lnTo>
                    <a:pt x="994833" y="1238250"/>
                  </a:lnTo>
                  <a:lnTo>
                    <a:pt x="1153583" y="920750"/>
                  </a:lnTo>
                  <a:lnTo>
                    <a:pt x="1259417" y="1058333"/>
                  </a:lnTo>
                  <a:lnTo>
                    <a:pt x="1513417" y="1058333"/>
                  </a:lnTo>
                </a:path>
              </a:pathLst>
            </a:custGeom>
            <a:ln w="47625" cap="sq">
              <a:solidFill>
                <a:srgbClr val="F5B82E"/>
              </a:solidFill>
              <a:prstDash val="solid"/>
              <a:miter/>
            </a:ln>
          </p:spPr>
        </p:sp>
        <p:sp>
          <p:nvSpPr>
            <p:cNvPr name="TextBox 24" id="24"/>
            <p:cNvSpPr txBox="true"/>
            <p:nvPr/>
          </p:nvSpPr>
          <p:spPr>
            <a:xfrm>
              <a:off x="0" y="-38100"/>
              <a:ext cx="2540000" cy="2578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25" id="25"/>
          <p:cNvGrpSpPr/>
          <p:nvPr/>
        </p:nvGrpSpPr>
        <p:grpSpPr>
          <a:xfrm rot="0">
            <a:off x="15049500" y="1238250"/>
            <a:ext cx="1905000" cy="1905000"/>
            <a:chOff x="0" y="0"/>
            <a:chExt cx="2540000" cy="2540000"/>
          </a:xfrm>
        </p:grpSpPr>
        <p:sp>
          <p:nvSpPr>
            <p:cNvPr name="Freeform 26" id="26"/>
            <p:cNvSpPr/>
            <p:nvPr/>
          </p:nvSpPr>
          <p:spPr>
            <a:xfrm flipH="false" flipV="false" rot="0">
              <a:off x="1820333" y="328083"/>
              <a:ext cx="338667" cy="338667"/>
            </a:xfrm>
            <a:custGeom>
              <a:avLst/>
              <a:gdLst/>
              <a:ahLst/>
              <a:cxnLst/>
              <a:rect r="r" b="b" t="t" l="l"/>
              <a:pathLst>
                <a:path h="338667" w="338667">
                  <a:moveTo>
                    <a:pt x="169334" y="0"/>
                  </a:moveTo>
                  <a:lnTo>
                    <a:pt x="211667" y="127000"/>
                  </a:lnTo>
                  <a:lnTo>
                    <a:pt x="338667" y="169334"/>
                  </a:lnTo>
                  <a:lnTo>
                    <a:pt x="211667" y="211667"/>
                  </a:lnTo>
                  <a:lnTo>
                    <a:pt x="169334" y="338667"/>
                  </a:lnTo>
                  <a:lnTo>
                    <a:pt x="127000" y="211667"/>
                  </a:lnTo>
                  <a:lnTo>
                    <a:pt x="0" y="169334"/>
                  </a:lnTo>
                  <a:lnTo>
                    <a:pt x="127000" y="127000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27" id="27"/>
            <p:cNvSpPr txBox="true"/>
            <p:nvPr/>
          </p:nvSpPr>
          <p:spPr>
            <a:xfrm>
              <a:off x="0" y="-38100"/>
              <a:ext cx="2540000" cy="2578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28" id="28"/>
          <p:cNvSpPr txBox="true"/>
          <p:nvPr/>
        </p:nvSpPr>
        <p:spPr>
          <a:xfrm rot="0">
            <a:off x="666750" y="9772650"/>
            <a:ext cx="9525000" cy="224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84"/>
              </a:lnSpc>
            </a:pPr>
            <a:r>
              <a:rPr lang="en-US" sz="1275" b="true">
                <a:solidFill>
                  <a:srgbClr val="9FB3C8"/>
                </a:solidFill>
                <a:latin typeface="Arimo Bold"/>
                <a:ea typeface="Arimo Bold"/>
                <a:cs typeface="Arimo Bold"/>
                <a:sym typeface="Arimo Bold"/>
              </a:rPr>
              <a:t>HELIODATA ACADEMY 2026  ·  ESCUELA DE ASTROFÍSICA SOLAR</a:t>
            </a:r>
          </a:p>
        </p:txBody>
      </p:sp>
      <p:sp>
        <p:nvSpPr>
          <p:cNvPr name="Freeform 29" id="29" descr="Logo GoSA"/>
          <p:cNvSpPr/>
          <p:nvPr/>
        </p:nvSpPr>
        <p:spPr>
          <a:xfrm flipH="false" flipV="false" rot="0">
            <a:off x="16192500" y="9753600"/>
            <a:ext cx="762000" cy="352425"/>
          </a:xfrm>
          <a:custGeom>
            <a:avLst/>
            <a:gdLst/>
            <a:ahLst/>
            <a:cxnLst/>
            <a:rect r="r" b="b" t="t" l="l"/>
            <a:pathLst>
              <a:path h="352425" w="762000">
                <a:moveTo>
                  <a:pt x="0" y="0"/>
                </a:moveTo>
                <a:lnTo>
                  <a:pt x="762000" y="0"/>
                </a:lnTo>
                <a:lnTo>
                  <a:pt x="762000" y="352425"/>
                </a:lnTo>
                <a:lnTo>
                  <a:pt x="0" y="352425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592" r="0" b="-592"/>
            </a:stretch>
          </a:blipFill>
        </p:spPr>
      </p:sp>
      <p:sp>
        <p:nvSpPr>
          <p:cNvPr name="Freeform 30" id="30" descr="Logo Observatorio Astronómico Nacional"/>
          <p:cNvSpPr/>
          <p:nvPr/>
        </p:nvSpPr>
        <p:spPr>
          <a:xfrm flipH="false" flipV="false" rot="0">
            <a:off x="17145000" y="9715500"/>
            <a:ext cx="457200" cy="428625"/>
          </a:xfrm>
          <a:custGeom>
            <a:avLst/>
            <a:gdLst/>
            <a:ahLst/>
            <a:cxnLst/>
            <a:rect r="r" b="b" t="t" l="l"/>
            <a:pathLst>
              <a:path h="428625" w="457200">
                <a:moveTo>
                  <a:pt x="0" y="0"/>
                </a:moveTo>
                <a:lnTo>
                  <a:pt x="457200" y="0"/>
                </a:lnTo>
                <a:lnTo>
                  <a:pt x="45720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328" t="0" r="-328" b="0"/>
            </a:stretch>
          </a:blipFill>
        </p:spPr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/>
      <p:sp>
        <p:nvSpPr>
          <p:cNvPr name="TextBox 2" id="2"/>
          <p:cNvSpPr txBox="true"/>
          <p:nvPr/>
        </p:nvSpPr>
        <p:spPr>
          <a:xfrm rot="0">
            <a:off x="666750" y="3676650"/>
            <a:ext cx="6886575" cy="12890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539748" indent="-269874" lvl="1">
              <a:lnSpc>
                <a:spcPts val="3499"/>
              </a:lnSpc>
              <a:spcBef>
                <a:spcPct val="0"/>
              </a:spcBef>
              <a:buFont typeface="Arial"/>
              <a:buChar char="•"/>
            </a:pPr>
            <a:r>
              <a:rPr lang="en-US" sz="2499" spc="-37" strike="noStrike" u="none" b="1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CNN</a:t>
            </a:r>
            <a:r>
              <a:rPr lang="en-US" sz="2499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: leen imágenes con filtros locales</a:t>
            </a:r>
          </a:p>
          <a:p>
            <a:pPr algn="l" marL="539748" indent="-269874" lvl="1">
              <a:lnSpc>
                <a:spcPts val="3499"/>
              </a:lnSpc>
              <a:spcBef>
                <a:spcPct val="0"/>
              </a:spcBef>
              <a:buFont typeface="Arial"/>
              <a:buChar char="•"/>
            </a:pPr>
            <a:r>
              <a:rPr lang="en-US" sz="2499" spc="-37" strike="noStrike" u="none" b="1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RNN y LSTM</a:t>
            </a:r>
            <a:r>
              <a:rPr lang="en-US" sz="2499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: leen secuencias en el tiempo</a:t>
            </a:r>
          </a:p>
          <a:p>
            <a:pPr algn="l" marL="539748" indent="-269874" lvl="1">
              <a:lnSpc>
                <a:spcPts val="3499"/>
              </a:lnSpc>
              <a:spcBef>
                <a:spcPct val="0"/>
              </a:spcBef>
              <a:buFont typeface="Arial"/>
              <a:buChar char="•"/>
            </a:pPr>
            <a:r>
              <a:rPr lang="en-US" sz="2499" spc="-37" strike="noStrike" u="none" b="1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Transformers</a:t>
            </a:r>
            <a:r>
              <a:rPr lang="en-US" sz="2499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: atención entre todos los elementos</a:t>
            </a:r>
          </a:p>
          <a:p>
            <a:pPr algn="l" marL="539748" indent="-269874" lvl="1">
              <a:lnSpc>
                <a:spcPts val="3499"/>
              </a:lnSpc>
              <a:spcBef>
                <a:spcPct val="0"/>
              </a:spcBef>
              <a:buFont typeface="Arial"/>
              <a:buChar char="•"/>
            </a:pPr>
            <a:r>
              <a:rPr lang="en-US" sz="2499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Surya es un </a:t>
            </a:r>
            <a:r>
              <a:rPr lang="en-US" sz="2499" spc="-37" strike="noStrike" u="none" b="1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transformer</a:t>
            </a:r>
            <a:r>
              <a:rPr lang="en-US" sz="2499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espaciotemporal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666750" y="1190625"/>
            <a:ext cx="6886575" cy="17049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6600"/>
              </a:lnSpc>
              <a:spcBef>
                <a:spcPct val="0"/>
              </a:spcBef>
            </a:pPr>
            <a:r>
              <a:rPr lang="en-US" sz="6000" spc="-179" strike="noStrike" u="none">
                <a:solidFill>
                  <a:srgbClr val="071D30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Redes profundas</a:t>
            </a:r>
          </a:p>
        </p:txBody>
      </p:sp>
      <p:grpSp>
        <p:nvGrpSpPr>
          <p:cNvPr name="Group 4" id="4"/>
          <p:cNvGrpSpPr/>
          <p:nvPr/>
        </p:nvGrpSpPr>
        <p:grpSpPr>
          <a:xfrm rot="0">
            <a:off x="8991600" y="0"/>
            <a:ext cx="9296400" cy="10287000"/>
            <a:chOff x="0" y="0"/>
            <a:chExt cx="1220873" cy="1350966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1220873" cy="1350966"/>
            </a:xfrm>
            <a:custGeom>
              <a:avLst/>
              <a:gdLst/>
              <a:ahLst/>
              <a:cxnLst/>
              <a:rect r="r" b="b" t="t" l="l"/>
              <a:pathLst>
                <a:path h="1350966" w="1220873">
                  <a:moveTo>
                    <a:pt x="0" y="0"/>
                  </a:moveTo>
                  <a:lnTo>
                    <a:pt x="1220873" y="0"/>
                  </a:lnTo>
                  <a:lnTo>
                    <a:pt x="1220873" y="1350966"/>
                  </a:lnTo>
                  <a:lnTo>
                    <a:pt x="0" y="1350966"/>
                  </a:lnTo>
                  <a:close/>
                </a:path>
              </a:pathLst>
            </a:custGeom>
            <a:solidFill>
              <a:srgbClr val="071D30"/>
            </a:solidFill>
          </p:spPr>
        </p:sp>
      </p:grpSp>
      <p:sp>
        <p:nvSpPr>
          <p:cNvPr name="TextBox 6" id="6"/>
          <p:cNvSpPr txBox="true"/>
          <p:nvPr/>
        </p:nvSpPr>
        <p:spPr>
          <a:xfrm rot="0">
            <a:off x="685800" y="657225"/>
            <a:ext cx="57150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>
                <a:solidFill>
                  <a:srgbClr val="087F8C"/>
                </a:solidFill>
                <a:latin typeface="Arimo Bold"/>
                <a:ea typeface="Arimo Bold"/>
                <a:cs typeface="Arimo Bold"/>
                <a:sym typeface="Arimo Bold"/>
              </a:rPr>
              <a:t>CONCEPTO</a:t>
            </a:r>
          </a:p>
        </p:txBody>
      </p:sp>
      <p:grpSp>
        <p:nvGrpSpPr>
          <p:cNvPr name="Group 7" id="7"/>
          <p:cNvGrpSpPr/>
          <p:nvPr/>
        </p:nvGrpSpPr>
        <p:grpSpPr>
          <a:xfrm rot="0">
            <a:off x="666750" y="7048500"/>
            <a:ext cx="7620000" cy="1905000"/>
            <a:chOff x="0" y="0"/>
            <a:chExt cx="10160000" cy="254000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10160000" cy="2540000"/>
            </a:xfrm>
            <a:custGeom>
              <a:avLst/>
              <a:gdLst/>
              <a:ahLst/>
              <a:cxnLst/>
              <a:rect r="r" b="b" t="t" l="l"/>
              <a:pathLst>
                <a:path h="2540000" w="10160000">
                  <a:moveTo>
                    <a:pt x="254000" y="0"/>
                  </a:moveTo>
                  <a:lnTo>
                    <a:pt x="9906000" y="0"/>
                  </a:lnTo>
                  <a:cubicBezTo>
                    <a:pt x="10046281" y="0"/>
                    <a:pt x="10160000" y="113720"/>
                    <a:pt x="10160000" y="254000"/>
                  </a:cubicBezTo>
                  <a:lnTo>
                    <a:pt x="10160000" y="2286000"/>
                  </a:lnTo>
                  <a:cubicBezTo>
                    <a:pt x="10160000" y="2426280"/>
                    <a:pt x="10046281" y="2540000"/>
                    <a:pt x="9906000" y="2540000"/>
                  </a:cubicBezTo>
                  <a:lnTo>
                    <a:pt x="254000" y="2540000"/>
                  </a:lnTo>
                  <a:cubicBezTo>
                    <a:pt x="113720" y="2540000"/>
                    <a:pt x="0" y="2426280"/>
                    <a:pt x="0" y="2286000"/>
                  </a:cubicBezTo>
                  <a:lnTo>
                    <a:pt x="0" y="254000"/>
                  </a:lnTo>
                  <a:cubicBezTo>
                    <a:pt x="0" y="113720"/>
                    <a:pt x="113720" y="0"/>
                    <a:pt x="254000" y="0"/>
                  </a:cubicBezTo>
                  <a:close/>
                </a:path>
              </a:pathLst>
            </a:custGeom>
            <a:solidFill>
              <a:srgbClr val="071D30"/>
            </a:solidFill>
          </p:spPr>
        </p:sp>
        <p:sp>
          <p:nvSpPr>
            <p:cNvPr name="TextBox 9" id="9"/>
            <p:cNvSpPr txBox="true"/>
            <p:nvPr/>
          </p:nvSpPr>
          <p:spPr>
            <a:xfrm>
              <a:off x="0" y="-38100"/>
              <a:ext cx="10160000" cy="2578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666750" y="7239000"/>
            <a:ext cx="114300" cy="1524000"/>
            <a:chOff x="0" y="0"/>
            <a:chExt cx="152400" cy="203200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152400" cy="2032000"/>
            </a:xfrm>
            <a:custGeom>
              <a:avLst/>
              <a:gdLst/>
              <a:ahLst/>
              <a:cxnLst/>
              <a:rect r="r" b="b" t="t" l="l"/>
              <a:pathLst>
                <a:path h="2032000" w="152400">
                  <a:moveTo>
                    <a:pt x="0" y="0"/>
                  </a:moveTo>
                  <a:lnTo>
                    <a:pt x="152400" y="0"/>
                  </a:lnTo>
                  <a:lnTo>
                    <a:pt x="152400" y="2032000"/>
                  </a:lnTo>
                  <a:lnTo>
                    <a:pt x="0" y="2032000"/>
                  </a:lnTo>
                  <a:close/>
                </a:path>
              </a:pathLst>
            </a:custGeom>
            <a:solidFill>
              <a:srgbClr val="F5B82E"/>
            </a:solid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38100"/>
              <a:ext cx="152400" cy="2070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3" id="13"/>
          <p:cNvSpPr txBox="true"/>
          <p:nvPr/>
        </p:nvSpPr>
        <p:spPr>
          <a:xfrm rot="0">
            <a:off x="1095375" y="7277100"/>
            <a:ext cx="66675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>
                <a:solidFill>
                  <a:srgbClr val="F5B82E"/>
                </a:solidFill>
                <a:latin typeface="Arimo Bold"/>
                <a:ea typeface="Arimo Bold"/>
                <a:cs typeface="Arimo Bold"/>
                <a:sym typeface="Arimo Bold"/>
              </a:rPr>
              <a:t>IDEA CLAVE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1095375" y="7772400"/>
            <a:ext cx="6858000" cy="8439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60"/>
              </a:lnSpc>
            </a:pPr>
            <a:r>
              <a:rPr lang="en-US" sz="2200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La arquitectura se elige según la forma del dato: imagen, secuencia o conjunto de tokens.</a:t>
            </a:r>
          </a:p>
        </p:txBody>
      </p:sp>
      <p:grpSp>
        <p:nvGrpSpPr>
          <p:cNvPr name="Group 15" id="15"/>
          <p:cNvGrpSpPr/>
          <p:nvPr/>
        </p:nvGrpSpPr>
        <p:grpSpPr>
          <a:xfrm rot="0">
            <a:off x="8991600" y="9429750"/>
            <a:ext cx="9296400" cy="857250"/>
            <a:chOff x="0" y="0"/>
            <a:chExt cx="12395200" cy="114300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12395200" cy="1143000"/>
            </a:xfrm>
            <a:custGeom>
              <a:avLst/>
              <a:gdLst/>
              <a:ahLst/>
              <a:cxnLst/>
              <a:rect r="r" b="b" t="t" l="l"/>
              <a:pathLst>
                <a:path h="1143000" w="12395200">
                  <a:moveTo>
                    <a:pt x="0" y="0"/>
                  </a:moveTo>
                  <a:lnTo>
                    <a:pt x="12395200" y="0"/>
                  </a:lnTo>
                  <a:lnTo>
                    <a:pt x="12395200" y="1143000"/>
                  </a:lnTo>
                  <a:lnTo>
                    <a:pt x="0" y="1143000"/>
                  </a:lnTo>
                  <a:close/>
                </a:path>
              </a:pathLst>
            </a:custGeom>
            <a:solidFill>
              <a:srgbClr val="071D30">
                <a:alpha val="74902"/>
              </a:srgbClr>
            </a:solidFill>
          </p:spPr>
        </p:sp>
        <p:sp>
          <p:nvSpPr>
            <p:cNvPr name="TextBox 17" id="17"/>
            <p:cNvSpPr txBox="true"/>
            <p:nvPr/>
          </p:nvSpPr>
          <p:spPr>
            <a:xfrm>
              <a:off x="0" y="-38100"/>
              <a:ext cx="12395200" cy="1181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8" id="18"/>
          <p:cNvSpPr txBox="true"/>
          <p:nvPr/>
        </p:nvSpPr>
        <p:spPr>
          <a:xfrm rot="0">
            <a:off x="9334500" y="9696450"/>
            <a:ext cx="8572500" cy="2419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350">
                <a:solidFill>
                  <a:srgbClr val="F5F7FA"/>
                </a:solidFill>
                <a:latin typeface="Arimo"/>
                <a:ea typeface="Arimo"/>
                <a:cs typeface="Arimo"/>
                <a:sym typeface="Arimo"/>
              </a:rPr>
              <a:t>Imagen: arquitectura de Surya, Roy et al. (2025)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666750" y="9772650"/>
            <a:ext cx="5905500" cy="224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84"/>
              </a:lnSpc>
            </a:pPr>
            <a:r>
              <a:rPr lang="en-US" sz="1275" b="true">
                <a:solidFill>
                  <a:srgbClr val="53697A"/>
                </a:solidFill>
                <a:latin typeface="Arimo Bold"/>
                <a:ea typeface="Arimo Bold"/>
                <a:cs typeface="Arimo Bold"/>
                <a:sym typeface="Arimo Bold"/>
              </a:rPr>
              <a:t>HELIODATA ACADEMY 2026  ·  ESCUELA DE ASTROFÍSICA SOLAR</a:t>
            </a:r>
          </a:p>
        </p:txBody>
      </p:sp>
      <p:sp>
        <p:nvSpPr>
          <p:cNvPr name="Freeform 20" id="20" descr="Logo GoSA"/>
          <p:cNvSpPr/>
          <p:nvPr/>
        </p:nvSpPr>
        <p:spPr>
          <a:xfrm flipH="false" flipV="false" rot="0">
            <a:off x="6858000" y="9734550"/>
            <a:ext cx="819150" cy="381000"/>
          </a:xfrm>
          <a:custGeom>
            <a:avLst/>
            <a:gdLst/>
            <a:ahLst/>
            <a:cxnLst/>
            <a:rect r="r" b="b" t="t" l="l"/>
            <a:pathLst>
              <a:path h="381000" w="819150">
                <a:moveTo>
                  <a:pt x="0" y="0"/>
                </a:moveTo>
                <a:lnTo>
                  <a:pt x="819150" y="0"/>
                </a:lnTo>
                <a:lnTo>
                  <a:pt x="819150" y="381000"/>
                </a:lnTo>
                <a:lnTo>
                  <a:pt x="0" y="381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-307" r="0" b="-307"/>
            </a:stretch>
          </a:blipFill>
        </p:spPr>
      </p:sp>
      <p:sp>
        <p:nvSpPr>
          <p:cNvPr name="Freeform 21" id="21" descr="Logo Observatorio Astronómico Nacional"/>
          <p:cNvSpPr/>
          <p:nvPr/>
        </p:nvSpPr>
        <p:spPr>
          <a:xfrm flipH="false" flipV="false" rot="0">
            <a:off x="7829550" y="9715500"/>
            <a:ext cx="457200" cy="428625"/>
          </a:xfrm>
          <a:custGeom>
            <a:avLst/>
            <a:gdLst/>
            <a:ahLst/>
            <a:cxnLst/>
            <a:rect r="r" b="b" t="t" l="l"/>
            <a:pathLst>
              <a:path h="428625" w="457200">
                <a:moveTo>
                  <a:pt x="0" y="0"/>
                </a:moveTo>
                <a:lnTo>
                  <a:pt x="457200" y="0"/>
                </a:lnTo>
                <a:lnTo>
                  <a:pt x="45720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-328" t="0" r="-328" b="0"/>
            </a:stretch>
          </a:blipFill>
        </p:spPr>
      </p:sp>
      <p:pic>
        <p:nvPicPr>
          <p:cNvPr id="22" name="Picture 21" descr="clase_surya_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414884" y="432000"/>
            <a:ext cx="6458232" cy="856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/>
      <p:grpSp>
        <p:nvGrpSpPr>
          <p:cNvPr name="Group 2" id="2"/>
          <p:cNvGrpSpPr/>
          <p:nvPr/>
        </p:nvGrpSpPr>
        <p:grpSpPr>
          <a:xfrm rot="0">
            <a:off x="9296400" y="0"/>
            <a:ext cx="8991600" cy="3352800"/>
            <a:chOff x="0" y="0"/>
            <a:chExt cx="2368158" cy="883042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368158" cy="883042"/>
            </a:xfrm>
            <a:custGeom>
              <a:avLst/>
              <a:gdLst/>
              <a:ahLst/>
              <a:cxnLst/>
              <a:rect r="r" b="b" t="t" l="l"/>
              <a:pathLst>
                <a:path h="883042" w="2368158">
                  <a:moveTo>
                    <a:pt x="0" y="0"/>
                  </a:moveTo>
                  <a:lnTo>
                    <a:pt x="2368158" y="0"/>
                  </a:lnTo>
                  <a:lnTo>
                    <a:pt x="2368158" y="883042"/>
                  </a:lnTo>
                  <a:lnTo>
                    <a:pt x="0" y="883042"/>
                  </a:lnTo>
                  <a:close/>
                </a:path>
              </a:pathLst>
            </a:custGeom>
            <a:solidFill>
              <a:srgbClr val="F5F7FA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2368158" cy="92114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00"/>
                </a:lnSpc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8991600" y="0"/>
            <a:ext cx="9296400" cy="10287000"/>
            <a:chOff x="0" y="0"/>
            <a:chExt cx="1220873" cy="1350966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220873" cy="1350966"/>
            </a:xfrm>
            <a:custGeom>
              <a:avLst/>
              <a:gdLst/>
              <a:ahLst/>
              <a:cxnLst/>
              <a:rect r="r" b="b" t="t" l="l"/>
              <a:pathLst>
                <a:path h="1350966" w="1220873">
                  <a:moveTo>
                    <a:pt x="0" y="0"/>
                  </a:moveTo>
                  <a:lnTo>
                    <a:pt x="1220873" y="0"/>
                  </a:lnTo>
                  <a:lnTo>
                    <a:pt x="1220873" y="1350966"/>
                  </a:lnTo>
                  <a:lnTo>
                    <a:pt x="0" y="1350966"/>
                  </a:lnTo>
                  <a:close/>
                </a:path>
              </a:pathLst>
            </a:custGeom>
            <a:solidFill>
              <a:srgbClr val="071D30"/>
            </a:solidFill>
          </p:spPr>
        </p:sp>
      </p:grpSp>
      <p:grpSp>
        <p:nvGrpSpPr>
          <p:cNvPr name="Group 8" id="8"/>
          <p:cNvGrpSpPr/>
          <p:nvPr/>
        </p:nvGrpSpPr>
        <p:grpSpPr>
          <a:xfrm rot="0">
            <a:off x="666750" y="5334000"/>
            <a:ext cx="6886575" cy="1898650"/>
            <a:chOff x="0" y="0"/>
            <a:chExt cx="9182100" cy="2531534"/>
          </a:xfrm>
        </p:grpSpPr>
        <p:sp>
          <p:nvSpPr>
            <p:cNvPr name="TextBox 9" id="9"/>
            <p:cNvSpPr txBox="true"/>
            <p:nvPr/>
          </p:nvSpPr>
          <p:spPr>
            <a:xfrm rot="0">
              <a:off x="0" y="0"/>
              <a:ext cx="9182100" cy="5588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000"/>
                </a:lnSpc>
                <a:spcBef>
                  <a:spcPct val="0"/>
                </a:spcBef>
              </a:pPr>
              <a:r>
                <a:rPr lang="en-US" b="true" sz="2500" spc="-37" strike="noStrike" u="none">
                  <a:solidFill>
                    <a:srgbClr val="071D30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Entropía cruzada binaria</a:t>
              </a:r>
            </a:p>
          </p:txBody>
        </p:sp>
        <p:sp>
          <p:nvSpPr>
            <p:cNvPr name="TextBox 10" id="10"/>
            <p:cNvSpPr txBox="true"/>
            <p:nvPr/>
          </p:nvSpPr>
          <p:spPr>
            <a:xfrm rot="0">
              <a:off x="0" y="825500"/>
              <a:ext cx="9182100" cy="1706034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499"/>
                </a:lnSpc>
                <a:spcBef>
                  <a:spcPct val="0"/>
                </a:spcBef>
              </a:pPr>
              <a:r>
                <a:rPr lang="en-US" sz="2499" spc="-37" strike="noStrike" u="none">
                  <a:solidFill>
                    <a:srgbClr val="071D30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y es la etiqueta de cada píxel (1 si es agujero coronal) y ŷ la probabilidad que predice la red. El descenso del gradiente, con retropropagación, ajusta los pesos para reducir L.</a:t>
              </a:r>
            </a:p>
          </p:txBody>
        </p:sp>
      </p:grpSp>
      <p:sp>
        <p:nvSpPr>
          <p:cNvPr name="TextBox 11" id="11"/>
          <p:cNvSpPr txBox="true"/>
          <p:nvPr/>
        </p:nvSpPr>
        <p:spPr>
          <a:xfrm rot="0">
            <a:off x="685800" y="657225"/>
            <a:ext cx="66675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>
                <a:solidFill>
                  <a:srgbClr val="087F8C"/>
                </a:solidFill>
                <a:latin typeface="Arimo Bold"/>
                <a:ea typeface="Arimo Bold"/>
                <a:cs typeface="Arimo Bold"/>
                <a:sym typeface="Arimo Bold"/>
              </a:rPr>
              <a:t>ECUACIÓN  /  DATO DESTACADO</a:t>
            </a:r>
          </a:p>
        </p:txBody>
      </p:sp>
      <p:grpSp>
        <p:nvGrpSpPr>
          <p:cNvPr name="Group 12" id="12"/>
          <p:cNvGrpSpPr/>
          <p:nvPr/>
        </p:nvGrpSpPr>
        <p:grpSpPr>
          <a:xfrm rot="0">
            <a:off x="685800" y="4476750"/>
            <a:ext cx="1428750" cy="57150"/>
            <a:chOff x="0" y="0"/>
            <a:chExt cx="1905000" cy="76200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1905000" cy="76200"/>
            </a:xfrm>
            <a:custGeom>
              <a:avLst/>
              <a:gdLst/>
              <a:ahLst/>
              <a:cxnLst/>
              <a:rect r="r" b="b" t="t" l="l"/>
              <a:pathLst>
                <a:path h="76200" w="1905000">
                  <a:moveTo>
                    <a:pt x="0" y="0"/>
                  </a:moveTo>
                  <a:lnTo>
                    <a:pt x="1905000" y="0"/>
                  </a:lnTo>
                  <a:lnTo>
                    <a:pt x="1905000" y="76200"/>
                  </a:lnTo>
                  <a:lnTo>
                    <a:pt x="0" y="76200"/>
                  </a:lnTo>
                  <a:close/>
                </a:path>
              </a:pathLst>
            </a:custGeom>
            <a:solidFill>
              <a:srgbClr val="F5B82E"/>
            </a:solidFill>
          </p:spPr>
        </p:sp>
        <p:sp>
          <p:nvSpPr>
            <p:cNvPr name="TextBox 14" id="14"/>
            <p:cNvSpPr txBox="true"/>
            <p:nvPr/>
          </p:nvSpPr>
          <p:spPr>
            <a:xfrm>
              <a:off x="0" y="-38100"/>
              <a:ext cx="1905000" cy="1143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5" id="15"/>
          <p:cNvSpPr txBox="true"/>
          <p:nvPr/>
        </p:nvSpPr>
        <p:spPr>
          <a:xfrm rot="0">
            <a:off x="685800" y="8515350"/>
            <a:ext cx="76200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i="true">
                <a:solidFill>
                  <a:srgbClr val="53697A"/>
                </a:solidFill>
                <a:latin typeface="Arimo Italics"/>
                <a:ea typeface="Arimo Italics"/>
                <a:cs typeface="Arimo Italics"/>
                <a:sym typeface="Arimo Italics"/>
              </a:rPr>
              <a:t>Referencia: Asensio Ramos et al. (2023), ec. 51</a:t>
            </a:r>
          </a:p>
        </p:txBody>
      </p:sp>
      <p:grpSp>
        <p:nvGrpSpPr>
          <p:cNvPr name="Group 16" id="16"/>
          <p:cNvGrpSpPr/>
          <p:nvPr/>
        </p:nvGrpSpPr>
        <p:grpSpPr>
          <a:xfrm rot="0">
            <a:off x="8991600" y="9429750"/>
            <a:ext cx="9296400" cy="857250"/>
            <a:chOff x="0" y="0"/>
            <a:chExt cx="12395200" cy="1143000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12395200" cy="1143000"/>
            </a:xfrm>
            <a:custGeom>
              <a:avLst/>
              <a:gdLst/>
              <a:ahLst/>
              <a:cxnLst/>
              <a:rect r="r" b="b" t="t" l="l"/>
              <a:pathLst>
                <a:path h="1143000" w="12395200">
                  <a:moveTo>
                    <a:pt x="0" y="0"/>
                  </a:moveTo>
                  <a:lnTo>
                    <a:pt x="12395200" y="0"/>
                  </a:lnTo>
                  <a:lnTo>
                    <a:pt x="12395200" y="1143000"/>
                  </a:lnTo>
                  <a:lnTo>
                    <a:pt x="0" y="1143000"/>
                  </a:lnTo>
                  <a:close/>
                </a:path>
              </a:pathLst>
            </a:custGeom>
            <a:solidFill>
              <a:srgbClr val="071D30">
                <a:alpha val="74902"/>
              </a:srgbClr>
            </a:solidFill>
          </p:spPr>
        </p:sp>
        <p:sp>
          <p:nvSpPr>
            <p:cNvPr name="TextBox 18" id="18"/>
            <p:cNvSpPr txBox="true"/>
            <p:nvPr/>
          </p:nvSpPr>
          <p:spPr>
            <a:xfrm>
              <a:off x="0" y="-38100"/>
              <a:ext cx="12395200" cy="1181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9" id="19"/>
          <p:cNvSpPr txBox="true"/>
          <p:nvPr/>
        </p:nvSpPr>
        <p:spPr>
          <a:xfrm rot="0">
            <a:off x="9334500" y="9696450"/>
            <a:ext cx="8572500" cy="2419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350">
                <a:solidFill>
                  <a:srgbClr val="F5F7FA"/>
                </a:solidFill>
                <a:latin typeface="Arimo"/>
                <a:ea typeface="Arimo"/>
                <a:cs typeface="Arimo"/>
                <a:sym typeface="Arimo"/>
              </a:rPr>
              <a:t>Imagen: un agujero coronal en AIA 193 Å segmentado por nueve métodos. Asensio Ramos et al. (2023), fig. 8, de Reiss et al. (2021), ApJ 913, 28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666750" y="9772650"/>
            <a:ext cx="5905500" cy="224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84"/>
              </a:lnSpc>
            </a:pPr>
            <a:r>
              <a:rPr lang="en-US" sz="1275" b="true">
                <a:solidFill>
                  <a:srgbClr val="53697A"/>
                </a:solidFill>
                <a:latin typeface="Arimo Bold"/>
                <a:ea typeface="Arimo Bold"/>
                <a:cs typeface="Arimo Bold"/>
                <a:sym typeface="Arimo Bold"/>
              </a:rPr>
              <a:t>HELIODATA ACADEMY 2026  ·  ESCUELA DE ASTROFÍSICA SOLAR</a:t>
            </a:r>
          </a:p>
        </p:txBody>
      </p:sp>
      <p:sp>
        <p:nvSpPr>
          <p:cNvPr name="Freeform 21" id="21" descr="Logo GoSA"/>
          <p:cNvSpPr/>
          <p:nvPr/>
        </p:nvSpPr>
        <p:spPr>
          <a:xfrm flipH="false" flipV="false" rot="0">
            <a:off x="6858000" y="9734550"/>
            <a:ext cx="819150" cy="381000"/>
          </a:xfrm>
          <a:custGeom>
            <a:avLst/>
            <a:gdLst/>
            <a:ahLst/>
            <a:cxnLst/>
            <a:rect r="r" b="b" t="t" l="l"/>
            <a:pathLst>
              <a:path h="381000" w="819150">
                <a:moveTo>
                  <a:pt x="0" y="0"/>
                </a:moveTo>
                <a:lnTo>
                  <a:pt x="819150" y="0"/>
                </a:lnTo>
                <a:lnTo>
                  <a:pt x="819150" y="381000"/>
                </a:lnTo>
                <a:lnTo>
                  <a:pt x="0" y="381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-307" r="0" b="-307"/>
            </a:stretch>
          </a:blipFill>
        </p:spPr>
      </p:sp>
      <p:sp>
        <p:nvSpPr>
          <p:cNvPr name="Freeform 22" id="22" descr="Logo Observatorio Astronómico Nacional"/>
          <p:cNvSpPr/>
          <p:nvPr/>
        </p:nvSpPr>
        <p:spPr>
          <a:xfrm flipH="false" flipV="false" rot="0">
            <a:off x="7829550" y="9715500"/>
            <a:ext cx="457200" cy="428625"/>
          </a:xfrm>
          <a:custGeom>
            <a:avLst/>
            <a:gdLst/>
            <a:ahLst/>
            <a:cxnLst/>
            <a:rect r="r" b="b" t="t" l="l"/>
            <a:pathLst>
              <a:path h="428625" w="457200">
                <a:moveTo>
                  <a:pt x="0" y="0"/>
                </a:moveTo>
                <a:lnTo>
                  <a:pt x="457200" y="0"/>
                </a:lnTo>
                <a:lnTo>
                  <a:pt x="45720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-328" t="0" r="-328" b="0"/>
            </a:stretch>
          </a:blipFill>
        </p:spPr>
      </p:sp>
      <p:pic>
        <p:nvPicPr>
          <p:cNvPr id="23" name="Picture 22" descr="eq_bc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4000" y="2084990"/>
            <a:ext cx="7380000" cy="942020"/>
          </a:xfrm>
          <a:prstGeom prst="rect">
            <a:avLst/>
          </a:prstGeom>
        </p:spPr>
      </p:pic>
      <p:pic>
        <p:nvPicPr>
          <p:cNvPr id="24" name="Picture 23" descr="rev_fig8_agujero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32000" y="740087"/>
            <a:ext cx="8424000" cy="7951826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D30"/>
        </a:solidFill>
      </p:bgPr>
    </p:bg>
    <p:spTree>
      <p:nvGrpSpPr>
        <p:cNvPr id="1" name=""/>
        <p:cNvGrpSpPr/>
        <p:nvPr/>
      </p:nvGrpSpPr>
      <p:grpSpPr/>
      <p:sp>
        <p:nvSpPr>
          <p:cNvPr name="TextBox 2" id="2"/>
          <p:cNvSpPr txBox="true"/>
          <p:nvPr/>
        </p:nvSpPr>
        <p:spPr>
          <a:xfrm rot="0">
            <a:off x="17259300" y="9220200"/>
            <a:ext cx="152400" cy="190500"/>
          </a:xfrm>
          <a:prstGeom prst="rect">
            <a:avLst/>
          </a:prstGeom>
        </p:spPr>
        <p:txBody>
          <a:bodyPr anchor="t" rtlCol="false" tIns="0" lIns="0" bIns="0" rIns="0" wrap="none">
            <a:spAutoFit/>
          </a:bodyPr>
          <a:lstStyle/>
          <a:p>
            <a:pPr algn="ctr">
              <a:lnSpc>
                <a:spcPts val="2800"/>
              </a:lnSpc>
              <a:spcBef>
                <a:spcPct val="0"/>
              </a:spcBef>
            </a:pPr>
            <a:r>
              <a:rPr lang="en-US" sz="2000">
                <a:solidFill>
                  <a:srgbClr val="F5F7FA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7</a:t>
            </a:r>
          </a:p>
        </p:txBody>
      </p:sp>
      <p:grpSp>
        <p:nvGrpSpPr>
          <p:cNvPr name="Group 3" id="3"/>
          <p:cNvGrpSpPr/>
          <p:nvPr/>
        </p:nvGrpSpPr>
        <p:grpSpPr>
          <a:xfrm rot="0">
            <a:off x="666750" y="666750"/>
            <a:ext cx="16954500" cy="8953500"/>
            <a:chOff x="0" y="0"/>
            <a:chExt cx="4465383" cy="2358123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4465383" cy="2358124"/>
            </a:xfrm>
            <a:custGeom>
              <a:avLst/>
              <a:gdLst/>
              <a:ahLst/>
              <a:cxnLst/>
              <a:rect r="r" b="b" t="t" l="l"/>
              <a:pathLst>
                <a:path h="2358124" w="4465383">
                  <a:moveTo>
                    <a:pt x="20548" y="0"/>
                  </a:moveTo>
                  <a:lnTo>
                    <a:pt x="4444835" y="0"/>
                  </a:lnTo>
                  <a:cubicBezTo>
                    <a:pt x="4456183" y="0"/>
                    <a:pt x="4465383" y="9200"/>
                    <a:pt x="4465383" y="20548"/>
                  </a:cubicBezTo>
                  <a:lnTo>
                    <a:pt x="4465383" y="2337575"/>
                  </a:lnTo>
                  <a:cubicBezTo>
                    <a:pt x="4465383" y="2348924"/>
                    <a:pt x="4456183" y="2358124"/>
                    <a:pt x="4444835" y="2358124"/>
                  </a:cubicBezTo>
                  <a:lnTo>
                    <a:pt x="20548" y="2358124"/>
                  </a:lnTo>
                  <a:cubicBezTo>
                    <a:pt x="9200" y="2358124"/>
                    <a:pt x="0" y="2348924"/>
                    <a:pt x="0" y="2337575"/>
                  </a:cubicBezTo>
                  <a:lnTo>
                    <a:pt x="0" y="20548"/>
                  </a:lnTo>
                  <a:cubicBezTo>
                    <a:pt x="0" y="9200"/>
                    <a:pt x="9200" y="0"/>
                    <a:pt x="20548" y="0"/>
                  </a:cubicBezTo>
                  <a:close/>
                </a:path>
              </a:pathLst>
            </a:custGeom>
            <a:solidFill>
              <a:srgbClr val="F5B82E"/>
            </a:solidFill>
            <a:ln cap="rnd">
              <a:noFill/>
              <a:prstDash val="solid"/>
              <a:round/>
            </a:ln>
          </p:spPr>
        </p:sp>
        <p:sp>
          <p:nvSpPr>
            <p:cNvPr name="TextBox 5" id="5"/>
            <p:cNvSpPr txBox="true"/>
            <p:nvPr/>
          </p:nvSpPr>
          <p:spPr>
            <a:xfrm>
              <a:off x="0" y="-38100"/>
              <a:ext cx="4465383" cy="239622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359"/>
                </a:lnSpc>
              </a:pPr>
            </a:p>
          </p:txBody>
        </p:sp>
      </p:grpSp>
      <p:sp>
        <p:nvSpPr>
          <p:cNvPr name="TextBox 6" id="6"/>
          <p:cNvSpPr txBox="true"/>
          <p:nvPr/>
        </p:nvSpPr>
        <p:spPr>
          <a:xfrm rot="0">
            <a:off x="1619250" y="5248275"/>
            <a:ext cx="12944475" cy="12985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8320"/>
              </a:lnSpc>
              <a:spcBef>
                <a:spcPct val="0"/>
              </a:spcBef>
            </a:pPr>
            <a:r>
              <a:rPr lang="en-US" sz="6400" spc="-240" strike="noStrike" u="none">
                <a:solidFill>
                  <a:srgbClr val="071D30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Aplicaciones en física solar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524000" y="2628900"/>
            <a:ext cx="6667500" cy="22669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6500"/>
              </a:lnSpc>
            </a:pPr>
            <a:r>
              <a:rPr lang="en-US" sz="16500" b="true">
                <a:solidFill>
                  <a:srgbClr val="071D30"/>
                </a:solidFill>
                <a:latin typeface="Arimo Bold"/>
                <a:ea typeface="Arimo Bold"/>
                <a:cs typeface="Arimo Bold"/>
                <a:sym typeface="Arimo Bold"/>
              </a:rPr>
              <a:t>02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638300" y="1752600"/>
            <a:ext cx="4762500" cy="3505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29"/>
              </a:lnSpc>
            </a:pPr>
            <a:r>
              <a:rPr lang="en-US" sz="1950" b="true">
                <a:solidFill>
                  <a:srgbClr val="071D30"/>
                </a:solidFill>
                <a:latin typeface="Arimo Bold"/>
                <a:ea typeface="Arimo Bold"/>
                <a:cs typeface="Arimo Bold"/>
                <a:sym typeface="Arimo Bold"/>
              </a:rPr>
              <a:t>SECCIÓN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1638300" y="6791325"/>
            <a:ext cx="10477500" cy="4991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990"/>
              </a:lnSpc>
            </a:pPr>
            <a:r>
              <a:rPr lang="en-US" sz="2850">
                <a:solidFill>
                  <a:srgbClr val="071D30"/>
                </a:solidFill>
                <a:latin typeface="Arimo"/>
                <a:ea typeface="Arimo"/>
                <a:cs typeface="Arimo"/>
                <a:sym typeface="Arimo"/>
              </a:rPr>
              <a:t>¿Qué se ha hecho ya con ML en datos solares?</a:t>
            </a:r>
          </a:p>
        </p:txBody>
      </p:sp>
      <p:grpSp>
        <p:nvGrpSpPr>
          <p:cNvPr name="Group 10" id="10"/>
          <p:cNvGrpSpPr/>
          <p:nvPr/>
        </p:nvGrpSpPr>
        <p:grpSpPr>
          <a:xfrm rot="0">
            <a:off x="11715750" y="2095500"/>
            <a:ext cx="5334000" cy="5334000"/>
            <a:chOff x="0" y="0"/>
            <a:chExt cx="7112000" cy="711200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800100" y="800100"/>
              <a:ext cx="5511800" cy="5511800"/>
            </a:xfrm>
            <a:custGeom>
              <a:avLst/>
              <a:gdLst/>
              <a:ahLst/>
              <a:cxnLst/>
              <a:rect r="r" b="b" t="t" l="l"/>
              <a:pathLst>
                <a:path h="5511800" w="5511800">
                  <a:moveTo>
                    <a:pt x="1185333" y="2755900"/>
                  </a:moveTo>
                  <a:cubicBezTo>
                    <a:pt x="1185333" y="3623300"/>
                    <a:pt x="1888500" y="4326467"/>
                    <a:pt x="2755900" y="4326467"/>
                  </a:cubicBezTo>
                  <a:cubicBezTo>
                    <a:pt x="3623300" y="4326467"/>
                    <a:pt x="4326467" y="3623300"/>
                    <a:pt x="4326467" y="2755900"/>
                  </a:cubicBezTo>
                  <a:cubicBezTo>
                    <a:pt x="4326467" y="1888500"/>
                    <a:pt x="3623300" y="1185333"/>
                    <a:pt x="2755900" y="1185333"/>
                  </a:cubicBezTo>
                  <a:cubicBezTo>
                    <a:pt x="1888500" y="1185333"/>
                    <a:pt x="1185333" y="1888500"/>
                    <a:pt x="1185333" y="2755900"/>
                  </a:cubicBezTo>
                  <a:close/>
                  <a:moveTo>
                    <a:pt x="5369560" y="1123103"/>
                  </a:moveTo>
                  <a:cubicBezTo>
                    <a:pt x="5185888" y="811081"/>
                    <a:pt x="4511819" y="836308"/>
                    <a:pt x="3603734" y="1189190"/>
                  </a:cubicBezTo>
                  <a:cubicBezTo>
                    <a:pt x="2695649" y="1542071"/>
                    <a:pt x="1693112" y="2168373"/>
                    <a:pt x="977437" y="2829881"/>
                  </a:cubicBezTo>
                  <a:cubicBezTo>
                    <a:pt x="261763" y="3491389"/>
                    <a:pt x="-57058" y="4086437"/>
                    <a:pt x="142240" y="4388697"/>
                  </a:cubicBezTo>
                  <a:cubicBezTo>
                    <a:pt x="325911" y="4700719"/>
                    <a:pt x="999981" y="4675492"/>
                    <a:pt x="1908066" y="4322611"/>
                  </a:cubicBezTo>
                  <a:cubicBezTo>
                    <a:pt x="2816151" y="3969729"/>
                    <a:pt x="3818688" y="3343427"/>
                    <a:pt x="4534363" y="2681919"/>
                  </a:cubicBezTo>
                  <a:cubicBezTo>
                    <a:pt x="5250037" y="2020411"/>
                    <a:pt x="5568857" y="1425364"/>
                    <a:pt x="5369560" y="1123103"/>
                  </a:cubicBezTo>
                  <a:close/>
                  <a:moveTo>
                    <a:pt x="2755900" y="474133"/>
                  </a:moveTo>
                  <a:lnTo>
                    <a:pt x="2755900" y="0"/>
                  </a:lnTo>
                  <a:moveTo>
                    <a:pt x="2755900" y="5511800"/>
                  </a:moveTo>
                  <a:lnTo>
                    <a:pt x="2755900" y="5037667"/>
                  </a:lnTo>
                  <a:moveTo>
                    <a:pt x="474133" y="2755900"/>
                  </a:moveTo>
                  <a:lnTo>
                    <a:pt x="0" y="2755900"/>
                  </a:lnTo>
                  <a:moveTo>
                    <a:pt x="5511800" y="2755900"/>
                  </a:moveTo>
                  <a:lnTo>
                    <a:pt x="5037667" y="2755900"/>
                  </a:lnTo>
                  <a:moveTo>
                    <a:pt x="1155700" y="1155700"/>
                  </a:moveTo>
                  <a:lnTo>
                    <a:pt x="829733" y="829733"/>
                  </a:lnTo>
                  <a:moveTo>
                    <a:pt x="4356100" y="4356100"/>
                  </a:moveTo>
                  <a:lnTo>
                    <a:pt x="4682067" y="4682067"/>
                  </a:lnTo>
                  <a:moveTo>
                    <a:pt x="1303867" y="2963333"/>
                  </a:moveTo>
                  <a:lnTo>
                    <a:pt x="1955800" y="2963333"/>
                  </a:lnTo>
                  <a:lnTo>
                    <a:pt x="2281767" y="2281767"/>
                  </a:lnTo>
                  <a:lnTo>
                    <a:pt x="2785533" y="3467100"/>
                  </a:lnTo>
                  <a:lnTo>
                    <a:pt x="3230033" y="2578100"/>
                  </a:lnTo>
                  <a:lnTo>
                    <a:pt x="3526367" y="2963333"/>
                  </a:lnTo>
                  <a:lnTo>
                    <a:pt x="4237567" y="2963333"/>
                  </a:lnTo>
                </a:path>
              </a:pathLst>
            </a:custGeom>
            <a:ln w="85725" cap="sq">
              <a:solidFill>
                <a:srgbClr val="071D30"/>
              </a:solidFill>
              <a:prstDash val="solid"/>
              <a:miter/>
            </a:ln>
          </p:spPr>
        </p:sp>
        <p:sp>
          <p:nvSpPr>
            <p:cNvPr name="TextBox 12" id="12"/>
            <p:cNvSpPr txBox="true"/>
            <p:nvPr/>
          </p:nvSpPr>
          <p:spPr>
            <a:xfrm>
              <a:off x="0" y="-38100"/>
              <a:ext cx="7112000" cy="7150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3" id="13"/>
          <p:cNvGrpSpPr/>
          <p:nvPr/>
        </p:nvGrpSpPr>
        <p:grpSpPr>
          <a:xfrm rot="0">
            <a:off x="11715750" y="2095500"/>
            <a:ext cx="5334000" cy="5334000"/>
            <a:chOff x="0" y="0"/>
            <a:chExt cx="7112000" cy="7112000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5096933" y="918633"/>
              <a:ext cx="948267" cy="948267"/>
            </a:xfrm>
            <a:custGeom>
              <a:avLst/>
              <a:gdLst/>
              <a:ahLst/>
              <a:cxnLst/>
              <a:rect r="r" b="b" t="t" l="l"/>
              <a:pathLst>
                <a:path h="948267" w="948267">
                  <a:moveTo>
                    <a:pt x="474134" y="0"/>
                  </a:moveTo>
                  <a:lnTo>
                    <a:pt x="592667" y="355600"/>
                  </a:lnTo>
                  <a:lnTo>
                    <a:pt x="948267" y="474134"/>
                  </a:lnTo>
                  <a:lnTo>
                    <a:pt x="592667" y="592667"/>
                  </a:lnTo>
                  <a:lnTo>
                    <a:pt x="474134" y="948267"/>
                  </a:lnTo>
                  <a:lnTo>
                    <a:pt x="355600" y="592667"/>
                  </a:lnTo>
                  <a:lnTo>
                    <a:pt x="0" y="474134"/>
                  </a:lnTo>
                  <a:lnTo>
                    <a:pt x="355600" y="355600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15" id="15"/>
            <p:cNvSpPr txBox="true"/>
            <p:nvPr/>
          </p:nvSpPr>
          <p:spPr>
            <a:xfrm>
              <a:off x="0" y="-38100"/>
              <a:ext cx="7112000" cy="7150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6" id="16"/>
          <p:cNvSpPr txBox="true"/>
          <p:nvPr/>
        </p:nvSpPr>
        <p:spPr>
          <a:xfrm rot="0">
            <a:off x="666750" y="9772650"/>
            <a:ext cx="9525000" cy="224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84"/>
              </a:lnSpc>
            </a:pPr>
            <a:r>
              <a:rPr lang="en-US" sz="1275" b="true">
                <a:solidFill>
                  <a:srgbClr val="9FB3C8"/>
                </a:solidFill>
                <a:latin typeface="Arimo Bold"/>
                <a:ea typeface="Arimo Bold"/>
                <a:cs typeface="Arimo Bold"/>
                <a:sym typeface="Arimo Bold"/>
              </a:rPr>
              <a:t>HELIODATA ACADEMY 2026  ·  ESCUELA DE ASTROFÍSICA SOLAR</a:t>
            </a:r>
          </a:p>
        </p:txBody>
      </p:sp>
      <p:sp>
        <p:nvSpPr>
          <p:cNvPr name="Freeform 17" id="17" descr="Logo GoSA"/>
          <p:cNvSpPr/>
          <p:nvPr/>
        </p:nvSpPr>
        <p:spPr>
          <a:xfrm flipH="false" flipV="false" rot="0">
            <a:off x="16192500" y="9753600"/>
            <a:ext cx="762000" cy="352425"/>
          </a:xfrm>
          <a:custGeom>
            <a:avLst/>
            <a:gdLst/>
            <a:ahLst/>
            <a:cxnLst/>
            <a:rect r="r" b="b" t="t" l="l"/>
            <a:pathLst>
              <a:path h="352425" w="762000">
                <a:moveTo>
                  <a:pt x="0" y="0"/>
                </a:moveTo>
                <a:lnTo>
                  <a:pt x="762000" y="0"/>
                </a:lnTo>
                <a:lnTo>
                  <a:pt x="762000" y="352425"/>
                </a:lnTo>
                <a:lnTo>
                  <a:pt x="0" y="352425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592" r="0" b="-592"/>
            </a:stretch>
          </a:blipFill>
        </p:spPr>
      </p:sp>
      <p:sp>
        <p:nvSpPr>
          <p:cNvPr name="Freeform 18" id="18" descr="Logo Observatorio Astronómico Nacional"/>
          <p:cNvSpPr/>
          <p:nvPr/>
        </p:nvSpPr>
        <p:spPr>
          <a:xfrm flipH="false" flipV="false" rot="0">
            <a:off x="17145000" y="9715500"/>
            <a:ext cx="457200" cy="428625"/>
          </a:xfrm>
          <a:custGeom>
            <a:avLst/>
            <a:gdLst/>
            <a:ahLst/>
            <a:cxnLst/>
            <a:rect r="r" b="b" t="t" l="l"/>
            <a:pathLst>
              <a:path h="428625" w="457200">
                <a:moveTo>
                  <a:pt x="0" y="0"/>
                </a:moveTo>
                <a:lnTo>
                  <a:pt x="457200" y="0"/>
                </a:lnTo>
                <a:lnTo>
                  <a:pt x="45720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328" t="0" r="-328" b="0"/>
            </a:stretch>
          </a:blipFill>
        </p:spPr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D30"/>
        </a:solidFill>
      </p:bgPr>
    </p:bg>
    <p:spTree>
      <p:nvGrpSpPr>
        <p:cNvPr id="1" name=""/>
        <p:cNvGrpSpPr/>
        <p:nvPr/>
      </p:nvGrpSpPr>
      <p:grpSpPr/>
      <p:grpSp>
        <p:nvGrpSpPr>
          <p:cNvPr name="Group 2" id="2"/>
          <p:cNvGrpSpPr/>
          <p:nvPr/>
        </p:nvGrpSpPr>
        <p:grpSpPr>
          <a:xfrm rot="0">
            <a:off x="9048750" y="6524625"/>
            <a:ext cx="8858250" cy="2381250"/>
            <a:chOff x="0" y="0"/>
            <a:chExt cx="11811000" cy="31750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1811000" cy="3175000"/>
            </a:xfrm>
            <a:custGeom>
              <a:avLst/>
              <a:gdLst/>
              <a:ahLst/>
              <a:cxnLst/>
              <a:rect r="r" b="b" t="t" l="l"/>
              <a:pathLst>
                <a:path h="3175000" w="11811000">
                  <a:moveTo>
                    <a:pt x="254000" y="0"/>
                  </a:moveTo>
                  <a:lnTo>
                    <a:pt x="11557000" y="0"/>
                  </a:lnTo>
                  <a:cubicBezTo>
                    <a:pt x="11697281" y="0"/>
                    <a:pt x="11811000" y="113720"/>
                    <a:pt x="11811000" y="254000"/>
                  </a:cubicBezTo>
                  <a:lnTo>
                    <a:pt x="11811000" y="2921000"/>
                  </a:lnTo>
                  <a:cubicBezTo>
                    <a:pt x="11811000" y="3061280"/>
                    <a:pt x="11697281" y="3175000"/>
                    <a:pt x="11557000" y="3175000"/>
                  </a:cubicBezTo>
                  <a:lnTo>
                    <a:pt x="254000" y="3175000"/>
                  </a:lnTo>
                  <a:cubicBezTo>
                    <a:pt x="113720" y="3175000"/>
                    <a:pt x="0" y="3061280"/>
                    <a:pt x="0" y="2921000"/>
                  </a:cubicBezTo>
                  <a:lnTo>
                    <a:pt x="0" y="254000"/>
                  </a:lnTo>
                  <a:cubicBezTo>
                    <a:pt x="0" y="113720"/>
                    <a:pt x="113720" y="0"/>
                    <a:pt x="254000" y="0"/>
                  </a:cubicBezTo>
                  <a:close/>
                </a:path>
              </a:pathLst>
            </a:custGeom>
            <a:solidFill>
              <a:srgbClr val="102C43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11811000" cy="3213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381000" y="6524625"/>
            <a:ext cx="8477250" cy="2381250"/>
            <a:chOff x="0" y="0"/>
            <a:chExt cx="11303000" cy="317500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1303000" cy="3175000"/>
            </a:xfrm>
            <a:custGeom>
              <a:avLst/>
              <a:gdLst/>
              <a:ahLst/>
              <a:cxnLst/>
              <a:rect r="r" b="b" t="t" l="l"/>
              <a:pathLst>
                <a:path h="3175000" w="11303000">
                  <a:moveTo>
                    <a:pt x="254000" y="0"/>
                  </a:moveTo>
                  <a:lnTo>
                    <a:pt x="11049000" y="0"/>
                  </a:lnTo>
                  <a:cubicBezTo>
                    <a:pt x="11189281" y="0"/>
                    <a:pt x="11303000" y="113720"/>
                    <a:pt x="11303000" y="254000"/>
                  </a:cubicBezTo>
                  <a:lnTo>
                    <a:pt x="11303000" y="2921000"/>
                  </a:lnTo>
                  <a:cubicBezTo>
                    <a:pt x="11303000" y="3061280"/>
                    <a:pt x="11189281" y="3175000"/>
                    <a:pt x="11049000" y="3175000"/>
                  </a:cubicBezTo>
                  <a:lnTo>
                    <a:pt x="254000" y="3175000"/>
                  </a:lnTo>
                  <a:cubicBezTo>
                    <a:pt x="113720" y="3175000"/>
                    <a:pt x="0" y="3061280"/>
                    <a:pt x="0" y="2921000"/>
                  </a:cubicBezTo>
                  <a:lnTo>
                    <a:pt x="0" y="254000"/>
                  </a:lnTo>
                  <a:cubicBezTo>
                    <a:pt x="0" y="113720"/>
                    <a:pt x="113720" y="0"/>
                    <a:pt x="254000" y="0"/>
                  </a:cubicBezTo>
                  <a:close/>
                </a:path>
              </a:pathLst>
            </a:custGeom>
            <a:solidFill>
              <a:srgbClr val="102C43"/>
            </a:solidFill>
          </p:spPr>
        </p:sp>
        <p:sp>
          <p:nvSpPr>
            <p:cNvPr name="TextBox 7" id="7"/>
            <p:cNvSpPr txBox="true"/>
            <p:nvPr/>
          </p:nvSpPr>
          <p:spPr>
            <a:xfrm>
              <a:off x="0" y="-38100"/>
              <a:ext cx="11303000" cy="3213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9048750" y="3857625"/>
            <a:ext cx="8858250" cy="2190750"/>
            <a:chOff x="0" y="0"/>
            <a:chExt cx="11811000" cy="292100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11811000" cy="2921000"/>
            </a:xfrm>
            <a:custGeom>
              <a:avLst/>
              <a:gdLst/>
              <a:ahLst/>
              <a:cxnLst/>
              <a:rect r="r" b="b" t="t" l="l"/>
              <a:pathLst>
                <a:path h="2921000" w="11811000">
                  <a:moveTo>
                    <a:pt x="254000" y="0"/>
                  </a:moveTo>
                  <a:lnTo>
                    <a:pt x="11557000" y="0"/>
                  </a:lnTo>
                  <a:cubicBezTo>
                    <a:pt x="11697281" y="0"/>
                    <a:pt x="11811000" y="113720"/>
                    <a:pt x="11811000" y="254000"/>
                  </a:cubicBezTo>
                  <a:lnTo>
                    <a:pt x="11811000" y="2667000"/>
                  </a:lnTo>
                  <a:cubicBezTo>
                    <a:pt x="11811000" y="2807280"/>
                    <a:pt x="11697281" y="2921000"/>
                    <a:pt x="11557000" y="2921000"/>
                  </a:cubicBezTo>
                  <a:lnTo>
                    <a:pt x="254000" y="2921000"/>
                  </a:lnTo>
                  <a:cubicBezTo>
                    <a:pt x="113720" y="2921000"/>
                    <a:pt x="0" y="2807280"/>
                    <a:pt x="0" y="2667000"/>
                  </a:cubicBezTo>
                  <a:lnTo>
                    <a:pt x="0" y="254000"/>
                  </a:lnTo>
                  <a:cubicBezTo>
                    <a:pt x="0" y="113720"/>
                    <a:pt x="113720" y="0"/>
                    <a:pt x="254000" y="0"/>
                  </a:cubicBezTo>
                  <a:close/>
                </a:path>
              </a:pathLst>
            </a:custGeom>
            <a:solidFill>
              <a:srgbClr val="102C43"/>
            </a:solidFill>
          </p:spPr>
        </p:sp>
        <p:sp>
          <p:nvSpPr>
            <p:cNvPr name="TextBox 10" id="10"/>
            <p:cNvSpPr txBox="true"/>
            <p:nvPr/>
          </p:nvSpPr>
          <p:spPr>
            <a:xfrm>
              <a:off x="0" y="-38100"/>
              <a:ext cx="11811000" cy="2959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1" id="11"/>
          <p:cNvGrpSpPr/>
          <p:nvPr/>
        </p:nvGrpSpPr>
        <p:grpSpPr>
          <a:xfrm rot="0">
            <a:off x="381000" y="3857625"/>
            <a:ext cx="8477250" cy="2190750"/>
            <a:chOff x="0" y="0"/>
            <a:chExt cx="11303000" cy="2921000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11303000" cy="2921000"/>
            </a:xfrm>
            <a:custGeom>
              <a:avLst/>
              <a:gdLst/>
              <a:ahLst/>
              <a:cxnLst/>
              <a:rect r="r" b="b" t="t" l="l"/>
              <a:pathLst>
                <a:path h="2921000" w="11303000">
                  <a:moveTo>
                    <a:pt x="254000" y="0"/>
                  </a:moveTo>
                  <a:lnTo>
                    <a:pt x="11049000" y="0"/>
                  </a:lnTo>
                  <a:cubicBezTo>
                    <a:pt x="11189281" y="0"/>
                    <a:pt x="11303000" y="113720"/>
                    <a:pt x="11303000" y="254000"/>
                  </a:cubicBezTo>
                  <a:lnTo>
                    <a:pt x="11303000" y="2667000"/>
                  </a:lnTo>
                  <a:cubicBezTo>
                    <a:pt x="11303000" y="2807280"/>
                    <a:pt x="11189281" y="2921000"/>
                    <a:pt x="11049000" y="2921000"/>
                  </a:cubicBezTo>
                  <a:lnTo>
                    <a:pt x="254000" y="2921000"/>
                  </a:lnTo>
                  <a:cubicBezTo>
                    <a:pt x="113720" y="2921000"/>
                    <a:pt x="0" y="2807280"/>
                    <a:pt x="0" y="2667000"/>
                  </a:cubicBezTo>
                  <a:lnTo>
                    <a:pt x="0" y="254000"/>
                  </a:lnTo>
                  <a:cubicBezTo>
                    <a:pt x="0" y="113720"/>
                    <a:pt x="113720" y="0"/>
                    <a:pt x="254000" y="0"/>
                  </a:cubicBezTo>
                  <a:close/>
                </a:path>
              </a:pathLst>
            </a:custGeom>
            <a:solidFill>
              <a:srgbClr val="102C43"/>
            </a:solidFill>
          </p:spPr>
        </p:sp>
        <p:sp>
          <p:nvSpPr>
            <p:cNvPr name="TextBox 13" id="13"/>
            <p:cNvSpPr txBox="true"/>
            <p:nvPr/>
          </p:nvSpPr>
          <p:spPr>
            <a:xfrm>
              <a:off x="0" y="-38100"/>
              <a:ext cx="11303000" cy="2959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4" id="14"/>
          <p:cNvSpPr txBox="true"/>
          <p:nvPr/>
        </p:nvSpPr>
        <p:spPr>
          <a:xfrm rot="0">
            <a:off x="666750" y="809625"/>
            <a:ext cx="16954500" cy="106997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8000"/>
              </a:lnSpc>
              <a:spcBef>
                <a:spcPct val="0"/>
              </a:spcBef>
            </a:pPr>
            <a:r>
              <a:rPr lang="en-US" sz="8000" strike="noStrike" u="none">
                <a:solidFill>
                  <a:srgbClr val="F5B82E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Aplicaciones en cifras</a:t>
            </a:r>
          </a:p>
        </p:txBody>
      </p:sp>
      <p:grpSp>
        <p:nvGrpSpPr>
          <p:cNvPr name="Group 15" id="15"/>
          <p:cNvGrpSpPr/>
          <p:nvPr/>
        </p:nvGrpSpPr>
        <p:grpSpPr>
          <a:xfrm rot="0">
            <a:off x="2105025" y="4259580"/>
            <a:ext cx="6886575" cy="1570673"/>
            <a:chOff x="0" y="0"/>
            <a:chExt cx="9182100" cy="2094230"/>
          </a:xfrm>
        </p:grpSpPr>
        <p:sp>
          <p:nvSpPr>
            <p:cNvPr name="TextBox 16" id="16"/>
            <p:cNvSpPr txBox="true"/>
            <p:nvPr/>
          </p:nvSpPr>
          <p:spPr>
            <a:xfrm rot="0">
              <a:off x="0" y="0"/>
              <a:ext cx="9182100" cy="9271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5040"/>
                </a:lnSpc>
                <a:spcBef>
                  <a:spcPct val="0"/>
                </a:spcBef>
              </a:pPr>
              <a:r>
                <a:rPr lang="en-US" b="true" sz="4200" spc="-63" strike="noStrike" u="none">
                  <a:solidFill>
                    <a:srgbClr val="F5B82E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2385 mapas</a:t>
              </a:r>
            </a:p>
          </p:txBody>
        </p:sp>
        <p:sp>
          <p:nvSpPr>
            <p:cNvPr name="TextBox 17" id="17"/>
            <p:cNvSpPr txBox="true"/>
            <p:nvPr/>
          </p:nvSpPr>
          <p:spPr>
            <a:xfrm rot="0">
              <a:off x="0" y="1571414"/>
              <a:ext cx="9182100" cy="52281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249"/>
                </a:lnSpc>
                <a:spcBef>
                  <a:spcPct val="0"/>
                </a:spcBef>
              </a:pPr>
              <a:r>
                <a:rPr lang="en-US" sz="2499" spc="-37" strike="noStrike" u="none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para entrenar una U-Net que marca agujeros coronales en AIA 193 Å</a:t>
              </a:r>
            </a:p>
          </p:txBody>
        </p:sp>
      </p:grpSp>
      <p:grpSp>
        <p:nvGrpSpPr>
          <p:cNvPr name="Group 18" id="18"/>
          <p:cNvGrpSpPr/>
          <p:nvPr/>
        </p:nvGrpSpPr>
        <p:grpSpPr>
          <a:xfrm rot="0">
            <a:off x="10734675" y="6944836"/>
            <a:ext cx="6886575" cy="1570673"/>
            <a:chOff x="0" y="0"/>
            <a:chExt cx="9182100" cy="2094230"/>
          </a:xfrm>
        </p:grpSpPr>
        <p:sp>
          <p:nvSpPr>
            <p:cNvPr name="TextBox 19" id="19"/>
            <p:cNvSpPr txBox="true"/>
            <p:nvPr/>
          </p:nvSpPr>
          <p:spPr>
            <a:xfrm rot="0">
              <a:off x="0" y="0"/>
              <a:ext cx="9182100" cy="9271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5040"/>
                </a:lnSpc>
                <a:spcBef>
                  <a:spcPct val="0"/>
                </a:spcBef>
              </a:pPr>
              <a:r>
                <a:rPr lang="en-US" b="true" sz="4200" spc="-63" strike="noStrike" u="none">
                  <a:solidFill>
                    <a:srgbClr val="F5B82E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≈ 47 %</a:t>
              </a:r>
            </a:p>
          </p:txBody>
        </p:sp>
        <p:sp>
          <p:nvSpPr>
            <p:cNvPr name="TextBox 20" id="20"/>
            <p:cNvSpPr txBox="true"/>
            <p:nvPr/>
          </p:nvSpPr>
          <p:spPr>
            <a:xfrm rot="0">
              <a:off x="0" y="1571414"/>
              <a:ext cx="9182100" cy="52281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249"/>
                </a:lnSpc>
                <a:spcBef>
                  <a:spcPct val="0"/>
                </a:spcBef>
              </a:pPr>
              <a:r>
                <a:rPr lang="en-US" sz="2499" spc="-37" strike="noStrike" u="none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más regiones del lado lejano con FarNet, a iguales falsos positivos</a:t>
              </a:r>
            </a:p>
          </p:txBody>
        </p:sp>
      </p:grpSp>
      <p:grpSp>
        <p:nvGrpSpPr>
          <p:cNvPr name="Group 21" id="21"/>
          <p:cNvGrpSpPr/>
          <p:nvPr/>
        </p:nvGrpSpPr>
        <p:grpSpPr>
          <a:xfrm rot="0">
            <a:off x="2105025" y="6937534"/>
            <a:ext cx="6886575" cy="1616869"/>
            <a:chOff x="0" y="0"/>
            <a:chExt cx="9182100" cy="2155825"/>
          </a:xfrm>
        </p:grpSpPr>
        <p:sp>
          <p:nvSpPr>
            <p:cNvPr name="TextBox 22" id="22"/>
            <p:cNvSpPr txBox="true"/>
            <p:nvPr/>
          </p:nvSpPr>
          <p:spPr>
            <a:xfrm rot="0">
              <a:off x="0" y="0"/>
              <a:ext cx="9182100" cy="9271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5040"/>
                </a:lnSpc>
                <a:spcBef>
                  <a:spcPct val="0"/>
                </a:spcBef>
              </a:pPr>
              <a:r>
                <a:rPr lang="en-US" b="true" sz="4200" spc="-63" strike="noStrike" u="none">
                  <a:solidFill>
                    <a:srgbClr val="F5B82E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0,5″ → 0,25″</a:t>
              </a:r>
            </a:p>
          </p:txBody>
        </p:sp>
        <p:sp>
          <p:nvSpPr>
            <p:cNvPr name="TextBox 23" id="23"/>
            <p:cNvSpPr txBox="true"/>
            <p:nvPr/>
          </p:nvSpPr>
          <p:spPr>
            <a:xfrm rot="0">
              <a:off x="0" y="1633008"/>
              <a:ext cx="9182100" cy="52281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249"/>
                </a:lnSpc>
                <a:spcBef>
                  <a:spcPct val="0"/>
                </a:spcBef>
              </a:pPr>
              <a:r>
                <a:rPr lang="en-US" sz="2499" spc="-37" strike="noStrike" u="none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píxel de HMI tras Enhance, una CNN de superresolución</a:t>
              </a:r>
            </a:p>
          </p:txBody>
        </p:sp>
      </p:grpSp>
      <p:sp>
        <p:nvSpPr>
          <p:cNvPr name="TextBox 24" id="24"/>
          <p:cNvSpPr txBox="true"/>
          <p:nvPr/>
        </p:nvSpPr>
        <p:spPr>
          <a:xfrm rot="0">
            <a:off x="666750" y="4244340"/>
            <a:ext cx="864987" cy="4286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359"/>
              </a:lnSpc>
              <a:spcBef>
                <a:spcPct val="0"/>
              </a:spcBef>
            </a:pPr>
            <a:r>
              <a:rPr lang="en-US" sz="2799" u="none">
                <a:solidFill>
                  <a:srgbClr val="F5B82E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01</a:t>
            </a:r>
          </a:p>
        </p:txBody>
      </p:sp>
      <p:sp>
        <p:nvSpPr>
          <p:cNvPr name="TextBox 25" id="25"/>
          <p:cNvSpPr txBox="true"/>
          <p:nvPr/>
        </p:nvSpPr>
        <p:spPr>
          <a:xfrm rot="0">
            <a:off x="9296400" y="4250055"/>
            <a:ext cx="864987" cy="4286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359"/>
              </a:lnSpc>
              <a:spcBef>
                <a:spcPct val="0"/>
              </a:spcBef>
            </a:pPr>
            <a:r>
              <a:rPr lang="en-US" sz="2799" u="none">
                <a:solidFill>
                  <a:srgbClr val="F5B82E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03</a:t>
            </a:r>
          </a:p>
        </p:txBody>
      </p:sp>
      <p:sp>
        <p:nvSpPr>
          <p:cNvPr name="TextBox 26" id="26"/>
          <p:cNvSpPr txBox="true"/>
          <p:nvPr/>
        </p:nvSpPr>
        <p:spPr>
          <a:xfrm rot="0">
            <a:off x="9296400" y="6936105"/>
            <a:ext cx="864987" cy="4286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359"/>
              </a:lnSpc>
              <a:spcBef>
                <a:spcPct val="0"/>
              </a:spcBef>
            </a:pPr>
            <a:r>
              <a:rPr lang="en-US" sz="2799" u="none">
                <a:solidFill>
                  <a:srgbClr val="F5B82E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04</a:t>
            </a:r>
          </a:p>
        </p:txBody>
      </p:sp>
      <p:sp>
        <p:nvSpPr>
          <p:cNvPr name="TextBox 27" id="27"/>
          <p:cNvSpPr txBox="true"/>
          <p:nvPr/>
        </p:nvSpPr>
        <p:spPr>
          <a:xfrm rot="0">
            <a:off x="666750" y="6930390"/>
            <a:ext cx="864987" cy="4286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359"/>
              </a:lnSpc>
              <a:spcBef>
                <a:spcPct val="0"/>
              </a:spcBef>
            </a:pPr>
            <a:r>
              <a:rPr lang="en-US" sz="2799" u="none">
                <a:solidFill>
                  <a:srgbClr val="F5B82E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02</a:t>
            </a:r>
          </a:p>
        </p:txBody>
      </p:sp>
      <p:grpSp>
        <p:nvGrpSpPr>
          <p:cNvPr name="Group 28" id="28"/>
          <p:cNvGrpSpPr/>
          <p:nvPr/>
        </p:nvGrpSpPr>
        <p:grpSpPr>
          <a:xfrm rot="0">
            <a:off x="10734675" y="4258786"/>
            <a:ext cx="6886575" cy="1570673"/>
            <a:chOff x="0" y="0"/>
            <a:chExt cx="9182100" cy="2094230"/>
          </a:xfrm>
        </p:grpSpPr>
        <p:sp>
          <p:nvSpPr>
            <p:cNvPr name="TextBox 29" id="29"/>
            <p:cNvSpPr txBox="true"/>
            <p:nvPr/>
          </p:nvSpPr>
          <p:spPr>
            <a:xfrm rot="0">
              <a:off x="0" y="0"/>
              <a:ext cx="9182100" cy="9271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5040"/>
                </a:lnSpc>
                <a:spcBef>
                  <a:spcPct val="0"/>
                </a:spcBef>
              </a:pPr>
              <a:r>
                <a:rPr lang="en-US" b="true" sz="4200" spc="-63" strike="noStrike" u="none">
                  <a:solidFill>
                    <a:srgbClr val="F5B82E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≈ 200 ms</a:t>
              </a:r>
            </a:p>
          </p:txBody>
        </p:sp>
        <p:sp>
          <p:nvSpPr>
            <p:cNvPr name="TextBox 30" id="30"/>
            <p:cNvSpPr txBox="true"/>
            <p:nvPr/>
          </p:nvSpPr>
          <p:spPr>
            <a:xfrm rot="0">
              <a:off x="0" y="1571414"/>
              <a:ext cx="9182100" cy="52281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249"/>
                </a:lnSpc>
                <a:spcBef>
                  <a:spcPct val="0"/>
                </a:spcBef>
              </a:pPr>
              <a:r>
                <a:rPr lang="en-US" sz="2499" spc="-37" strike="noStrike" u="none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SICON invierte un mapa de 512 × 512 de Hinode en una GPU</a:t>
              </a:r>
            </a:p>
          </p:txBody>
        </p:sp>
      </p:grpSp>
      <p:sp>
        <p:nvSpPr>
          <p:cNvPr name="TextBox 31" id="31"/>
          <p:cNvSpPr txBox="true"/>
          <p:nvPr/>
        </p:nvSpPr>
        <p:spPr>
          <a:xfrm rot="0">
            <a:off x="685800" y="2085975"/>
            <a:ext cx="66675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>
                <a:solidFill>
                  <a:srgbClr val="087F8C"/>
                </a:solidFill>
                <a:latin typeface="Arimo Bold"/>
                <a:ea typeface="Arimo Bold"/>
                <a:cs typeface="Arimo Bold"/>
                <a:sym typeface="Arimo Bold"/>
              </a:rPr>
              <a:t>ASENSIO RAMOS ET AL. (2023), SECCIÓN 7</a:t>
            </a:r>
          </a:p>
        </p:txBody>
      </p:sp>
      <p:grpSp>
        <p:nvGrpSpPr>
          <p:cNvPr name="Group 32" id="32"/>
          <p:cNvGrpSpPr/>
          <p:nvPr/>
        </p:nvGrpSpPr>
        <p:grpSpPr>
          <a:xfrm rot="0">
            <a:off x="16383000" y="571500"/>
            <a:ext cx="1238250" cy="1238250"/>
            <a:chOff x="0" y="0"/>
            <a:chExt cx="1651000" cy="1651000"/>
          </a:xfrm>
        </p:grpSpPr>
        <p:sp>
          <p:nvSpPr>
            <p:cNvPr name="Freeform 33" id="33"/>
            <p:cNvSpPr/>
            <p:nvPr/>
          </p:nvSpPr>
          <p:spPr>
            <a:xfrm flipH="false" flipV="false" rot="0">
              <a:off x="185738" y="185738"/>
              <a:ext cx="1279525" cy="1279525"/>
            </a:xfrm>
            <a:custGeom>
              <a:avLst/>
              <a:gdLst/>
              <a:ahLst/>
              <a:cxnLst/>
              <a:rect r="r" b="b" t="t" l="l"/>
              <a:pathLst>
                <a:path h="1279525" w="1279525">
                  <a:moveTo>
                    <a:pt x="275166" y="639762"/>
                  </a:moveTo>
                  <a:cubicBezTo>
                    <a:pt x="275166" y="841123"/>
                    <a:pt x="438401" y="1004358"/>
                    <a:pt x="639762" y="1004358"/>
                  </a:cubicBezTo>
                  <a:cubicBezTo>
                    <a:pt x="841123" y="1004358"/>
                    <a:pt x="1004358" y="841123"/>
                    <a:pt x="1004358" y="639762"/>
                  </a:cubicBezTo>
                  <a:cubicBezTo>
                    <a:pt x="1004358" y="438401"/>
                    <a:pt x="841123" y="275166"/>
                    <a:pt x="639762" y="275166"/>
                  </a:cubicBezTo>
                  <a:cubicBezTo>
                    <a:pt x="438401" y="275166"/>
                    <a:pt x="275166" y="438401"/>
                    <a:pt x="275166" y="639762"/>
                  </a:cubicBezTo>
                  <a:close/>
                  <a:moveTo>
                    <a:pt x="1246505" y="260720"/>
                  </a:moveTo>
                  <a:cubicBezTo>
                    <a:pt x="1203867" y="188286"/>
                    <a:pt x="1047386" y="194142"/>
                    <a:pt x="836581" y="276061"/>
                  </a:cubicBezTo>
                  <a:cubicBezTo>
                    <a:pt x="625775" y="357980"/>
                    <a:pt x="393043" y="503372"/>
                    <a:pt x="226905" y="656936"/>
                  </a:cubicBezTo>
                  <a:cubicBezTo>
                    <a:pt x="60766" y="810500"/>
                    <a:pt x="-13246" y="948637"/>
                    <a:pt x="33020" y="1018804"/>
                  </a:cubicBezTo>
                  <a:cubicBezTo>
                    <a:pt x="75657" y="1091238"/>
                    <a:pt x="232138" y="1085382"/>
                    <a:pt x="442943" y="1003463"/>
                  </a:cubicBezTo>
                  <a:cubicBezTo>
                    <a:pt x="653749" y="921544"/>
                    <a:pt x="886481" y="776152"/>
                    <a:pt x="1052619" y="622588"/>
                  </a:cubicBezTo>
                  <a:cubicBezTo>
                    <a:pt x="1218758" y="469024"/>
                    <a:pt x="1292770" y="330887"/>
                    <a:pt x="1246505" y="260720"/>
                  </a:cubicBezTo>
                  <a:close/>
                  <a:moveTo>
                    <a:pt x="639762" y="110066"/>
                  </a:moveTo>
                  <a:lnTo>
                    <a:pt x="639762" y="0"/>
                  </a:lnTo>
                  <a:moveTo>
                    <a:pt x="639762" y="1279524"/>
                  </a:moveTo>
                  <a:lnTo>
                    <a:pt x="639762" y="1169458"/>
                  </a:lnTo>
                  <a:moveTo>
                    <a:pt x="110066" y="639762"/>
                  </a:moveTo>
                  <a:lnTo>
                    <a:pt x="0" y="639762"/>
                  </a:lnTo>
                  <a:moveTo>
                    <a:pt x="1279524" y="639762"/>
                  </a:moveTo>
                  <a:lnTo>
                    <a:pt x="1169458" y="639762"/>
                  </a:lnTo>
                  <a:moveTo>
                    <a:pt x="268287" y="268287"/>
                  </a:moveTo>
                  <a:lnTo>
                    <a:pt x="192616" y="192616"/>
                  </a:lnTo>
                  <a:moveTo>
                    <a:pt x="1011237" y="1011237"/>
                  </a:moveTo>
                  <a:lnTo>
                    <a:pt x="1086908" y="1086908"/>
                  </a:lnTo>
                  <a:moveTo>
                    <a:pt x="302683" y="687916"/>
                  </a:moveTo>
                  <a:lnTo>
                    <a:pt x="454024" y="687916"/>
                  </a:lnTo>
                  <a:lnTo>
                    <a:pt x="529695" y="529695"/>
                  </a:lnTo>
                  <a:lnTo>
                    <a:pt x="646641" y="804862"/>
                  </a:lnTo>
                  <a:lnTo>
                    <a:pt x="749829" y="598487"/>
                  </a:lnTo>
                  <a:lnTo>
                    <a:pt x="818620" y="687916"/>
                  </a:lnTo>
                  <a:lnTo>
                    <a:pt x="983720" y="687916"/>
                  </a:lnTo>
                </a:path>
              </a:pathLst>
            </a:custGeom>
            <a:ln w="38100" cap="sq">
              <a:solidFill>
                <a:srgbClr val="F5B82E"/>
              </a:solidFill>
              <a:prstDash val="solid"/>
              <a:miter/>
            </a:ln>
          </p:spPr>
        </p:sp>
        <p:sp>
          <p:nvSpPr>
            <p:cNvPr name="TextBox 34" id="34"/>
            <p:cNvSpPr txBox="true"/>
            <p:nvPr/>
          </p:nvSpPr>
          <p:spPr>
            <a:xfrm>
              <a:off x="0" y="-38100"/>
              <a:ext cx="1651000" cy="1689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35" id="35"/>
          <p:cNvGrpSpPr/>
          <p:nvPr/>
        </p:nvGrpSpPr>
        <p:grpSpPr>
          <a:xfrm rot="0">
            <a:off x="16383000" y="571500"/>
            <a:ext cx="1238250" cy="1238250"/>
            <a:chOff x="0" y="0"/>
            <a:chExt cx="1651000" cy="1651000"/>
          </a:xfrm>
        </p:grpSpPr>
        <p:sp>
          <p:nvSpPr>
            <p:cNvPr name="Freeform 36" id="36"/>
            <p:cNvSpPr/>
            <p:nvPr/>
          </p:nvSpPr>
          <p:spPr>
            <a:xfrm flipH="false" flipV="false" rot="0">
              <a:off x="1183217" y="213254"/>
              <a:ext cx="220133" cy="220133"/>
            </a:xfrm>
            <a:custGeom>
              <a:avLst/>
              <a:gdLst/>
              <a:ahLst/>
              <a:cxnLst/>
              <a:rect r="r" b="b" t="t" l="l"/>
              <a:pathLst>
                <a:path h="220133" w="220133">
                  <a:moveTo>
                    <a:pt x="110066" y="0"/>
                  </a:moveTo>
                  <a:lnTo>
                    <a:pt x="137583" y="82550"/>
                  </a:lnTo>
                  <a:lnTo>
                    <a:pt x="220133" y="110067"/>
                  </a:lnTo>
                  <a:lnTo>
                    <a:pt x="137583" y="137584"/>
                  </a:lnTo>
                  <a:lnTo>
                    <a:pt x="110066" y="220134"/>
                  </a:lnTo>
                  <a:lnTo>
                    <a:pt x="82550" y="137584"/>
                  </a:lnTo>
                  <a:lnTo>
                    <a:pt x="0" y="110067"/>
                  </a:lnTo>
                  <a:lnTo>
                    <a:pt x="82550" y="82550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37" id="37"/>
            <p:cNvSpPr txBox="true"/>
            <p:nvPr/>
          </p:nvSpPr>
          <p:spPr>
            <a:xfrm>
              <a:off x="0" y="-38100"/>
              <a:ext cx="1651000" cy="1689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38" id="38"/>
          <p:cNvSpPr txBox="true"/>
          <p:nvPr/>
        </p:nvSpPr>
        <p:spPr>
          <a:xfrm rot="0">
            <a:off x="666750" y="9772650"/>
            <a:ext cx="9525000" cy="224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84"/>
              </a:lnSpc>
            </a:pPr>
            <a:r>
              <a:rPr lang="en-US" sz="1275" b="true">
                <a:solidFill>
                  <a:srgbClr val="9FB3C8"/>
                </a:solidFill>
                <a:latin typeface="Arimo Bold"/>
                <a:ea typeface="Arimo Bold"/>
                <a:cs typeface="Arimo Bold"/>
                <a:sym typeface="Arimo Bold"/>
              </a:rPr>
              <a:t>HELIODATA ACADEMY 2026  ·  ESCUELA DE ASTROFÍSICA SOLAR</a:t>
            </a:r>
          </a:p>
        </p:txBody>
      </p:sp>
      <p:sp>
        <p:nvSpPr>
          <p:cNvPr name="Freeform 39" id="39" descr="Logo GoSA"/>
          <p:cNvSpPr/>
          <p:nvPr/>
        </p:nvSpPr>
        <p:spPr>
          <a:xfrm flipH="false" flipV="false" rot="0">
            <a:off x="16192500" y="9753600"/>
            <a:ext cx="762000" cy="352425"/>
          </a:xfrm>
          <a:custGeom>
            <a:avLst/>
            <a:gdLst/>
            <a:ahLst/>
            <a:cxnLst/>
            <a:rect r="r" b="b" t="t" l="l"/>
            <a:pathLst>
              <a:path h="352425" w="762000">
                <a:moveTo>
                  <a:pt x="0" y="0"/>
                </a:moveTo>
                <a:lnTo>
                  <a:pt x="762000" y="0"/>
                </a:lnTo>
                <a:lnTo>
                  <a:pt x="762000" y="352425"/>
                </a:lnTo>
                <a:lnTo>
                  <a:pt x="0" y="352425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592" r="0" b="-592"/>
            </a:stretch>
          </a:blipFill>
        </p:spPr>
      </p:sp>
      <p:sp>
        <p:nvSpPr>
          <p:cNvPr name="Freeform 40" id="40" descr="Logo Observatorio Astronómico Nacional"/>
          <p:cNvSpPr/>
          <p:nvPr/>
        </p:nvSpPr>
        <p:spPr>
          <a:xfrm flipH="false" flipV="false" rot="0">
            <a:off x="17145000" y="9715500"/>
            <a:ext cx="457200" cy="428625"/>
          </a:xfrm>
          <a:custGeom>
            <a:avLst/>
            <a:gdLst/>
            <a:ahLst/>
            <a:cxnLst/>
            <a:rect r="r" b="b" t="t" l="l"/>
            <a:pathLst>
              <a:path h="428625" w="457200">
                <a:moveTo>
                  <a:pt x="0" y="0"/>
                </a:moveTo>
                <a:lnTo>
                  <a:pt x="457200" y="0"/>
                </a:lnTo>
                <a:lnTo>
                  <a:pt x="45720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328" t="0" r="-328" b="0"/>
            </a:stretch>
          </a:blipFill>
        </p:spPr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/>
      <p:sp>
        <p:nvSpPr>
          <p:cNvPr name="TextBox 2" id="2"/>
          <p:cNvSpPr txBox="true"/>
          <p:nvPr/>
        </p:nvSpPr>
        <p:spPr>
          <a:xfrm rot="0">
            <a:off x="666750" y="3676650"/>
            <a:ext cx="6886575" cy="12890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539748" indent="-269874" lvl="1">
              <a:lnSpc>
                <a:spcPts val="3080"/>
              </a:lnSpc>
              <a:spcBef>
                <a:spcPct val="0"/>
              </a:spcBef>
              <a:buFont typeface="Arial"/>
              <a:buChar char="•"/>
            </a:pPr>
            <a:r>
              <a:rPr lang="en-US" sz="2200" spc="-37" strike="noStrike" u="none" b="1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Erupciones</a:t>
            </a:r>
            <a:r>
              <a:rPr lang="en-US" sz="2200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: clasificación (¿M o mayor en horas o días?) o regresión del flujo</a:t>
            </a:r>
          </a:p>
          <a:p>
            <a:pPr algn="l" marL="539748" indent="-269874" lvl="1">
              <a:lnSpc>
                <a:spcPts val="3080"/>
              </a:lnSpc>
              <a:spcBef>
                <a:spcPct val="0"/>
              </a:spcBef>
              <a:buFont typeface="Arial"/>
              <a:buChar char="•"/>
            </a:pPr>
            <a:r>
              <a:rPr lang="en-US" sz="2200" spc="-37" strike="noStrike" u="none" b="1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CNN</a:t>
            </a:r>
            <a:r>
              <a:rPr lang="en-US" sz="2200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sobre magnetogramas de MDI y HMI (Huang et al., 2018)</a:t>
            </a:r>
          </a:p>
          <a:p>
            <a:pPr algn="l" marL="539748" indent="-269874" lvl="1">
              <a:lnSpc>
                <a:spcPts val="3080"/>
              </a:lnSpc>
              <a:spcBef>
                <a:spcPct val="0"/>
              </a:spcBef>
              <a:buFont typeface="Arial"/>
              <a:buChar char="•"/>
            </a:pPr>
            <a:r>
              <a:rPr lang="en-US" sz="2200" spc="-37" strike="noStrike" u="none" b="1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LSTM</a:t>
            </a:r>
            <a:r>
              <a:rPr lang="en-US" sz="2200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con 25 parámetros SHARP y la historia de erupciones (Liu et al., 2019)</a:t>
            </a:r>
          </a:p>
          <a:p>
            <a:pPr algn="l" marL="539748" indent="-269874" lvl="1">
              <a:lnSpc>
                <a:spcPts val="3080"/>
              </a:lnSpc>
              <a:spcBef>
                <a:spcPct val="0"/>
              </a:spcBef>
              <a:buFont typeface="Arial"/>
              <a:buChar char="•"/>
            </a:pPr>
            <a:r>
              <a:rPr lang="en-US" sz="2200" spc="-37" strike="noStrike" u="none" b="1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CME</a:t>
            </a:r>
            <a:r>
              <a:rPr lang="en-US" sz="2200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: SVM de Bobra e Ilonidis (2016), capítulo 1 de HelioML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666750" y="1190625"/>
            <a:ext cx="6886575" cy="17049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6600"/>
              </a:lnSpc>
              <a:spcBef>
                <a:spcPct val="0"/>
              </a:spcBef>
            </a:pPr>
            <a:r>
              <a:rPr lang="en-US" sz="6000" spc="-179" strike="noStrike" u="none">
                <a:solidFill>
                  <a:srgbClr val="071D30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Predecir el clima espacial</a:t>
            </a:r>
          </a:p>
        </p:txBody>
      </p:sp>
      <p:grpSp>
        <p:nvGrpSpPr>
          <p:cNvPr name="Group 4" id="4"/>
          <p:cNvGrpSpPr/>
          <p:nvPr/>
        </p:nvGrpSpPr>
        <p:grpSpPr>
          <a:xfrm rot="0">
            <a:off x="8991600" y="0"/>
            <a:ext cx="9296400" cy="10287000"/>
            <a:chOff x="0" y="0"/>
            <a:chExt cx="1220873" cy="1350966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1220873" cy="1350966"/>
            </a:xfrm>
            <a:custGeom>
              <a:avLst/>
              <a:gdLst/>
              <a:ahLst/>
              <a:cxnLst/>
              <a:rect r="r" b="b" t="t" l="l"/>
              <a:pathLst>
                <a:path h="1350966" w="1220873">
                  <a:moveTo>
                    <a:pt x="0" y="0"/>
                  </a:moveTo>
                  <a:lnTo>
                    <a:pt x="1220873" y="0"/>
                  </a:lnTo>
                  <a:lnTo>
                    <a:pt x="1220873" y="1350966"/>
                  </a:lnTo>
                  <a:lnTo>
                    <a:pt x="0" y="1350966"/>
                  </a:lnTo>
                  <a:close/>
                </a:path>
              </a:pathLst>
            </a:custGeom>
            <a:solidFill>
              <a:srgbClr val="071D30"/>
            </a:solidFill>
          </p:spPr>
        </p:sp>
      </p:grpSp>
      <p:sp>
        <p:nvSpPr>
          <p:cNvPr name="TextBox 6" id="6"/>
          <p:cNvSpPr txBox="true"/>
          <p:nvPr/>
        </p:nvSpPr>
        <p:spPr>
          <a:xfrm rot="0">
            <a:off x="685800" y="657225"/>
            <a:ext cx="57150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>
                <a:solidFill>
                  <a:srgbClr val="087F8C"/>
                </a:solidFill>
                <a:latin typeface="Arimo Bold"/>
                <a:ea typeface="Arimo Bold"/>
                <a:cs typeface="Arimo Bold"/>
                <a:sym typeface="Arimo Bold"/>
              </a:rPr>
              <a:t>APLICACIÓN</a:t>
            </a:r>
          </a:p>
        </p:txBody>
      </p:sp>
      <p:grpSp>
        <p:nvGrpSpPr>
          <p:cNvPr name="Group 7" id="7"/>
          <p:cNvGrpSpPr/>
          <p:nvPr/>
        </p:nvGrpSpPr>
        <p:grpSpPr>
          <a:xfrm rot="0">
            <a:off x="666750" y="7048500"/>
            <a:ext cx="7620000" cy="1905000"/>
            <a:chOff x="0" y="0"/>
            <a:chExt cx="10160000" cy="254000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10160000" cy="2540000"/>
            </a:xfrm>
            <a:custGeom>
              <a:avLst/>
              <a:gdLst/>
              <a:ahLst/>
              <a:cxnLst/>
              <a:rect r="r" b="b" t="t" l="l"/>
              <a:pathLst>
                <a:path h="2540000" w="10160000">
                  <a:moveTo>
                    <a:pt x="254000" y="0"/>
                  </a:moveTo>
                  <a:lnTo>
                    <a:pt x="9906000" y="0"/>
                  </a:lnTo>
                  <a:cubicBezTo>
                    <a:pt x="10046281" y="0"/>
                    <a:pt x="10160000" y="113720"/>
                    <a:pt x="10160000" y="254000"/>
                  </a:cubicBezTo>
                  <a:lnTo>
                    <a:pt x="10160000" y="2286000"/>
                  </a:lnTo>
                  <a:cubicBezTo>
                    <a:pt x="10160000" y="2426280"/>
                    <a:pt x="10046281" y="2540000"/>
                    <a:pt x="9906000" y="2540000"/>
                  </a:cubicBezTo>
                  <a:lnTo>
                    <a:pt x="254000" y="2540000"/>
                  </a:lnTo>
                  <a:cubicBezTo>
                    <a:pt x="113720" y="2540000"/>
                    <a:pt x="0" y="2426280"/>
                    <a:pt x="0" y="2286000"/>
                  </a:cubicBezTo>
                  <a:lnTo>
                    <a:pt x="0" y="254000"/>
                  </a:lnTo>
                  <a:cubicBezTo>
                    <a:pt x="0" y="113720"/>
                    <a:pt x="113720" y="0"/>
                    <a:pt x="254000" y="0"/>
                  </a:cubicBezTo>
                  <a:close/>
                </a:path>
              </a:pathLst>
            </a:custGeom>
            <a:solidFill>
              <a:srgbClr val="071D30"/>
            </a:solidFill>
          </p:spPr>
        </p:sp>
        <p:sp>
          <p:nvSpPr>
            <p:cNvPr name="TextBox 9" id="9"/>
            <p:cNvSpPr txBox="true"/>
            <p:nvPr/>
          </p:nvSpPr>
          <p:spPr>
            <a:xfrm>
              <a:off x="0" y="-38100"/>
              <a:ext cx="10160000" cy="2578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666750" y="7239000"/>
            <a:ext cx="114300" cy="1524000"/>
            <a:chOff x="0" y="0"/>
            <a:chExt cx="152400" cy="203200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152400" cy="2032000"/>
            </a:xfrm>
            <a:custGeom>
              <a:avLst/>
              <a:gdLst/>
              <a:ahLst/>
              <a:cxnLst/>
              <a:rect r="r" b="b" t="t" l="l"/>
              <a:pathLst>
                <a:path h="2032000" w="152400">
                  <a:moveTo>
                    <a:pt x="0" y="0"/>
                  </a:moveTo>
                  <a:lnTo>
                    <a:pt x="152400" y="0"/>
                  </a:lnTo>
                  <a:lnTo>
                    <a:pt x="152400" y="2032000"/>
                  </a:lnTo>
                  <a:lnTo>
                    <a:pt x="0" y="2032000"/>
                  </a:lnTo>
                  <a:close/>
                </a:path>
              </a:pathLst>
            </a:custGeom>
            <a:solidFill>
              <a:srgbClr val="F5B82E"/>
            </a:solid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38100"/>
              <a:ext cx="152400" cy="2070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3" id="13"/>
          <p:cNvSpPr txBox="true"/>
          <p:nvPr/>
        </p:nvSpPr>
        <p:spPr>
          <a:xfrm rot="0">
            <a:off x="1095375" y="7277100"/>
            <a:ext cx="66675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>
                <a:solidFill>
                  <a:srgbClr val="F5B82E"/>
                </a:solidFill>
                <a:latin typeface="Arimo Bold"/>
                <a:ea typeface="Arimo Bold"/>
                <a:cs typeface="Arimo Bold"/>
                <a:sym typeface="Arimo Bold"/>
              </a:rPr>
              <a:t>IDEA CLAVE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1095375" y="7772400"/>
            <a:ext cx="6858000" cy="8439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60"/>
              </a:lnSpc>
            </a:pPr>
            <a:r>
              <a:rPr lang="en-US" sz="2200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Las erupciones grandes son raras: hay que comparar contra líneas base.</a:t>
            </a:r>
          </a:p>
        </p:txBody>
      </p:sp>
      <p:grpSp>
        <p:nvGrpSpPr>
          <p:cNvPr name="Group 15" id="15"/>
          <p:cNvGrpSpPr/>
          <p:nvPr/>
        </p:nvGrpSpPr>
        <p:grpSpPr>
          <a:xfrm rot="0">
            <a:off x="8991600" y="9429750"/>
            <a:ext cx="9296400" cy="857250"/>
            <a:chOff x="0" y="0"/>
            <a:chExt cx="12395200" cy="114300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12395200" cy="1143000"/>
            </a:xfrm>
            <a:custGeom>
              <a:avLst/>
              <a:gdLst/>
              <a:ahLst/>
              <a:cxnLst/>
              <a:rect r="r" b="b" t="t" l="l"/>
              <a:pathLst>
                <a:path h="1143000" w="12395200">
                  <a:moveTo>
                    <a:pt x="0" y="0"/>
                  </a:moveTo>
                  <a:lnTo>
                    <a:pt x="12395200" y="0"/>
                  </a:lnTo>
                  <a:lnTo>
                    <a:pt x="12395200" y="1143000"/>
                  </a:lnTo>
                  <a:lnTo>
                    <a:pt x="0" y="1143000"/>
                  </a:lnTo>
                  <a:close/>
                </a:path>
              </a:pathLst>
            </a:custGeom>
            <a:solidFill>
              <a:srgbClr val="071D30">
                <a:alpha val="74902"/>
              </a:srgbClr>
            </a:solidFill>
          </p:spPr>
        </p:sp>
        <p:sp>
          <p:nvSpPr>
            <p:cNvPr name="TextBox 17" id="17"/>
            <p:cNvSpPr txBox="true"/>
            <p:nvPr/>
          </p:nvSpPr>
          <p:spPr>
            <a:xfrm>
              <a:off x="0" y="-38100"/>
              <a:ext cx="12395200" cy="1181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8" id="18"/>
          <p:cNvSpPr txBox="true"/>
          <p:nvPr/>
        </p:nvSpPr>
        <p:spPr>
          <a:xfrm rot="0">
            <a:off x="9334500" y="9696450"/>
            <a:ext cx="8572500" cy="2419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350">
                <a:solidFill>
                  <a:srgbClr val="F5F7FA"/>
                </a:solidFill>
                <a:latin typeface="Arimo"/>
                <a:ea typeface="Arimo"/>
                <a:cs typeface="Arimo"/>
                <a:sym typeface="Arimo"/>
              </a:rPr>
              <a:t>Imagen: AR 11944 durante la erupción X1.2 del 7 ene 2014 (SDO, formato Surya)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666750" y="9772650"/>
            <a:ext cx="5905500" cy="224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84"/>
              </a:lnSpc>
            </a:pPr>
            <a:r>
              <a:rPr lang="en-US" sz="1275" b="true">
                <a:solidFill>
                  <a:srgbClr val="53697A"/>
                </a:solidFill>
                <a:latin typeface="Arimo Bold"/>
                <a:ea typeface="Arimo Bold"/>
                <a:cs typeface="Arimo Bold"/>
                <a:sym typeface="Arimo Bold"/>
              </a:rPr>
              <a:t>HELIODATA ACADEMY 2026  ·  ESCUELA DE ASTROFÍSICA SOLAR</a:t>
            </a:r>
          </a:p>
        </p:txBody>
      </p:sp>
      <p:sp>
        <p:nvSpPr>
          <p:cNvPr name="Freeform 20" id="20" descr="Logo GoSA"/>
          <p:cNvSpPr/>
          <p:nvPr/>
        </p:nvSpPr>
        <p:spPr>
          <a:xfrm flipH="false" flipV="false" rot="0">
            <a:off x="6858000" y="9734550"/>
            <a:ext cx="819150" cy="381000"/>
          </a:xfrm>
          <a:custGeom>
            <a:avLst/>
            <a:gdLst/>
            <a:ahLst/>
            <a:cxnLst/>
            <a:rect r="r" b="b" t="t" l="l"/>
            <a:pathLst>
              <a:path h="381000" w="819150">
                <a:moveTo>
                  <a:pt x="0" y="0"/>
                </a:moveTo>
                <a:lnTo>
                  <a:pt x="819150" y="0"/>
                </a:lnTo>
                <a:lnTo>
                  <a:pt x="819150" y="381000"/>
                </a:lnTo>
                <a:lnTo>
                  <a:pt x="0" y="381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-307" r="0" b="-307"/>
            </a:stretch>
          </a:blipFill>
        </p:spPr>
      </p:sp>
      <p:sp>
        <p:nvSpPr>
          <p:cNvPr name="Freeform 21" id="21" descr="Logo Observatorio Astronómico Nacional"/>
          <p:cNvSpPr/>
          <p:nvPr/>
        </p:nvSpPr>
        <p:spPr>
          <a:xfrm flipH="false" flipV="false" rot="0">
            <a:off x="7829550" y="9715500"/>
            <a:ext cx="457200" cy="428625"/>
          </a:xfrm>
          <a:custGeom>
            <a:avLst/>
            <a:gdLst/>
            <a:ahLst/>
            <a:cxnLst/>
            <a:rect r="r" b="b" t="t" l="l"/>
            <a:pathLst>
              <a:path h="428625" w="457200">
                <a:moveTo>
                  <a:pt x="0" y="0"/>
                </a:moveTo>
                <a:lnTo>
                  <a:pt x="457200" y="0"/>
                </a:lnTo>
                <a:lnTo>
                  <a:pt x="45720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-328" t="0" r="-328" b="0"/>
            </a:stretch>
          </a:blipFill>
        </p:spPr>
      </p:sp>
      <p:pic>
        <p:nvPicPr>
          <p:cNvPr id="22" name="Picture 21" descr="canale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32000" y="2320892"/>
            <a:ext cx="8424000" cy="4790215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/>
      <p:grpSp>
        <p:nvGrpSpPr>
          <p:cNvPr name="Group 2" id="2"/>
          <p:cNvGrpSpPr/>
          <p:nvPr/>
        </p:nvGrpSpPr>
        <p:grpSpPr>
          <a:xfrm rot="0">
            <a:off x="9296400" y="0"/>
            <a:ext cx="8991600" cy="3352800"/>
            <a:chOff x="0" y="0"/>
            <a:chExt cx="2368158" cy="883042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368158" cy="883042"/>
            </a:xfrm>
            <a:custGeom>
              <a:avLst/>
              <a:gdLst/>
              <a:ahLst/>
              <a:cxnLst/>
              <a:rect r="r" b="b" t="t" l="l"/>
              <a:pathLst>
                <a:path h="883042" w="2368158">
                  <a:moveTo>
                    <a:pt x="0" y="0"/>
                  </a:moveTo>
                  <a:lnTo>
                    <a:pt x="2368158" y="0"/>
                  </a:lnTo>
                  <a:lnTo>
                    <a:pt x="2368158" y="883042"/>
                  </a:lnTo>
                  <a:lnTo>
                    <a:pt x="0" y="883042"/>
                  </a:lnTo>
                  <a:close/>
                </a:path>
              </a:pathLst>
            </a:custGeom>
            <a:solidFill>
              <a:srgbClr val="F5F7FA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2368158" cy="92114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00"/>
                </a:lnSpc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8991600" y="0"/>
            <a:ext cx="9296400" cy="10287000"/>
            <a:chOff x="0" y="0"/>
            <a:chExt cx="1220873" cy="1350966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220873" cy="1350966"/>
            </a:xfrm>
            <a:custGeom>
              <a:avLst/>
              <a:gdLst/>
              <a:ahLst/>
              <a:cxnLst/>
              <a:rect r="r" b="b" t="t" l="l"/>
              <a:pathLst>
                <a:path h="1350966" w="1220873">
                  <a:moveTo>
                    <a:pt x="0" y="0"/>
                  </a:moveTo>
                  <a:lnTo>
                    <a:pt x="1220873" y="0"/>
                  </a:lnTo>
                  <a:lnTo>
                    <a:pt x="1220873" y="1350966"/>
                  </a:lnTo>
                  <a:lnTo>
                    <a:pt x="0" y="1350966"/>
                  </a:lnTo>
                  <a:close/>
                </a:path>
              </a:pathLst>
            </a:custGeom>
            <a:solidFill>
              <a:srgbClr val="071D30"/>
            </a:solidFill>
          </p:spPr>
        </p:sp>
      </p:grpSp>
      <p:sp>
        <p:nvSpPr>
          <p:cNvPr name="TextBox 7" id="7"/>
          <p:cNvSpPr txBox="true"/>
          <p:nvPr/>
        </p:nvSpPr>
        <p:spPr>
          <a:xfrm rot="0">
            <a:off x="666750" y="2362200"/>
            <a:ext cx="6886575" cy="11811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6600"/>
              </a:lnSpc>
              <a:spcBef>
                <a:spcPct val="0"/>
              </a:spcBef>
            </a:pPr>
            <a:r>
              <a:rPr lang="en-US" sz="6000" spc="-247" strike="noStrike" u="none">
                <a:solidFill>
                  <a:srgbClr val="071D30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9 cuadernos</a:t>
            </a:r>
          </a:p>
        </p:txBody>
      </p:sp>
      <p:grpSp>
        <p:nvGrpSpPr>
          <p:cNvPr name="Group 8" id="8"/>
          <p:cNvGrpSpPr/>
          <p:nvPr/>
        </p:nvGrpSpPr>
        <p:grpSpPr>
          <a:xfrm rot="0">
            <a:off x="666750" y="5334000"/>
            <a:ext cx="6886575" cy="1898650"/>
            <a:chOff x="0" y="0"/>
            <a:chExt cx="9182100" cy="2531534"/>
          </a:xfrm>
        </p:grpSpPr>
        <p:sp>
          <p:nvSpPr>
            <p:cNvPr name="TextBox 9" id="9"/>
            <p:cNvSpPr txBox="true"/>
            <p:nvPr/>
          </p:nvSpPr>
          <p:spPr>
            <a:xfrm rot="0">
              <a:off x="0" y="0"/>
              <a:ext cx="9182100" cy="5588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000"/>
                </a:lnSpc>
                <a:spcBef>
                  <a:spcPct val="0"/>
                </a:spcBef>
              </a:pPr>
              <a:r>
                <a:rPr lang="en-US" b="true" sz="2500" spc="-37" strike="noStrike" u="none">
                  <a:solidFill>
                    <a:srgbClr val="071D30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HelioML: un libro de cuadernos de Jupyter</a:t>
              </a:r>
            </a:p>
          </p:txBody>
        </p:sp>
        <p:sp>
          <p:nvSpPr>
            <p:cNvPr name="TextBox 10" id="10"/>
            <p:cNvSpPr txBox="true"/>
            <p:nvPr/>
          </p:nvSpPr>
          <p:spPr>
            <a:xfrm rot="0">
              <a:off x="0" y="825500"/>
              <a:ext cx="9182100" cy="1706034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499"/>
                </a:lnSpc>
                <a:spcBef>
                  <a:spcPct val="0"/>
                </a:spcBef>
              </a:pPr>
              <a:r>
                <a:rPr lang="en-US" sz="2499" spc="-37" strike="noStrike" u="none">
                  <a:solidFill>
                    <a:srgbClr val="071D30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Reproducen resultados publicados: CME con SVM, Enhance, DeepEM (≈ 10⁷ soluciones DEM por segundo), FarNet, viento solar sin etiquetas (UMAP, HDBSCAN) y más.</a:t>
              </a:r>
            </a:p>
          </p:txBody>
        </p:sp>
      </p:grpSp>
      <p:sp>
        <p:nvSpPr>
          <p:cNvPr name="TextBox 11" id="11"/>
          <p:cNvSpPr txBox="true"/>
          <p:nvPr/>
        </p:nvSpPr>
        <p:spPr>
          <a:xfrm rot="0">
            <a:off x="685800" y="657225"/>
            <a:ext cx="66675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>
                <a:solidFill>
                  <a:srgbClr val="087F8C"/>
                </a:solidFill>
                <a:latin typeface="Arimo Bold"/>
                <a:ea typeface="Arimo Bold"/>
                <a:cs typeface="Arimo Bold"/>
                <a:sym typeface="Arimo Bold"/>
              </a:rPr>
              <a:t>RECURSO</a:t>
            </a:r>
          </a:p>
        </p:txBody>
      </p:sp>
      <p:grpSp>
        <p:nvGrpSpPr>
          <p:cNvPr name="Group 12" id="12"/>
          <p:cNvGrpSpPr/>
          <p:nvPr/>
        </p:nvGrpSpPr>
        <p:grpSpPr>
          <a:xfrm rot="0">
            <a:off x="685800" y="4476750"/>
            <a:ext cx="1428750" cy="57150"/>
            <a:chOff x="0" y="0"/>
            <a:chExt cx="1905000" cy="76200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1905000" cy="76200"/>
            </a:xfrm>
            <a:custGeom>
              <a:avLst/>
              <a:gdLst/>
              <a:ahLst/>
              <a:cxnLst/>
              <a:rect r="r" b="b" t="t" l="l"/>
              <a:pathLst>
                <a:path h="76200" w="1905000">
                  <a:moveTo>
                    <a:pt x="0" y="0"/>
                  </a:moveTo>
                  <a:lnTo>
                    <a:pt x="1905000" y="0"/>
                  </a:lnTo>
                  <a:lnTo>
                    <a:pt x="1905000" y="76200"/>
                  </a:lnTo>
                  <a:lnTo>
                    <a:pt x="0" y="76200"/>
                  </a:lnTo>
                  <a:close/>
                </a:path>
              </a:pathLst>
            </a:custGeom>
            <a:solidFill>
              <a:srgbClr val="F5B82E"/>
            </a:solidFill>
          </p:spPr>
        </p:sp>
        <p:sp>
          <p:nvSpPr>
            <p:cNvPr name="TextBox 14" id="14"/>
            <p:cNvSpPr txBox="true"/>
            <p:nvPr/>
          </p:nvSpPr>
          <p:spPr>
            <a:xfrm>
              <a:off x="0" y="-38100"/>
              <a:ext cx="1905000" cy="1143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5" id="15"/>
          <p:cNvSpPr txBox="true"/>
          <p:nvPr/>
        </p:nvSpPr>
        <p:spPr>
          <a:xfrm rot="0">
            <a:off x="685800" y="8515350"/>
            <a:ext cx="76200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i="true">
                <a:solidFill>
                  <a:srgbClr val="53697A"/>
                </a:solidFill>
                <a:latin typeface="Arimo Italics"/>
                <a:ea typeface="Arimo Italics"/>
                <a:cs typeface="Arimo Italics"/>
                <a:sym typeface="Arimo Italics"/>
              </a:rPr>
              <a:t>Referencia: Bobra y Mason, HelioML v0.4.0, helioml.org</a:t>
            </a:r>
          </a:p>
        </p:txBody>
      </p:sp>
      <p:grpSp>
        <p:nvGrpSpPr>
          <p:cNvPr name="Group 16" id="16"/>
          <p:cNvGrpSpPr/>
          <p:nvPr/>
        </p:nvGrpSpPr>
        <p:grpSpPr>
          <a:xfrm rot="0">
            <a:off x="8991600" y="9429750"/>
            <a:ext cx="9296400" cy="857250"/>
            <a:chOff x="0" y="0"/>
            <a:chExt cx="12395200" cy="1143000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12395200" cy="1143000"/>
            </a:xfrm>
            <a:custGeom>
              <a:avLst/>
              <a:gdLst/>
              <a:ahLst/>
              <a:cxnLst/>
              <a:rect r="r" b="b" t="t" l="l"/>
              <a:pathLst>
                <a:path h="1143000" w="12395200">
                  <a:moveTo>
                    <a:pt x="0" y="0"/>
                  </a:moveTo>
                  <a:lnTo>
                    <a:pt x="12395200" y="0"/>
                  </a:lnTo>
                  <a:lnTo>
                    <a:pt x="12395200" y="1143000"/>
                  </a:lnTo>
                  <a:lnTo>
                    <a:pt x="0" y="1143000"/>
                  </a:lnTo>
                  <a:close/>
                </a:path>
              </a:pathLst>
            </a:custGeom>
            <a:solidFill>
              <a:srgbClr val="071D30">
                <a:alpha val="74902"/>
              </a:srgbClr>
            </a:solidFill>
          </p:spPr>
        </p:sp>
        <p:sp>
          <p:nvSpPr>
            <p:cNvPr name="TextBox 18" id="18"/>
            <p:cNvSpPr txBox="true"/>
            <p:nvPr/>
          </p:nvSpPr>
          <p:spPr>
            <a:xfrm>
              <a:off x="0" y="-38100"/>
              <a:ext cx="12395200" cy="1181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9" id="19"/>
          <p:cNvSpPr txBox="true"/>
          <p:nvPr/>
        </p:nvSpPr>
        <p:spPr>
          <a:xfrm rot="0">
            <a:off x="9334500" y="9696450"/>
            <a:ext cx="8572500" cy="2419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350">
                <a:solidFill>
                  <a:srgbClr val="F5F7FA"/>
                </a:solidFill>
                <a:latin typeface="Arimo"/>
                <a:ea typeface="Arimo"/>
                <a:cs typeface="Arimo"/>
                <a:sym typeface="Arimo"/>
              </a:rPr>
              <a:t>Imagen: puntaje de Fisher de cada parámetro SHARP para predecir CME. HelioML, cap. 1 (Bobra y Mason), según Bobra e Ilonidis (2016)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666750" y="9772650"/>
            <a:ext cx="5905500" cy="224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84"/>
              </a:lnSpc>
            </a:pPr>
            <a:r>
              <a:rPr lang="en-US" sz="1275" b="true">
                <a:solidFill>
                  <a:srgbClr val="53697A"/>
                </a:solidFill>
                <a:latin typeface="Arimo Bold"/>
                <a:ea typeface="Arimo Bold"/>
                <a:cs typeface="Arimo Bold"/>
                <a:sym typeface="Arimo Bold"/>
              </a:rPr>
              <a:t>HELIODATA ACADEMY 2026  ·  ESCUELA DE ASTROFÍSICA SOLAR</a:t>
            </a:r>
          </a:p>
        </p:txBody>
      </p:sp>
      <p:sp>
        <p:nvSpPr>
          <p:cNvPr name="Freeform 21" id="21" descr="Logo GoSA"/>
          <p:cNvSpPr/>
          <p:nvPr/>
        </p:nvSpPr>
        <p:spPr>
          <a:xfrm flipH="false" flipV="false" rot="0">
            <a:off x="6858000" y="9734550"/>
            <a:ext cx="819150" cy="381000"/>
          </a:xfrm>
          <a:custGeom>
            <a:avLst/>
            <a:gdLst/>
            <a:ahLst/>
            <a:cxnLst/>
            <a:rect r="r" b="b" t="t" l="l"/>
            <a:pathLst>
              <a:path h="381000" w="819150">
                <a:moveTo>
                  <a:pt x="0" y="0"/>
                </a:moveTo>
                <a:lnTo>
                  <a:pt x="819150" y="0"/>
                </a:lnTo>
                <a:lnTo>
                  <a:pt x="819150" y="381000"/>
                </a:lnTo>
                <a:lnTo>
                  <a:pt x="0" y="381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-307" r="0" b="-307"/>
            </a:stretch>
          </a:blipFill>
        </p:spPr>
      </p:sp>
      <p:sp>
        <p:nvSpPr>
          <p:cNvPr name="Freeform 22" id="22" descr="Logo Observatorio Astronómico Nacional"/>
          <p:cNvSpPr/>
          <p:nvPr/>
        </p:nvSpPr>
        <p:spPr>
          <a:xfrm flipH="false" flipV="false" rot="0">
            <a:off x="7829550" y="9715500"/>
            <a:ext cx="457200" cy="428625"/>
          </a:xfrm>
          <a:custGeom>
            <a:avLst/>
            <a:gdLst/>
            <a:ahLst/>
            <a:cxnLst/>
            <a:rect r="r" b="b" t="t" l="l"/>
            <a:pathLst>
              <a:path h="428625" w="457200">
                <a:moveTo>
                  <a:pt x="0" y="0"/>
                </a:moveTo>
                <a:lnTo>
                  <a:pt x="457200" y="0"/>
                </a:lnTo>
                <a:lnTo>
                  <a:pt x="45720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-328" t="0" r="-328" b="0"/>
            </a:stretch>
          </a:blipFill>
        </p:spPr>
      </p:sp>
      <p:pic>
        <p:nvPicPr>
          <p:cNvPr id="23" name="Picture 22" descr="helioml_fishe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32000" y="2575216"/>
            <a:ext cx="8424000" cy="4281567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/>
      <p:sp>
        <p:nvSpPr>
          <p:cNvPr name="TextBox 2" id="2"/>
          <p:cNvSpPr txBox="true"/>
          <p:nvPr/>
        </p:nvSpPr>
        <p:spPr>
          <a:xfrm rot="0">
            <a:off x="666750" y="3676650"/>
            <a:ext cx="6886575" cy="12890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539748" indent="-269874" lvl="1">
              <a:lnSpc>
                <a:spcPts val="2940"/>
              </a:lnSpc>
              <a:spcBef>
                <a:spcPct val="0"/>
              </a:spcBef>
              <a:buFont typeface="Arial"/>
              <a:buChar char="•"/>
            </a:pPr>
            <a:r>
              <a:rPr lang="en-US" sz="2100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Invierte </a:t>
            </a:r>
            <a:r>
              <a:rPr lang="en-US" sz="2100" spc="-37" strike="noStrike" u="none" b="1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Stokes I y V</a:t>
            </a:r>
            <a:r>
              <a:rPr lang="en-US" sz="2100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en T, v_LOS y B_LOS en </a:t>
            </a:r>
            <a:r>
              <a:rPr lang="en-US" sz="2100" spc="-37" strike="noStrike" u="none" b="1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45 nodos</a:t>
            </a:r>
            <a:r>
              <a:rPr lang="en-US" sz="2100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de profundidad óptica</a:t>
            </a:r>
          </a:p>
          <a:p>
            <a:pPr algn="l" marL="539748" indent="-269874" lvl="1">
              <a:lnSpc>
                <a:spcPts val="2940"/>
              </a:lnSpc>
              <a:spcBef>
                <a:spcPct val="0"/>
              </a:spcBef>
              <a:buFont typeface="Arial"/>
              <a:buChar char="•"/>
            </a:pPr>
            <a:r>
              <a:rPr lang="en-US" sz="2100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CNN multiescala entrenada con perfiles de </a:t>
            </a:r>
            <a:r>
              <a:rPr lang="en-US" sz="2100" spc="-37" strike="noStrike" u="none" b="1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NICOLE</a:t>
            </a:r>
            <a:r>
              <a:rPr lang="en-US" sz="2100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sobre simulaciones </a:t>
            </a:r>
            <a:r>
              <a:rPr lang="en-US" sz="2100" spc="-37" strike="noStrike" u="none" b="1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MURaM</a:t>
            </a:r>
          </a:p>
          <a:p>
            <a:pPr algn="l" marL="539748" indent="-269874" lvl="1">
              <a:lnSpc>
                <a:spcPts val="2940"/>
              </a:lnSpc>
              <a:spcBef>
                <a:spcPct val="0"/>
              </a:spcBef>
              <a:buFont typeface="Arial"/>
              <a:buChar char="•"/>
            </a:pPr>
            <a:r>
              <a:rPr lang="en-US" sz="2100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Pérdida con términos físicos: </a:t>
            </a:r>
            <a:r>
              <a:rPr lang="en-US" sz="2100" spc="-37" strike="noStrike" u="none" b="1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WFA</a:t>
            </a:r>
            <a:r>
              <a:rPr lang="en-US" sz="2100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, Doppler y cuerpo negro</a:t>
            </a:r>
          </a:p>
          <a:p>
            <a:pPr algn="l" marL="539748" indent="-269874" lvl="1">
              <a:lnSpc>
                <a:spcPts val="2940"/>
              </a:lnSpc>
              <a:spcBef>
                <a:spcPct val="0"/>
              </a:spcBef>
              <a:buFont typeface="Arial"/>
              <a:buChar char="•"/>
            </a:pPr>
            <a:r>
              <a:rPr lang="en-US" sz="2100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480 × 480 px en una GPU, 10³–10⁴ veces más rápido que sintetizar con NICOLE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666750" y="1190625"/>
            <a:ext cx="6886575" cy="17049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4840"/>
              </a:lnSpc>
              <a:spcBef>
                <a:spcPct val="0"/>
              </a:spcBef>
            </a:pPr>
            <a:r>
              <a:rPr lang="en-US" sz="4400" spc="-179" strike="noStrike" u="none">
                <a:solidFill>
                  <a:srgbClr val="071D30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MUISCA: inversión de Stokes con física</a:t>
            </a:r>
          </a:p>
        </p:txBody>
      </p:sp>
      <p:grpSp>
        <p:nvGrpSpPr>
          <p:cNvPr name="Group 4" id="4"/>
          <p:cNvGrpSpPr/>
          <p:nvPr/>
        </p:nvGrpSpPr>
        <p:grpSpPr>
          <a:xfrm rot="0">
            <a:off x="8991600" y="0"/>
            <a:ext cx="9296400" cy="10287000"/>
            <a:chOff x="0" y="0"/>
            <a:chExt cx="1220873" cy="1350966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1220873" cy="1350966"/>
            </a:xfrm>
            <a:custGeom>
              <a:avLst/>
              <a:gdLst/>
              <a:ahLst/>
              <a:cxnLst/>
              <a:rect r="r" b="b" t="t" l="l"/>
              <a:pathLst>
                <a:path h="1350966" w="1220873">
                  <a:moveTo>
                    <a:pt x="0" y="0"/>
                  </a:moveTo>
                  <a:lnTo>
                    <a:pt x="1220873" y="0"/>
                  </a:lnTo>
                  <a:lnTo>
                    <a:pt x="1220873" y="1350966"/>
                  </a:lnTo>
                  <a:lnTo>
                    <a:pt x="0" y="1350966"/>
                  </a:lnTo>
                  <a:close/>
                </a:path>
              </a:pathLst>
            </a:custGeom>
            <a:solidFill>
              <a:srgbClr val="071D30"/>
            </a:solidFill>
          </p:spPr>
        </p:sp>
      </p:grpSp>
      <p:sp>
        <p:nvSpPr>
          <p:cNvPr name="TextBox 6" id="6"/>
          <p:cNvSpPr txBox="true"/>
          <p:nvPr/>
        </p:nvSpPr>
        <p:spPr>
          <a:xfrm rot="0">
            <a:off x="685800" y="657225"/>
            <a:ext cx="57150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>
                <a:solidFill>
                  <a:srgbClr val="087F8C"/>
                </a:solidFill>
                <a:latin typeface="Arimo Bold"/>
                <a:ea typeface="Arimo Bold"/>
                <a:cs typeface="Arimo Bold"/>
                <a:sym typeface="Arimo Bold"/>
              </a:rPr>
              <a:t>EN PREPARACIÓN</a:t>
            </a:r>
          </a:p>
        </p:txBody>
      </p:sp>
      <p:grpSp>
        <p:nvGrpSpPr>
          <p:cNvPr name="Group 7" id="7"/>
          <p:cNvGrpSpPr/>
          <p:nvPr/>
        </p:nvGrpSpPr>
        <p:grpSpPr>
          <a:xfrm rot="0">
            <a:off x="666750" y="7048500"/>
            <a:ext cx="7620000" cy="1905000"/>
            <a:chOff x="0" y="0"/>
            <a:chExt cx="10160000" cy="254000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10160000" cy="2540000"/>
            </a:xfrm>
            <a:custGeom>
              <a:avLst/>
              <a:gdLst/>
              <a:ahLst/>
              <a:cxnLst/>
              <a:rect r="r" b="b" t="t" l="l"/>
              <a:pathLst>
                <a:path h="2540000" w="10160000">
                  <a:moveTo>
                    <a:pt x="254000" y="0"/>
                  </a:moveTo>
                  <a:lnTo>
                    <a:pt x="9906000" y="0"/>
                  </a:lnTo>
                  <a:cubicBezTo>
                    <a:pt x="10046281" y="0"/>
                    <a:pt x="10160000" y="113720"/>
                    <a:pt x="10160000" y="254000"/>
                  </a:cubicBezTo>
                  <a:lnTo>
                    <a:pt x="10160000" y="2286000"/>
                  </a:lnTo>
                  <a:cubicBezTo>
                    <a:pt x="10160000" y="2426280"/>
                    <a:pt x="10046281" y="2540000"/>
                    <a:pt x="9906000" y="2540000"/>
                  </a:cubicBezTo>
                  <a:lnTo>
                    <a:pt x="254000" y="2540000"/>
                  </a:lnTo>
                  <a:cubicBezTo>
                    <a:pt x="113720" y="2540000"/>
                    <a:pt x="0" y="2426280"/>
                    <a:pt x="0" y="2286000"/>
                  </a:cubicBezTo>
                  <a:lnTo>
                    <a:pt x="0" y="254000"/>
                  </a:lnTo>
                  <a:cubicBezTo>
                    <a:pt x="0" y="113720"/>
                    <a:pt x="113720" y="0"/>
                    <a:pt x="254000" y="0"/>
                  </a:cubicBezTo>
                  <a:close/>
                </a:path>
              </a:pathLst>
            </a:custGeom>
            <a:solidFill>
              <a:srgbClr val="071D30"/>
            </a:solidFill>
          </p:spPr>
        </p:sp>
        <p:sp>
          <p:nvSpPr>
            <p:cNvPr name="TextBox 9" id="9"/>
            <p:cNvSpPr txBox="true"/>
            <p:nvPr/>
          </p:nvSpPr>
          <p:spPr>
            <a:xfrm>
              <a:off x="0" y="-38100"/>
              <a:ext cx="10160000" cy="2578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666750" y="7239000"/>
            <a:ext cx="114300" cy="1524000"/>
            <a:chOff x="0" y="0"/>
            <a:chExt cx="152400" cy="203200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152400" cy="2032000"/>
            </a:xfrm>
            <a:custGeom>
              <a:avLst/>
              <a:gdLst/>
              <a:ahLst/>
              <a:cxnLst/>
              <a:rect r="r" b="b" t="t" l="l"/>
              <a:pathLst>
                <a:path h="2032000" w="152400">
                  <a:moveTo>
                    <a:pt x="0" y="0"/>
                  </a:moveTo>
                  <a:lnTo>
                    <a:pt x="152400" y="0"/>
                  </a:lnTo>
                  <a:lnTo>
                    <a:pt x="152400" y="2032000"/>
                  </a:lnTo>
                  <a:lnTo>
                    <a:pt x="0" y="2032000"/>
                  </a:lnTo>
                  <a:close/>
                </a:path>
              </a:pathLst>
            </a:custGeom>
            <a:solidFill>
              <a:srgbClr val="F5B82E"/>
            </a:solid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38100"/>
              <a:ext cx="152400" cy="2070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3" id="13"/>
          <p:cNvSpPr txBox="true"/>
          <p:nvPr/>
        </p:nvSpPr>
        <p:spPr>
          <a:xfrm rot="0">
            <a:off x="1095375" y="7277100"/>
            <a:ext cx="66675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>
                <a:solidFill>
                  <a:srgbClr val="F5B82E"/>
                </a:solidFill>
                <a:latin typeface="Arimo Bold"/>
                <a:ea typeface="Arimo Bold"/>
                <a:cs typeface="Arimo Bold"/>
                <a:sym typeface="Arimo Bold"/>
              </a:rPr>
              <a:t>IDEA CLAVE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1095375" y="7772400"/>
            <a:ext cx="6858000" cy="8439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60"/>
              </a:lnSpc>
            </a:pPr>
            <a:r>
              <a:rPr lang="en-US" sz="2200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En preparación: el término WFA generaliza mejor, pero aún no iguala a los códigos numéricos.</a:t>
            </a:r>
          </a:p>
        </p:txBody>
      </p:sp>
      <p:grpSp>
        <p:nvGrpSpPr>
          <p:cNvPr name="Group 15" id="15"/>
          <p:cNvGrpSpPr/>
          <p:nvPr/>
        </p:nvGrpSpPr>
        <p:grpSpPr>
          <a:xfrm rot="0">
            <a:off x="8991600" y="9429750"/>
            <a:ext cx="9296400" cy="857250"/>
            <a:chOff x="0" y="0"/>
            <a:chExt cx="12395200" cy="114300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12395200" cy="1143000"/>
            </a:xfrm>
            <a:custGeom>
              <a:avLst/>
              <a:gdLst/>
              <a:ahLst/>
              <a:cxnLst/>
              <a:rect r="r" b="b" t="t" l="l"/>
              <a:pathLst>
                <a:path h="1143000" w="12395200">
                  <a:moveTo>
                    <a:pt x="0" y="0"/>
                  </a:moveTo>
                  <a:lnTo>
                    <a:pt x="12395200" y="0"/>
                  </a:lnTo>
                  <a:lnTo>
                    <a:pt x="12395200" y="1143000"/>
                  </a:lnTo>
                  <a:lnTo>
                    <a:pt x="0" y="1143000"/>
                  </a:lnTo>
                  <a:close/>
                </a:path>
              </a:pathLst>
            </a:custGeom>
            <a:solidFill>
              <a:srgbClr val="071D30">
                <a:alpha val="74902"/>
              </a:srgbClr>
            </a:solidFill>
          </p:spPr>
        </p:sp>
        <p:sp>
          <p:nvSpPr>
            <p:cNvPr name="TextBox 17" id="17"/>
            <p:cNvSpPr txBox="true"/>
            <p:nvPr/>
          </p:nvSpPr>
          <p:spPr>
            <a:xfrm>
              <a:off x="0" y="-38100"/>
              <a:ext cx="12395200" cy="1181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8" id="18"/>
          <p:cNvSpPr txBox="true"/>
          <p:nvPr/>
        </p:nvSpPr>
        <p:spPr>
          <a:xfrm rot="0">
            <a:off x="9334500" y="9696450"/>
            <a:ext cx="8572500" cy="2419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350">
                <a:solidFill>
                  <a:srgbClr val="F5F7FA"/>
                </a:solidFill>
                <a:latin typeface="Arimo"/>
                <a:ea typeface="Arimo"/>
                <a:cs typeface="Arimo"/>
                <a:sym typeface="Arimo"/>
              </a:rPr>
              <a:t>Arquitectura y B_LOS en una mancha (Hinode/MODEST, log τ = −0,8). Agudelo Ortiz, Morales, Vargas Domínguez, Castellanos Durán y Shelyag, en prep.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666750" y="9772650"/>
            <a:ext cx="5905500" cy="224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84"/>
              </a:lnSpc>
            </a:pPr>
            <a:r>
              <a:rPr lang="en-US" sz="1275" b="true">
                <a:solidFill>
                  <a:srgbClr val="53697A"/>
                </a:solidFill>
                <a:latin typeface="Arimo Bold"/>
                <a:ea typeface="Arimo Bold"/>
                <a:cs typeface="Arimo Bold"/>
                <a:sym typeface="Arimo Bold"/>
              </a:rPr>
              <a:t>HELIODATA ACADEMY 2026  ·  ESCUELA DE ASTROFÍSICA SOLAR</a:t>
            </a:r>
          </a:p>
        </p:txBody>
      </p:sp>
      <p:sp>
        <p:nvSpPr>
          <p:cNvPr name="Freeform 20" id="20" descr="Logo GoSA"/>
          <p:cNvSpPr/>
          <p:nvPr/>
        </p:nvSpPr>
        <p:spPr>
          <a:xfrm flipH="false" flipV="false" rot="0">
            <a:off x="6858000" y="9734550"/>
            <a:ext cx="819150" cy="381000"/>
          </a:xfrm>
          <a:custGeom>
            <a:avLst/>
            <a:gdLst/>
            <a:ahLst/>
            <a:cxnLst/>
            <a:rect r="r" b="b" t="t" l="l"/>
            <a:pathLst>
              <a:path h="381000" w="819150">
                <a:moveTo>
                  <a:pt x="0" y="0"/>
                </a:moveTo>
                <a:lnTo>
                  <a:pt x="819150" y="0"/>
                </a:lnTo>
                <a:lnTo>
                  <a:pt x="819150" y="381000"/>
                </a:lnTo>
                <a:lnTo>
                  <a:pt x="0" y="381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-307" r="0" b="-307"/>
            </a:stretch>
          </a:blipFill>
        </p:spPr>
      </p:sp>
      <p:sp>
        <p:nvSpPr>
          <p:cNvPr name="Freeform 21" id="21" descr="Logo Observatorio Astronómico Nacional"/>
          <p:cNvSpPr/>
          <p:nvPr/>
        </p:nvSpPr>
        <p:spPr>
          <a:xfrm flipH="false" flipV="false" rot="0">
            <a:off x="7829550" y="9715500"/>
            <a:ext cx="457200" cy="428625"/>
          </a:xfrm>
          <a:custGeom>
            <a:avLst/>
            <a:gdLst/>
            <a:ahLst/>
            <a:cxnLst/>
            <a:rect r="r" b="b" t="t" l="l"/>
            <a:pathLst>
              <a:path h="428625" w="457200">
                <a:moveTo>
                  <a:pt x="0" y="0"/>
                </a:moveTo>
                <a:lnTo>
                  <a:pt x="457200" y="0"/>
                </a:lnTo>
                <a:lnTo>
                  <a:pt x="45720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-328" t="0" r="-328" b="0"/>
            </a:stretch>
          </a:blipFill>
        </p:spPr>
      </p:sp>
      <p:pic>
        <p:nvPicPr>
          <p:cNvPr id="22" name="Picture 21" descr="muisca_compuest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32000" y="865530"/>
            <a:ext cx="8424000" cy="770094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D30"/>
        </a:solidFill>
      </p:bgPr>
    </p:bg>
    <p:spTree>
      <p:nvGrpSpPr>
        <p:cNvPr id="1" name=""/>
        <p:cNvGrpSpPr/>
        <p:nvPr/>
      </p:nvGrpSpPr>
      <p:grpSpPr/>
      <p:sp>
        <p:nvSpPr>
          <p:cNvPr name="TextBox 2" id="2"/>
          <p:cNvSpPr txBox="true"/>
          <p:nvPr/>
        </p:nvSpPr>
        <p:spPr>
          <a:xfrm rot="0">
            <a:off x="17259300" y="9220200"/>
            <a:ext cx="152400" cy="190500"/>
          </a:xfrm>
          <a:prstGeom prst="rect">
            <a:avLst/>
          </a:prstGeom>
        </p:spPr>
        <p:txBody>
          <a:bodyPr anchor="t" rtlCol="false" tIns="0" lIns="0" bIns="0" rIns="0" wrap="none">
            <a:spAutoFit/>
          </a:bodyPr>
          <a:lstStyle/>
          <a:p>
            <a:pPr algn="ctr">
              <a:lnSpc>
                <a:spcPts val="2800"/>
              </a:lnSpc>
              <a:spcBef>
                <a:spcPct val="0"/>
              </a:spcBef>
            </a:pPr>
            <a:r>
              <a:rPr lang="en-US" sz="2000">
                <a:solidFill>
                  <a:srgbClr val="F5F7FA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12</a:t>
            </a:r>
          </a:p>
        </p:txBody>
      </p:sp>
      <p:grpSp>
        <p:nvGrpSpPr>
          <p:cNvPr name="Group 3" id="3"/>
          <p:cNvGrpSpPr/>
          <p:nvPr/>
        </p:nvGrpSpPr>
        <p:grpSpPr>
          <a:xfrm rot="0">
            <a:off x="666750" y="666750"/>
            <a:ext cx="16954500" cy="8953500"/>
            <a:chOff x="0" y="0"/>
            <a:chExt cx="4465383" cy="2358123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4465383" cy="2358124"/>
            </a:xfrm>
            <a:custGeom>
              <a:avLst/>
              <a:gdLst/>
              <a:ahLst/>
              <a:cxnLst/>
              <a:rect r="r" b="b" t="t" l="l"/>
              <a:pathLst>
                <a:path h="2358124" w="4465383">
                  <a:moveTo>
                    <a:pt x="20548" y="0"/>
                  </a:moveTo>
                  <a:lnTo>
                    <a:pt x="4444835" y="0"/>
                  </a:lnTo>
                  <a:cubicBezTo>
                    <a:pt x="4456183" y="0"/>
                    <a:pt x="4465383" y="9200"/>
                    <a:pt x="4465383" y="20548"/>
                  </a:cubicBezTo>
                  <a:lnTo>
                    <a:pt x="4465383" y="2337575"/>
                  </a:lnTo>
                  <a:cubicBezTo>
                    <a:pt x="4465383" y="2348924"/>
                    <a:pt x="4456183" y="2358124"/>
                    <a:pt x="4444835" y="2358124"/>
                  </a:cubicBezTo>
                  <a:lnTo>
                    <a:pt x="20548" y="2358124"/>
                  </a:lnTo>
                  <a:cubicBezTo>
                    <a:pt x="9200" y="2358124"/>
                    <a:pt x="0" y="2348924"/>
                    <a:pt x="0" y="2337575"/>
                  </a:cubicBezTo>
                  <a:lnTo>
                    <a:pt x="0" y="20548"/>
                  </a:lnTo>
                  <a:cubicBezTo>
                    <a:pt x="0" y="9200"/>
                    <a:pt x="9200" y="0"/>
                    <a:pt x="20548" y="0"/>
                  </a:cubicBezTo>
                  <a:close/>
                </a:path>
              </a:pathLst>
            </a:custGeom>
            <a:solidFill>
              <a:srgbClr val="087F8C"/>
            </a:solidFill>
            <a:ln cap="rnd">
              <a:noFill/>
              <a:prstDash val="solid"/>
              <a:round/>
            </a:ln>
          </p:spPr>
        </p:sp>
        <p:sp>
          <p:nvSpPr>
            <p:cNvPr name="TextBox 5" id="5"/>
            <p:cNvSpPr txBox="true"/>
            <p:nvPr/>
          </p:nvSpPr>
          <p:spPr>
            <a:xfrm>
              <a:off x="0" y="-38100"/>
              <a:ext cx="4465383" cy="239622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3359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6" id="6"/>
          <p:cNvGrpSpPr/>
          <p:nvPr/>
        </p:nvGrpSpPr>
        <p:grpSpPr>
          <a:xfrm rot="0">
            <a:off x="1800225" y="1562100"/>
            <a:ext cx="12944475" cy="2067009"/>
            <a:chOff x="0" y="0"/>
            <a:chExt cx="17259300" cy="2756012"/>
          </a:xfrm>
        </p:grpSpPr>
        <p:sp>
          <p:nvSpPr>
            <p:cNvPr name="TextBox 7" id="7"/>
            <p:cNvSpPr txBox="true"/>
            <p:nvPr/>
          </p:nvSpPr>
          <p:spPr>
            <a:xfrm rot="0">
              <a:off x="0" y="-85725"/>
              <a:ext cx="17259300" cy="1702858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10400"/>
                </a:lnSpc>
                <a:spcBef>
                  <a:spcPct val="0"/>
                </a:spcBef>
              </a:pPr>
              <a:r>
                <a:rPr lang="en-US" sz="8000" spc="-240" strike="noStrike" u="none">
                  <a:solidFill>
                    <a:srgbClr val="F5B82E"/>
                  </a:solidFill>
                  <a:latin typeface="Georgia Pro Condensed"/>
                  <a:ea typeface="Georgia Pro Condensed"/>
                  <a:cs typeface="Georgia Pro Condensed"/>
                  <a:sym typeface="Georgia Pro Condensed"/>
                </a:rPr>
                <a:t>Por tarea vs. modelo base</a:t>
              </a:r>
            </a:p>
          </p:txBody>
        </p:sp>
        <p:sp>
          <p:nvSpPr>
            <p:cNvPr name="TextBox 8" id="8"/>
            <p:cNvSpPr txBox="true"/>
            <p:nvPr/>
          </p:nvSpPr>
          <p:spPr>
            <a:xfrm rot="0">
              <a:off x="0" y="2197212"/>
              <a:ext cx="17259300" cy="5588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000"/>
                </a:lnSpc>
                <a:spcBef>
                  <a:spcPct val="0"/>
                </a:spcBef>
              </a:pPr>
              <a:r>
                <a:rPr lang="en-US" b="true" sz="2500" spc="-37" strike="noStrike" u="none">
                  <a:solidFill>
                    <a:srgbClr val="F5F7FA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Del modelo especializado al modelo fundacional</a:t>
              </a:r>
            </a:p>
          </p:txBody>
        </p:sp>
      </p:grpSp>
      <p:grpSp>
        <p:nvGrpSpPr>
          <p:cNvPr name="Group 9" id="9"/>
          <p:cNvGrpSpPr/>
          <p:nvPr/>
        </p:nvGrpSpPr>
        <p:grpSpPr>
          <a:xfrm rot="0">
            <a:off x="1800225" y="5143500"/>
            <a:ext cx="5753100" cy="1844675"/>
            <a:chOff x="0" y="0"/>
            <a:chExt cx="7670800" cy="2459567"/>
          </a:xfrm>
        </p:grpSpPr>
        <p:sp>
          <p:nvSpPr>
            <p:cNvPr name="TextBox 10" id="10"/>
            <p:cNvSpPr txBox="true"/>
            <p:nvPr/>
          </p:nvSpPr>
          <p:spPr>
            <a:xfrm rot="0">
              <a:off x="0" y="9525"/>
              <a:ext cx="7670800" cy="52387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2999"/>
                </a:lnSpc>
                <a:spcBef>
                  <a:spcPct val="0"/>
                </a:spcBef>
              </a:pPr>
              <a:r>
                <a:rPr lang="en-US" b="true" sz="2499" spc="-37" strike="noStrike" u="none">
                  <a:solidFill>
                    <a:srgbClr val="F5F7FA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Un modelo por tarea</a:t>
              </a:r>
            </a:p>
          </p:txBody>
        </p:sp>
        <p:sp>
          <p:nvSpPr>
            <p:cNvPr name="TextBox 11" id="11"/>
            <p:cNvSpPr txBox="true"/>
            <p:nvPr/>
          </p:nvSpPr>
          <p:spPr>
            <a:xfrm rot="0">
              <a:off x="0" y="1079500"/>
              <a:ext cx="7670800" cy="138006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2800"/>
                </a:lnSpc>
                <a:spcBef>
                  <a:spcPct val="0"/>
                </a:spcBef>
              </a:pPr>
              <a:r>
                <a:rPr lang="en-US" sz="2000" spc="-30" strike="noStrike" u="none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• Una red para una sola tarea</a:t>
              </a:r>
            </a:p>
            <a:p>
              <a:pPr algn="l" marL="0" indent="0" lvl="0">
                <a:lnSpc>
                  <a:spcPts val="2800"/>
                </a:lnSpc>
                <a:spcBef>
                  <a:spcPct val="0"/>
                </a:spcBef>
              </a:pPr>
              <a:r>
                <a:rPr lang="en-US" sz="2000" spc="-30" strike="noStrike" u="none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• Sus propias etiquetas e instrumento</a:t>
              </a:r>
            </a:p>
            <a:p>
              <a:pPr algn="l" marL="0" indent="0" lvl="0">
                <a:lnSpc>
                  <a:spcPts val="2800"/>
                </a:lnSpc>
                <a:spcBef>
                  <a:spcPct val="0"/>
                </a:spcBef>
              </a:pPr>
              <a:r>
                <a:rPr lang="en-US" sz="2000" spc="-30" strike="noStrike" u="none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• U-Net, Enhance, FarNet, MUISCA</a:t>
              </a:r>
            </a:p>
          </p:txBody>
        </p:sp>
      </p:grpSp>
      <p:grpSp>
        <p:nvGrpSpPr>
          <p:cNvPr name="Group 12" id="12"/>
          <p:cNvGrpSpPr/>
          <p:nvPr/>
        </p:nvGrpSpPr>
        <p:grpSpPr>
          <a:xfrm rot="0">
            <a:off x="9296400" y="5143500"/>
            <a:ext cx="5448300" cy="1844675"/>
            <a:chOff x="0" y="0"/>
            <a:chExt cx="7264400" cy="2459567"/>
          </a:xfrm>
        </p:grpSpPr>
        <p:sp>
          <p:nvSpPr>
            <p:cNvPr name="TextBox 13" id="13"/>
            <p:cNvSpPr txBox="true"/>
            <p:nvPr/>
          </p:nvSpPr>
          <p:spPr>
            <a:xfrm rot="0">
              <a:off x="0" y="9525"/>
              <a:ext cx="7264400" cy="52387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2999"/>
                </a:lnSpc>
                <a:spcBef>
                  <a:spcPct val="0"/>
                </a:spcBef>
              </a:pPr>
              <a:r>
                <a:rPr lang="en-US" b="true" sz="2499" spc="-37" strike="noStrike" u="none">
                  <a:solidFill>
                    <a:srgbClr val="F5F7FA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Modelo base (Surya)</a:t>
              </a:r>
            </a:p>
          </p:txBody>
        </p:sp>
        <p:sp>
          <p:nvSpPr>
            <p:cNvPr name="TextBox 14" id="14"/>
            <p:cNvSpPr txBox="true"/>
            <p:nvPr/>
          </p:nvSpPr>
          <p:spPr>
            <a:xfrm rot="0">
              <a:off x="0" y="1079500"/>
              <a:ext cx="7264400" cy="138006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2800"/>
                </a:lnSpc>
                <a:spcBef>
                  <a:spcPct val="0"/>
                </a:spcBef>
              </a:pPr>
              <a:r>
                <a:rPr lang="en-US" sz="2000" spc="-30" strike="noStrike" u="none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• Preentrenado con 13 canales de SDO</a:t>
              </a:r>
            </a:p>
            <a:p>
              <a:pPr algn="l" marL="0" indent="0" lvl="0">
                <a:lnSpc>
                  <a:spcPts val="2800"/>
                </a:lnSpc>
                <a:spcBef>
                  <a:spcPct val="0"/>
                </a:spcBef>
              </a:pPr>
              <a:r>
                <a:rPr lang="en-US" sz="2000" spc="-30" strike="noStrike" u="none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• Se adapta con poco ajuste (LoRA)</a:t>
              </a:r>
            </a:p>
            <a:p>
              <a:pPr algn="l" marL="0" indent="0" lvl="0">
                <a:lnSpc>
                  <a:spcPts val="2800"/>
                </a:lnSpc>
                <a:spcBef>
                  <a:spcPct val="0"/>
                </a:spcBef>
              </a:pPr>
              <a:r>
                <a:rPr lang="en-US" sz="2000" spc="-30" strike="noStrike" u="none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• Erupciones, viento solar, EUV…</a:t>
              </a:r>
            </a:p>
          </p:txBody>
        </p:sp>
      </p:grpSp>
      <p:grpSp>
        <p:nvGrpSpPr>
          <p:cNvPr name="Group 15" id="15"/>
          <p:cNvGrpSpPr/>
          <p:nvPr/>
        </p:nvGrpSpPr>
        <p:grpSpPr>
          <a:xfrm rot="0">
            <a:off x="8572500" y="5143500"/>
            <a:ext cx="28575" cy="2381250"/>
            <a:chOff x="0" y="0"/>
            <a:chExt cx="38100" cy="317500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38100" cy="3175000"/>
            </a:xfrm>
            <a:custGeom>
              <a:avLst/>
              <a:gdLst/>
              <a:ahLst/>
              <a:cxnLst/>
              <a:rect r="r" b="b" t="t" l="l"/>
              <a:pathLst>
                <a:path h="3175000" w="38100">
                  <a:moveTo>
                    <a:pt x="0" y="0"/>
                  </a:moveTo>
                  <a:lnTo>
                    <a:pt x="38100" y="0"/>
                  </a:lnTo>
                  <a:lnTo>
                    <a:pt x="38100" y="3175000"/>
                  </a:lnTo>
                  <a:lnTo>
                    <a:pt x="0" y="3175000"/>
                  </a:lnTo>
                  <a:close/>
                </a:path>
              </a:pathLst>
            </a:custGeom>
            <a:solidFill>
              <a:srgbClr val="F5B82E"/>
            </a:solidFill>
          </p:spPr>
        </p:sp>
        <p:sp>
          <p:nvSpPr>
            <p:cNvPr name="TextBox 17" id="17"/>
            <p:cNvSpPr txBox="true"/>
            <p:nvPr/>
          </p:nvSpPr>
          <p:spPr>
            <a:xfrm>
              <a:off x="0" y="-38100"/>
              <a:ext cx="38100" cy="3213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8" id="18"/>
          <p:cNvGrpSpPr/>
          <p:nvPr/>
        </p:nvGrpSpPr>
        <p:grpSpPr>
          <a:xfrm rot="0">
            <a:off x="1800225" y="8001000"/>
            <a:ext cx="12944475" cy="952500"/>
            <a:chOff x="0" y="0"/>
            <a:chExt cx="17259300" cy="1270000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17259300" cy="1270000"/>
            </a:xfrm>
            <a:custGeom>
              <a:avLst/>
              <a:gdLst/>
              <a:ahLst/>
              <a:cxnLst/>
              <a:rect r="r" b="b" t="t" l="l"/>
              <a:pathLst>
                <a:path h="1270000" w="17259300">
                  <a:moveTo>
                    <a:pt x="203200" y="0"/>
                  </a:moveTo>
                  <a:lnTo>
                    <a:pt x="17056100" y="0"/>
                  </a:lnTo>
                  <a:cubicBezTo>
                    <a:pt x="17168324" y="0"/>
                    <a:pt x="17259300" y="90976"/>
                    <a:pt x="17259300" y="203200"/>
                  </a:cubicBezTo>
                  <a:lnTo>
                    <a:pt x="17259300" y="1066800"/>
                  </a:lnTo>
                  <a:cubicBezTo>
                    <a:pt x="17259300" y="1179024"/>
                    <a:pt x="17168324" y="1270000"/>
                    <a:pt x="17056100" y="1270000"/>
                  </a:cubicBezTo>
                  <a:lnTo>
                    <a:pt x="203200" y="1270000"/>
                  </a:lnTo>
                  <a:cubicBezTo>
                    <a:pt x="90976" y="1270000"/>
                    <a:pt x="0" y="1179024"/>
                    <a:pt x="0" y="1066800"/>
                  </a:cubicBezTo>
                  <a:lnTo>
                    <a:pt x="0" y="203200"/>
                  </a:lnTo>
                  <a:cubicBezTo>
                    <a:pt x="0" y="90976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71D30"/>
            </a:solidFill>
          </p:spPr>
        </p:sp>
        <p:sp>
          <p:nvSpPr>
            <p:cNvPr name="TextBox 20" id="20"/>
            <p:cNvSpPr txBox="true"/>
            <p:nvPr/>
          </p:nvSpPr>
          <p:spPr>
            <a:xfrm>
              <a:off x="0" y="-38100"/>
              <a:ext cx="17259300" cy="1308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21" id="21"/>
          <p:cNvSpPr txBox="true"/>
          <p:nvPr/>
        </p:nvSpPr>
        <p:spPr>
          <a:xfrm rot="0">
            <a:off x="2143125" y="8229600"/>
            <a:ext cx="12382500" cy="4000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149"/>
              </a:lnSpc>
            </a:pPr>
            <a:r>
              <a:rPr lang="en-US" sz="2250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CONCLUSIÓN   Nuestra pregunta: ¿se pueden traducir los embeddings de Surya al lenguaje?</a:t>
            </a:r>
          </a:p>
        </p:txBody>
      </p:sp>
      <p:grpSp>
        <p:nvGrpSpPr>
          <p:cNvPr name="Group 22" id="22"/>
          <p:cNvGrpSpPr/>
          <p:nvPr/>
        </p:nvGrpSpPr>
        <p:grpSpPr>
          <a:xfrm rot="0">
            <a:off x="15049500" y="1238250"/>
            <a:ext cx="1905000" cy="1905000"/>
            <a:chOff x="0" y="0"/>
            <a:chExt cx="2540000" cy="2540000"/>
          </a:xfrm>
        </p:grpSpPr>
        <p:sp>
          <p:nvSpPr>
            <p:cNvPr name="Freeform 23" id="23"/>
            <p:cNvSpPr/>
            <p:nvPr/>
          </p:nvSpPr>
          <p:spPr>
            <a:xfrm flipH="false" flipV="false" rot="0">
              <a:off x="285750" y="285750"/>
              <a:ext cx="1968500" cy="1968500"/>
            </a:xfrm>
            <a:custGeom>
              <a:avLst/>
              <a:gdLst/>
              <a:ahLst/>
              <a:cxnLst/>
              <a:rect r="r" b="b" t="t" l="l"/>
              <a:pathLst>
                <a:path h="1968500" w="1968500">
                  <a:moveTo>
                    <a:pt x="423333" y="984250"/>
                  </a:moveTo>
                  <a:cubicBezTo>
                    <a:pt x="423333" y="1294036"/>
                    <a:pt x="674464" y="1545167"/>
                    <a:pt x="984250" y="1545167"/>
                  </a:cubicBezTo>
                  <a:cubicBezTo>
                    <a:pt x="1294036" y="1545167"/>
                    <a:pt x="1545167" y="1294036"/>
                    <a:pt x="1545167" y="984250"/>
                  </a:cubicBezTo>
                  <a:cubicBezTo>
                    <a:pt x="1545167" y="674464"/>
                    <a:pt x="1294036" y="423333"/>
                    <a:pt x="984250" y="423333"/>
                  </a:cubicBezTo>
                  <a:cubicBezTo>
                    <a:pt x="674464" y="423333"/>
                    <a:pt x="423333" y="674464"/>
                    <a:pt x="423333" y="984250"/>
                  </a:cubicBezTo>
                  <a:close/>
                  <a:moveTo>
                    <a:pt x="1917700" y="401108"/>
                  </a:moveTo>
                  <a:cubicBezTo>
                    <a:pt x="1852103" y="289672"/>
                    <a:pt x="1611364" y="298681"/>
                    <a:pt x="1287048" y="424711"/>
                  </a:cubicBezTo>
                  <a:cubicBezTo>
                    <a:pt x="962732" y="550740"/>
                    <a:pt x="604683" y="774419"/>
                    <a:pt x="349085" y="1010672"/>
                  </a:cubicBezTo>
                  <a:cubicBezTo>
                    <a:pt x="93487" y="1246925"/>
                    <a:pt x="-20378" y="1459442"/>
                    <a:pt x="50800" y="1567392"/>
                  </a:cubicBezTo>
                  <a:cubicBezTo>
                    <a:pt x="116397" y="1678828"/>
                    <a:pt x="357136" y="1669819"/>
                    <a:pt x="681452" y="1543789"/>
                  </a:cubicBezTo>
                  <a:cubicBezTo>
                    <a:pt x="1005768" y="1417760"/>
                    <a:pt x="1363817" y="1194081"/>
                    <a:pt x="1619415" y="957828"/>
                  </a:cubicBezTo>
                  <a:cubicBezTo>
                    <a:pt x="1875013" y="721575"/>
                    <a:pt x="1988878" y="509058"/>
                    <a:pt x="1917700" y="401108"/>
                  </a:cubicBezTo>
                  <a:close/>
                  <a:moveTo>
                    <a:pt x="984250" y="169333"/>
                  </a:moveTo>
                  <a:lnTo>
                    <a:pt x="984250" y="0"/>
                  </a:lnTo>
                  <a:moveTo>
                    <a:pt x="984250" y="1968500"/>
                  </a:moveTo>
                  <a:lnTo>
                    <a:pt x="984250" y="1799167"/>
                  </a:lnTo>
                  <a:moveTo>
                    <a:pt x="169333" y="984250"/>
                  </a:moveTo>
                  <a:lnTo>
                    <a:pt x="0" y="984250"/>
                  </a:lnTo>
                  <a:moveTo>
                    <a:pt x="1968500" y="984250"/>
                  </a:moveTo>
                  <a:lnTo>
                    <a:pt x="1799167" y="984250"/>
                  </a:lnTo>
                  <a:moveTo>
                    <a:pt x="412750" y="412750"/>
                  </a:moveTo>
                  <a:lnTo>
                    <a:pt x="296333" y="296333"/>
                  </a:lnTo>
                  <a:moveTo>
                    <a:pt x="1555750" y="1555750"/>
                  </a:moveTo>
                  <a:lnTo>
                    <a:pt x="1672167" y="1672167"/>
                  </a:lnTo>
                  <a:moveTo>
                    <a:pt x="465667" y="1058333"/>
                  </a:moveTo>
                  <a:lnTo>
                    <a:pt x="698500" y="1058333"/>
                  </a:lnTo>
                  <a:lnTo>
                    <a:pt x="814917" y="814917"/>
                  </a:lnTo>
                  <a:lnTo>
                    <a:pt x="994833" y="1238250"/>
                  </a:lnTo>
                  <a:lnTo>
                    <a:pt x="1153583" y="920750"/>
                  </a:lnTo>
                  <a:lnTo>
                    <a:pt x="1259417" y="1058333"/>
                  </a:lnTo>
                  <a:lnTo>
                    <a:pt x="1513417" y="1058333"/>
                  </a:lnTo>
                </a:path>
              </a:pathLst>
            </a:custGeom>
            <a:ln w="47625" cap="sq">
              <a:solidFill>
                <a:srgbClr val="F5B82E"/>
              </a:solidFill>
              <a:prstDash val="solid"/>
              <a:miter/>
            </a:ln>
          </p:spPr>
        </p:sp>
        <p:sp>
          <p:nvSpPr>
            <p:cNvPr name="TextBox 24" id="24"/>
            <p:cNvSpPr txBox="true"/>
            <p:nvPr/>
          </p:nvSpPr>
          <p:spPr>
            <a:xfrm>
              <a:off x="0" y="-38100"/>
              <a:ext cx="2540000" cy="2578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25" id="25"/>
          <p:cNvGrpSpPr/>
          <p:nvPr/>
        </p:nvGrpSpPr>
        <p:grpSpPr>
          <a:xfrm rot="0">
            <a:off x="15049500" y="1238250"/>
            <a:ext cx="1905000" cy="1905000"/>
            <a:chOff x="0" y="0"/>
            <a:chExt cx="2540000" cy="2540000"/>
          </a:xfrm>
        </p:grpSpPr>
        <p:sp>
          <p:nvSpPr>
            <p:cNvPr name="Freeform 26" id="26"/>
            <p:cNvSpPr/>
            <p:nvPr/>
          </p:nvSpPr>
          <p:spPr>
            <a:xfrm flipH="false" flipV="false" rot="0">
              <a:off x="1820333" y="328083"/>
              <a:ext cx="338667" cy="338667"/>
            </a:xfrm>
            <a:custGeom>
              <a:avLst/>
              <a:gdLst/>
              <a:ahLst/>
              <a:cxnLst/>
              <a:rect r="r" b="b" t="t" l="l"/>
              <a:pathLst>
                <a:path h="338667" w="338667">
                  <a:moveTo>
                    <a:pt x="169334" y="0"/>
                  </a:moveTo>
                  <a:lnTo>
                    <a:pt x="211667" y="127000"/>
                  </a:lnTo>
                  <a:lnTo>
                    <a:pt x="338667" y="169334"/>
                  </a:lnTo>
                  <a:lnTo>
                    <a:pt x="211667" y="211667"/>
                  </a:lnTo>
                  <a:lnTo>
                    <a:pt x="169334" y="338667"/>
                  </a:lnTo>
                  <a:lnTo>
                    <a:pt x="127000" y="211667"/>
                  </a:lnTo>
                  <a:lnTo>
                    <a:pt x="0" y="169334"/>
                  </a:lnTo>
                  <a:lnTo>
                    <a:pt x="127000" y="127000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27" id="27"/>
            <p:cNvSpPr txBox="true"/>
            <p:nvPr/>
          </p:nvSpPr>
          <p:spPr>
            <a:xfrm>
              <a:off x="0" y="-38100"/>
              <a:ext cx="2540000" cy="2578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28" id="28"/>
          <p:cNvSpPr txBox="true"/>
          <p:nvPr/>
        </p:nvSpPr>
        <p:spPr>
          <a:xfrm rot="0">
            <a:off x="666750" y="9772650"/>
            <a:ext cx="9525000" cy="224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84"/>
              </a:lnSpc>
            </a:pPr>
            <a:r>
              <a:rPr lang="en-US" sz="1275" b="true">
                <a:solidFill>
                  <a:srgbClr val="9FB3C8"/>
                </a:solidFill>
                <a:latin typeface="Arimo Bold"/>
                <a:ea typeface="Arimo Bold"/>
                <a:cs typeface="Arimo Bold"/>
                <a:sym typeface="Arimo Bold"/>
              </a:rPr>
              <a:t>HELIODATA ACADEMY 2026  ·  ESCUELA DE ASTROFÍSICA SOLAR</a:t>
            </a:r>
          </a:p>
        </p:txBody>
      </p:sp>
      <p:sp>
        <p:nvSpPr>
          <p:cNvPr name="Freeform 29" id="29" descr="Logo GoSA"/>
          <p:cNvSpPr/>
          <p:nvPr/>
        </p:nvSpPr>
        <p:spPr>
          <a:xfrm flipH="false" flipV="false" rot="0">
            <a:off x="16192500" y="9753600"/>
            <a:ext cx="762000" cy="352425"/>
          </a:xfrm>
          <a:custGeom>
            <a:avLst/>
            <a:gdLst/>
            <a:ahLst/>
            <a:cxnLst/>
            <a:rect r="r" b="b" t="t" l="l"/>
            <a:pathLst>
              <a:path h="352425" w="762000">
                <a:moveTo>
                  <a:pt x="0" y="0"/>
                </a:moveTo>
                <a:lnTo>
                  <a:pt x="762000" y="0"/>
                </a:lnTo>
                <a:lnTo>
                  <a:pt x="762000" y="352425"/>
                </a:lnTo>
                <a:lnTo>
                  <a:pt x="0" y="352425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592" r="0" b="-592"/>
            </a:stretch>
          </a:blipFill>
        </p:spPr>
      </p:sp>
      <p:sp>
        <p:nvSpPr>
          <p:cNvPr name="Freeform 30" id="30" descr="Logo Observatorio Astronómico Nacional"/>
          <p:cNvSpPr/>
          <p:nvPr/>
        </p:nvSpPr>
        <p:spPr>
          <a:xfrm flipH="false" flipV="false" rot="0">
            <a:off x="17145000" y="9715500"/>
            <a:ext cx="457200" cy="428625"/>
          </a:xfrm>
          <a:custGeom>
            <a:avLst/>
            <a:gdLst/>
            <a:ahLst/>
            <a:cxnLst/>
            <a:rect r="r" b="b" t="t" l="l"/>
            <a:pathLst>
              <a:path h="428625" w="457200">
                <a:moveTo>
                  <a:pt x="0" y="0"/>
                </a:moveTo>
                <a:lnTo>
                  <a:pt x="457200" y="0"/>
                </a:lnTo>
                <a:lnTo>
                  <a:pt x="45720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328" t="0" r="-328" b="0"/>
            </a:stretch>
          </a:blipFill>
        </p:spPr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D30"/>
        </a:solidFill>
      </p:bgPr>
    </p:bg>
    <p:spTree>
      <p:nvGrpSpPr>
        <p:cNvPr id="1" name=""/>
        <p:cNvGrpSpPr/>
        <p:nvPr/>
      </p:nvGrpSpPr>
      <p:grpSpPr/>
      <p:sp>
        <p:nvSpPr>
          <p:cNvPr name="TextBox 2" id="2"/>
          <p:cNvSpPr txBox="true"/>
          <p:nvPr/>
        </p:nvSpPr>
        <p:spPr>
          <a:xfrm rot="0">
            <a:off x="17259300" y="9220200"/>
            <a:ext cx="152400" cy="190500"/>
          </a:xfrm>
          <a:prstGeom prst="rect">
            <a:avLst/>
          </a:prstGeom>
        </p:spPr>
        <p:txBody>
          <a:bodyPr anchor="t" rtlCol="false" tIns="0" lIns="0" bIns="0" rIns="0" wrap="none">
            <a:spAutoFit/>
          </a:bodyPr>
          <a:lstStyle/>
          <a:p>
            <a:pPr algn="ctr">
              <a:lnSpc>
                <a:spcPts val="2800"/>
              </a:lnSpc>
              <a:spcBef>
                <a:spcPct val="0"/>
              </a:spcBef>
            </a:pPr>
            <a:r>
              <a:rPr lang="en-US" sz="2000">
                <a:solidFill>
                  <a:srgbClr val="F5F7FA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13</a:t>
            </a:r>
          </a:p>
        </p:txBody>
      </p:sp>
      <p:grpSp>
        <p:nvGrpSpPr>
          <p:cNvPr name="Group 3" id="3"/>
          <p:cNvGrpSpPr/>
          <p:nvPr/>
        </p:nvGrpSpPr>
        <p:grpSpPr>
          <a:xfrm rot="0">
            <a:off x="666750" y="666750"/>
            <a:ext cx="16954500" cy="8953500"/>
            <a:chOff x="0" y="0"/>
            <a:chExt cx="4465383" cy="2358123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4465383" cy="2358124"/>
            </a:xfrm>
            <a:custGeom>
              <a:avLst/>
              <a:gdLst/>
              <a:ahLst/>
              <a:cxnLst/>
              <a:rect r="r" b="b" t="t" l="l"/>
              <a:pathLst>
                <a:path h="2358124" w="4465383">
                  <a:moveTo>
                    <a:pt x="20548" y="0"/>
                  </a:moveTo>
                  <a:lnTo>
                    <a:pt x="4444835" y="0"/>
                  </a:lnTo>
                  <a:cubicBezTo>
                    <a:pt x="4456183" y="0"/>
                    <a:pt x="4465383" y="9200"/>
                    <a:pt x="4465383" y="20548"/>
                  </a:cubicBezTo>
                  <a:lnTo>
                    <a:pt x="4465383" y="2337575"/>
                  </a:lnTo>
                  <a:cubicBezTo>
                    <a:pt x="4465383" y="2348924"/>
                    <a:pt x="4456183" y="2358124"/>
                    <a:pt x="4444835" y="2358124"/>
                  </a:cubicBezTo>
                  <a:lnTo>
                    <a:pt x="20548" y="2358124"/>
                  </a:lnTo>
                  <a:cubicBezTo>
                    <a:pt x="9200" y="2358124"/>
                    <a:pt x="0" y="2348924"/>
                    <a:pt x="0" y="2337575"/>
                  </a:cubicBezTo>
                  <a:lnTo>
                    <a:pt x="0" y="20548"/>
                  </a:lnTo>
                  <a:cubicBezTo>
                    <a:pt x="0" y="9200"/>
                    <a:pt x="9200" y="0"/>
                    <a:pt x="20548" y="0"/>
                  </a:cubicBezTo>
                  <a:close/>
                </a:path>
              </a:pathLst>
            </a:custGeom>
            <a:solidFill>
              <a:srgbClr val="F5B82E"/>
            </a:solidFill>
            <a:ln cap="rnd">
              <a:noFill/>
              <a:prstDash val="solid"/>
              <a:round/>
            </a:ln>
          </p:spPr>
        </p:sp>
        <p:sp>
          <p:nvSpPr>
            <p:cNvPr name="TextBox 5" id="5"/>
            <p:cNvSpPr txBox="true"/>
            <p:nvPr/>
          </p:nvSpPr>
          <p:spPr>
            <a:xfrm>
              <a:off x="0" y="-38100"/>
              <a:ext cx="4465383" cy="239622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359"/>
                </a:lnSpc>
              </a:pPr>
            </a:p>
          </p:txBody>
        </p:sp>
      </p:grpSp>
      <p:sp>
        <p:nvSpPr>
          <p:cNvPr name="TextBox 6" id="6"/>
          <p:cNvSpPr txBox="true"/>
          <p:nvPr/>
        </p:nvSpPr>
        <p:spPr>
          <a:xfrm rot="0">
            <a:off x="1619250" y="5248275"/>
            <a:ext cx="12944475" cy="12985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8320"/>
              </a:lnSpc>
              <a:spcBef>
                <a:spcPct val="0"/>
              </a:spcBef>
            </a:pPr>
            <a:r>
              <a:rPr lang="en-US" sz="6400" spc="-240" strike="noStrike" u="none">
                <a:solidFill>
                  <a:srgbClr val="071D30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Mi investigación: un copiloto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524000" y="2628900"/>
            <a:ext cx="6667500" cy="22669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6500"/>
              </a:lnSpc>
            </a:pPr>
            <a:r>
              <a:rPr lang="en-US" sz="16500" b="true">
                <a:solidFill>
                  <a:srgbClr val="071D30"/>
                </a:solidFill>
                <a:latin typeface="Arimo Bold"/>
                <a:ea typeface="Arimo Bold"/>
                <a:cs typeface="Arimo Bold"/>
                <a:sym typeface="Arimo Bold"/>
              </a:rPr>
              <a:t>03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638300" y="1752600"/>
            <a:ext cx="4762500" cy="3505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29"/>
              </a:lnSpc>
            </a:pPr>
            <a:r>
              <a:rPr lang="en-US" sz="1950" b="true">
                <a:solidFill>
                  <a:srgbClr val="071D30"/>
                </a:solidFill>
                <a:latin typeface="Arimo Bold"/>
                <a:ea typeface="Arimo Bold"/>
                <a:cs typeface="Arimo Bold"/>
                <a:sym typeface="Arimo Bold"/>
              </a:rPr>
              <a:t>SECCIÓN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1638300" y="6791325"/>
            <a:ext cx="10477500" cy="4991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990"/>
              </a:lnSpc>
            </a:pPr>
            <a:r>
              <a:rPr lang="en-US" sz="2850">
                <a:solidFill>
                  <a:srgbClr val="071D30"/>
                </a:solidFill>
                <a:latin typeface="Arimo"/>
                <a:ea typeface="Arimo"/>
                <a:cs typeface="Arimo"/>
                <a:sym typeface="Arimo"/>
              </a:rPr>
              <a:t>¿Puede un modelo describir con palabras lo que ve Surya?</a:t>
            </a:r>
          </a:p>
        </p:txBody>
      </p:sp>
      <p:grpSp>
        <p:nvGrpSpPr>
          <p:cNvPr name="Group 10" id="10"/>
          <p:cNvGrpSpPr/>
          <p:nvPr/>
        </p:nvGrpSpPr>
        <p:grpSpPr>
          <a:xfrm rot="0">
            <a:off x="11715750" y="2095500"/>
            <a:ext cx="5334000" cy="5334000"/>
            <a:chOff x="0" y="0"/>
            <a:chExt cx="7112000" cy="711200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800100" y="800100"/>
              <a:ext cx="5511800" cy="5511800"/>
            </a:xfrm>
            <a:custGeom>
              <a:avLst/>
              <a:gdLst/>
              <a:ahLst/>
              <a:cxnLst/>
              <a:rect r="r" b="b" t="t" l="l"/>
              <a:pathLst>
                <a:path h="5511800" w="5511800">
                  <a:moveTo>
                    <a:pt x="1185333" y="2755900"/>
                  </a:moveTo>
                  <a:cubicBezTo>
                    <a:pt x="1185333" y="3623300"/>
                    <a:pt x="1888500" y="4326467"/>
                    <a:pt x="2755900" y="4326467"/>
                  </a:cubicBezTo>
                  <a:cubicBezTo>
                    <a:pt x="3623300" y="4326467"/>
                    <a:pt x="4326467" y="3623300"/>
                    <a:pt x="4326467" y="2755900"/>
                  </a:cubicBezTo>
                  <a:cubicBezTo>
                    <a:pt x="4326467" y="1888500"/>
                    <a:pt x="3623300" y="1185333"/>
                    <a:pt x="2755900" y="1185333"/>
                  </a:cubicBezTo>
                  <a:cubicBezTo>
                    <a:pt x="1888500" y="1185333"/>
                    <a:pt x="1185333" y="1888500"/>
                    <a:pt x="1185333" y="2755900"/>
                  </a:cubicBezTo>
                  <a:close/>
                  <a:moveTo>
                    <a:pt x="5369560" y="1123103"/>
                  </a:moveTo>
                  <a:cubicBezTo>
                    <a:pt x="5185888" y="811081"/>
                    <a:pt x="4511819" y="836308"/>
                    <a:pt x="3603734" y="1189190"/>
                  </a:cubicBezTo>
                  <a:cubicBezTo>
                    <a:pt x="2695649" y="1542071"/>
                    <a:pt x="1693112" y="2168373"/>
                    <a:pt x="977437" y="2829881"/>
                  </a:cubicBezTo>
                  <a:cubicBezTo>
                    <a:pt x="261763" y="3491389"/>
                    <a:pt x="-57058" y="4086437"/>
                    <a:pt x="142240" y="4388697"/>
                  </a:cubicBezTo>
                  <a:cubicBezTo>
                    <a:pt x="325911" y="4700719"/>
                    <a:pt x="999981" y="4675492"/>
                    <a:pt x="1908066" y="4322611"/>
                  </a:cubicBezTo>
                  <a:cubicBezTo>
                    <a:pt x="2816151" y="3969729"/>
                    <a:pt x="3818688" y="3343427"/>
                    <a:pt x="4534363" y="2681919"/>
                  </a:cubicBezTo>
                  <a:cubicBezTo>
                    <a:pt x="5250037" y="2020411"/>
                    <a:pt x="5568857" y="1425364"/>
                    <a:pt x="5369560" y="1123103"/>
                  </a:cubicBezTo>
                  <a:close/>
                  <a:moveTo>
                    <a:pt x="2755900" y="474133"/>
                  </a:moveTo>
                  <a:lnTo>
                    <a:pt x="2755900" y="0"/>
                  </a:lnTo>
                  <a:moveTo>
                    <a:pt x="2755900" y="5511800"/>
                  </a:moveTo>
                  <a:lnTo>
                    <a:pt x="2755900" y="5037667"/>
                  </a:lnTo>
                  <a:moveTo>
                    <a:pt x="474133" y="2755900"/>
                  </a:moveTo>
                  <a:lnTo>
                    <a:pt x="0" y="2755900"/>
                  </a:lnTo>
                  <a:moveTo>
                    <a:pt x="5511800" y="2755900"/>
                  </a:moveTo>
                  <a:lnTo>
                    <a:pt x="5037667" y="2755900"/>
                  </a:lnTo>
                  <a:moveTo>
                    <a:pt x="1155700" y="1155700"/>
                  </a:moveTo>
                  <a:lnTo>
                    <a:pt x="829733" y="829733"/>
                  </a:lnTo>
                  <a:moveTo>
                    <a:pt x="4356100" y="4356100"/>
                  </a:moveTo>
                  <a:lnTo>
                    <a:pt x="4682067" y="4682067"/>
                  </a:lnTo>
                  <a:moveTo>
                    <a:pt x="1303867" y="2963333"/>
                  </a:moveTo>
                  <a:lnTo>
                    <a:pt x="1955800" y="2963333"/>
                  </a:lnTo>
                  <a:lnTo>
                    <a:pt x="2281767" y="2281767"/>
                  </a:lnTo>
                  <a:lnTo>
                    <a:pt x="2785533" y="3467100"/>
                  </a:lnTo>
                  <a:lnTo>
                    <a:pt x="3230033" y="2578100"/>
                  </a:lnTo>
                  <a:lnTo>
                    <a:pt x="3526367" y="2963333"/>
                  </a:lnTo>
                  <a:lnTo>
                    <a:pt x="4237567" y="2963333"/>
                  </a:lnTo>
                </a:path>
              </a:pathLst>
            </a:custGeom>
            <a:ln w="85725" cap="sq">
              <a:solidFill>
                <a:srgbClr val="071D30"/>
              </a:solidFill>
              <a:prstDash val="solid"/>
              <a:miter/>
            </a:ln>
          </p:spPr>
        </p:sp>
        <p:sp>
          <p:nvSpPr>
            <p:cNvPr name="TextBox 12" id="12"/>
            <p:cNvSpPr txBox="true"/>
            <p:nvPr/>
          </p:nvSpPr>
          <p:spPr>
            <a:xfrm>
              <a:off x="0" y="-38100"/>
              <a:ext cx="7112000" cy="7150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3" id="13"/>
          <p:cNvGrpSpPr/>
          <p:nvPr/>
        </p:nvGrpSpPr>
        <p:grpSpPr>
          <a:xfrm rot="0">
            <a:off x="11715750" y="2095500"/>
            <a:ext cx="5334000" cy="5334000"/>
            <a:chOff x="0" y="0"/>
            <a:chExt cx="7112000" cy="7112000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5096933" y="918633"/>
              <a:ext cx="948267" cy="948267"/>
            </a:xfrm>
            <a:custGeom>
              <a:avLst/>
              <a:gdLst/>
              <a:ahLst/>
              <a:cxnLst/>
              <a:rect r="r" b="b" t="t" l="l"/>
              <a:pathLst>
                <a:path h="948267" w="948267">
                  <a:moveTo>
                    <a:pt x="474134" y="0"/>
                  </a:moveTo>
                  <a:lnTo>
                    <a:pt x="592667" y="355600"/>
                  </a:lnTo>
                  <a:lnTo>
                    <a:pt x="948267" y="474134"/>
                  </a:lnTo>
                  <a:lnTo>
                    <a:pt x="592667" y="592667"/>
                  </a:lnTo>
                  <a:lnTo>
                    <a:pt x="474134" y="948267"/>
                  </a:lnTo>
                  <a:lnTo>
                    <a:pt x="355600" y="592667"/>
                  </a:lnTo>
                  <a:lnTo>
                    <a:pt x="0" y="474134"/>
                  </a:lnTo>
                  <a:lnTo>
                    <a:pt x="355600" y="355600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15" id="15"/>
            <p:cNvSpPr txBox="true"/>
            <p:nvPr/>
          </p:nvSpPr>
          <p:spPr>
            <a:xfrm>
              <a:off x="0" y="-38100"/>
              <a:ext cx="7112000" cy="7150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6" id="16"/>
          <p:cNvSpPr txBox="true"/>
          <p:nvPr/>
        </p:nvSpPr>
        <p:spPr>
          <a:xfrm rot="0">
            <a:off x="666750" y="9772650"/>
            <a:ext cx="9525000" cy="224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84"/>
              </a:lnSpc>
            </a:pPr>
            <a:r>
              <a:rPr lang="en-US" sz="1275" b="true">
                <a:solidFill>
                  <a:srgbClr val="9FB3C8"/>
                </a:solidFill>
                <a:latin typeface="Arimo Bold"/>
                <a:ea typeface="Arimo Bold"/>
                <a:cs typeface="Arimo Bold"/>
                <a:sym typeface="Arimo Bold"/>
              </a:rPr>
              <a:t>HELIODATA ACADEMY 2026  ·  ESCUELA DE ASTROFÍSICA SOLAR</a:t>
            </a:r>
          </a:p>
        </p:txBody>
      </p:sp>
      <p:sp>
        <p:nvSpPr>
          <p:cNvPr name="Freeform 17" id="17" descr="Logo GoSA"/>
          <p:cNvSpPr/>
          <p:nvPr/>
        </p:nvSpPr>
        <p:spPr>
          <a:xfrm flipH="false" flipV="false" rot="0">
            <a:off x="16192500" y="9753600"/>
            <a:ext cx="762000" cy="352425"/>
          </a:xfrm>
          <a:custGeom>
            <a:avLst/>
            <a:gdLst/>
            <a:ahLst/>
            <a:cxnLst/>
            <a:rect r="r" b="b" t="t" l="l"/>
            <a:pathLst>
              <a:path h="352425" w="762000">
                <a:moveTo>
                  <a:pt x="0" y="0"/>
                </a:moveTo>
                <a:lnTo>
                  <a:pt x="762000" y="0"/>
                </a:lnTo>
                <a:lnTo>
                  <a:pt x="762000" y="352425"/>
                </a:lnTo>
                <a:lnTo>
                  <a:pt x="0" y="352425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592" r="0" b="-592"/>
            </a:stretch>
          </a:blipFill>
        </p:spPr>
      </p:sp>
      <p:sp>
        <p:nvSpPr>
          <p:cNvPr name="Freeform 18" id="18" descr="Logo Observatorio Astronómico Nacional"/>
          <p:cNvSpPr/>
          <p:nvPr/>
        </p:nvSpPr>
        <p:spPr>
          <a:xfrm flipH="false" flipV="false" rot="0">
            <a:off x="17145000" y="9715500"/>
            <a:ext cx="457200" cy="428625"/>
          </a:xfrm>
          <a:custGeom>
            <a:avLst/>
            <a:gdLst/>
            <a:ahLst/>
            <a:cxnLst/>
            <a:rect r="r" b="b" t="t" l="l"/>
            <a:pathLst>
              <a:path h="428625" w="457200">
                <a:moveTo>
                  <a:pt x="0" y="0"/>
                </a:moveTo>
                <a:lnTo>
                  <a:pt x="457200" y="0"/>
                </a:lnTo>
                <a:lnTo>
                  <a:pt x="45720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328" t="0" r="-328" b="0"/>
            </a:stretch>
          </a:blipFill>
        </p:spPr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/>
      <p:sp>
        <p:nvSpPr>
          <p:cNvPr name="TextBox 2" id="2"/>
          <p:cNvSpPr txBox="true"/>
          <p:nvPr/>
        </p:nvSpPr>
        <p:spPr>
          <a:xfrm rot="0">
            <a:off x="666750" y="3676650"/>
            <a:ext cx="6886575" cy="12890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539748" indent="-269874" lvl="1">
              <a:lnSpc>
                <a:spcPts val="3080"/>
              </a:lnSpc>
              <a:spcBef>
                <a:spcPct val="0"/>
              </a:spcBef>
              <a:buFont typeface="Arial"/>
              <a:buChar char="•"/>
            </a:pPr>
            <a:r>
              <a:rPr lang="en-US" sz="2200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Meta: “muéstrame esta región activa y estima la probabilidad de una erupción M en 24 h”</a:t>
            </a:r>
          </a:p>
          <a:p>
            <a:pPr algn="l" marL="539748" indent="-269874" lvl="1">
              <a:lnSpc>
                <a:spcPts val="3080"/>
              </a:lnSpc>
              <a:spcBef>
                <a:spcPct val="0"/>
              </a:spcBef>
              <a:buFont typeface="Arial"/>
              <a:buChar char="•"/>
            </a:pPr>
            <a:r>
              <a:rPr lang="en-US" sz="2200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Un LLM orquesta los datos, ejecuta Surya y explica</a:t>
            </a:r>
          </a:p>
          <a:p>
            <a:pPr algn="l" marL="539748" indent="-269874" lvl="1">
              <a:lnSpc>
                <a:spcPts val="3080"/>
              </a:lnSpc>
              <a:spcBef>
                <a:spcPct val="0"/>
              </a:spcBef>
              <a:buFont typeface="Arial"/>
              <a:buChar char="•"/>
            </a:pPr>
            <a:r>
              <a:rPr lang="en-US" sz="2200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Ruta: </a:t>
            </a:r>
            <a:r>
              <a:rPr lang="en-US" sz="2200" spc="-37" strike="noStrike" u="none" b="1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VLM</a:t>
            </a:r>
            <a:r>
              <a:rPr lang="en-US" sz="2200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→ preguntas → herramientas → agente</a:t>
            </a:r>
          </a:p>
          <a:p>
            <a:pPr algn="l" marL="539748" indent="-269874" lvl="1">
              <a:lnSpc>
                <a:spcPts val="3080"/>
              </a:lnSpc>
              <a:spcBef>
                <a:spcPct val="0"/>
              </a:spcBef>
              <a:buFont typeface="Arial"/>
              <a:buChar char="•"/>
            </a:pPr>
            <a:r>
              <a:rPr lang="en-US" sz="2200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Hoy, el primer paso: </a:t>
            </a:r>
            <a:r>
              <a:rPr lang="en-US" sz="2200" spc="-37" strike="noStrike" u="none" b="1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describir</a:t>
            </a:r>
            <a:r>
              <a:rPr lang="en-US" sz="2200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una observación de SDO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666750" y="1190625"/>
            <a:ext cx="6886575" cy="17049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6600"/>
              </a:lnSpc>
              <a:spcBef>
                <a:spcPct val="0"/>
              </a:spcBef>
            </a:pPr>
            <a:r>
              <a:rPr lang="en-US" sz="6000" spc="-179" strike="noStrike" u="none">
                <a:solidFill>
                  <a:srgbClr val="071D30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El copiloto de física solar</a:t>
            </a:r>
          </a:p>
        </p:txBody>
      </p:sp>
      <p:grpSp>
        <p:nvGrpSpPr>
          <p:cNvPr name="Group 4" id="4"/>
          <p:cNvGrpSpPr/>
          <p:nvPr/>
        </p:nvGrpSpPr>
        <p:grpSpPr>
          <a:xfrm rot="0">
            <a:off x="8991600" y="0"/>
            <a:ext cx="9296400" cy="10287000"/>
            <a:chOff x="0" y="0"/>
            <a:chExt cx="1220873" cy="1350966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1220873" cy="1350966"/>
            </a:xfrm>
            <a:custGeom>
              <a:avLst/>
              <a:gdLst/>
              <a:ahLst/>
              <a:cxnLst/>
              <a:rect r="r" b="b" t="t" l="l"/>
              <a:pathLst>
                <a:path h="1350966" w="1220873">
                  <a:moveTo>
                    <a:pt x="0" y="0"/>
                  </a:moveTo>
                  <a:lnTo>
                    <a:pt x="1220873" y="0"/>
                  </a:lnTo>
                  <a:lnTo>
                    <a:pt x="1220873" y="1350966"/>
                  </a:lnTo>
                  <a:lnTo>
                    <a:pt x="0" y="1350966"/>
                  </a:lnTo>
                  <a:close/>
                </a:path>
              </a:pathLst>
            </a:custGeom>
            <a:solidFill>
              <a:srgbClr val="071D30"/>
            </a:solidFill>
          </p:spPr>
        </p:sp>
      </p:grpSp>
      <p:sp>
        <p:nvSpPr>
          <p:cNvPr name="TextBox 6" id="6"/>
          <p:cNvSpPr txBox="true"/>
          <p:nvPr/>
        </p:nvSpPr>
        <p:spPr>
          <a:xfrm rot="0">
            <a:off x="685800" y="657225"/>
            <a:ext cx="57150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>
                <a:solidFill>
                  <a:srgbClr val="087F8C"/>
                </a:solidFill>
                <a:latin typeface="Arimo Bold"/>
                <a:ea typeface="Arimo Bold"/>
                <a:cs typeface="Arimo Bold"/>
                <a:sym typeface="Arimo Bold"/>
              </a:rPr>
              <a:t>MOTIVACIÓN</a:t>
            </a:r>
          </a:p>
        </p:txBody>
      </p:sp>
      <p:grpSp>
        <p:nvGrpSpPr>
          <p:cNvPr name="Group 7" id="7"/>
          <p:cNvGrpSpPr/>
          <p:nvPr/>
        </p:nvGrpSpPr>
        <p:grpSpPr>
          <a:xfrm rot="0">
            <a:off x="666750" y="7048500"/>
            <a:ext cx="7620000" cy="1905000"/>
            <a:chOff x="0" y="0"/>
            <a:chExt cx="10160000" cy="254000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10160000" cy="2540000"/>
            </a:xfrm>
            <a:custGeom>
              <a:avLst/>
              <a:gdLst/>
              <a:ahLst/>
              <a:cxnLst/>
              <a:rect r="r" b="b" t="t" l="l"/>
              <a:pathLst>
                <a:path h="2540000" w="10160000">
                  <a:moveTo>
                    <a:pt x="254000" y="0"/>
                  </a:moveTo>
                  <a:lnTo>
                    <a:pt x="9906000" y="0"/>
                  </a:lnTo>
                  <a:cubicBezTo>
                    <a:pt x="10046281" y="0"/>
                    <a:pt x="10160000" y="113720"/>
                    <a:pt x="10160000" y="254000"/>
                  </a:cubicBezTo>
                  <a:lnTo>
                    <a:pt x="10160000" y="2286000"/>
                  </a:lnTo>
                  <a:cubicBezTo>
                    <a:pt x="10160000" y="2426280"/>
                    <a:pt x="10046281" y="2540000"/>
                    <a:pt x="9906000" y="2540000"/>
                  </a:cubicBezTo>
                  <a:lnTo>
                    <a:pt x="254000" y="2540000"/>
                  </a:lnTo>
                  <a:cubicBezTo>
                    <a:pt x="113720" y="2540000"/>
                    <a:pt x="0" y="2426280"/>
                    <a:pt x="0" y="2286000"/>
                  </a:cubicBezTo>
                  <a:lnTo>
                    <a:pt x="0" y="254000"/>
                  </a:lnTo>
                  <a:cubicBezTo>
                    <a:pt x="0" y="113720"/>
                    <a:pt x="113720" y="0"/>
                    <a:pt x="254000" y="0"/>
                  </a:cubicBezTo>
                  <a:close/>
                </a:path>
              </a:pathLst>
            </a:custGeom>
            <a:solidFill>
              <a:srgbClr val="071D30"/>
            </a:solidFill>
          </p:spPr>
        </p:sp>
        <p:sp>
          <p:nvSpPr>
            <p:cNvPr name="TextBox 9" id="9"/>
            <p:cNvSpPr txBox="true"/>
            <p:nvPr/>
          </p:nvSpPr>
          <p:spPr>
            <a:xfrm>
              <a:off x="0" y="-38100"/>
              <a:ext cx="10160000" cy="2578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666750" y="7239000"/>
            <a:ext cx="114300" cy="1524000"/>
            <a:chOff x="0" y="0"/>
            <a:chExt cx="152400" cy="203200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152400" cy="2032000"/>
            </a:xfrm>
            <a:custGeom>
              <a:avLst/>
              <a:gdLst/>
              <a:ahLst/>
              <a:cxnLst/>
              <a:rect r="r" b="b" t="t" l="l"/>
              <a:pathLst>
                <a:path h="2032000" w="152400">
                  <a:moveTo>
                    <a:pt x="0" y="0"/>
                  </a:moveTo>
                  <a:lnTo>
                    <a:pt x="152400" y="0"/>
                  </a:lnTo>
                  <a:lnTo>
                    <a:pt x="152400" y="2032000"/>
                  </a:lnTo>
                  <a:lnTo>
                    <a:pt x="0" y="2032000"/>
                  </a:lnTo>
                  <a:close/>
                </a:path>
              </a:pathLst>
            </a:custGeom>
            <a:solidFill>
              <a:srgbClr val="F5B82E"/>
            </a:solid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38100"/>
              <a:ext cx="152400" cy="2070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3" id="13"/>
          <p:cNvSpPr txBox="true"/>
          <p:nvPr/>
        </p:nvSpPr>
        <p:spPr>
          <a:xfrm rot="0">
            <a:off x="1095375" y="7277100"/>
            <a:ext cx="66675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>
                <a:solidFill>
                  <a:srgbClr val="F5B82E"/>
                </a:solidFill>
                <a:latin typeface="Arimo Bold"/>
                <a:ea typeface="Arimo Bold"/>
                <a:cs typeface="Arimo Bold"/>
                <a:sym typeface="Arimo Bold"/>
              </a:rPr>
              <a:t>IDEA CLAVE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1095375" y="7772400"/>
            <a:ext cx="6858000" cy="8439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60"/>
              </a:lnSpc>
            </a:pPr>
            <a:r>
              <a:rPr lang="en-US" sz="2200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Antes de razonar sobre lo que ve Surya, sus embeddings deben traducirse al espacio del LLM.</a:t>
            </a:r>
          </a:p>
        </p:txBody>
      </p:sp>
      <p:grpSp>
        <p:nvGrpSpPr>
          <p:cNvPr name="Group 15" id="15"/>
          <p:cNvGrpSpPr/>
          <p:nvPr/>
        </p:nvGrpSpPr>
        <p:grpSpPr>
          <a:xfrm rot="0">
            <a:off x="8991600" y="9429750"/>
            <a:ext cx="9296400" cy="857250"/>
            <a:chOff x="0" y="0"/>
            <a:chExt cx="12395200" cy="114300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12395200" cy="1143000"/>
            </a:xfrm>
            <a:custGeom>
              <a:avLst/>
              <a:gdLst/>
              <a:ahLst/>
              <a:cxnLst/>
              <a:rect r="r" b="b" t="t" l="l"/>
              <a:pathLst>
                <a:path h="1143000" w="12395200">
                  <a:moveTo>
                    <a:pt x="0" y="0"/>
                  </a:moveTo>
                  <a:lnTo>
                    <a:pt x="12395200" y="0"/>
                  </a:lnTo>
                  <a:lnTo>
                    <a:pt x="12395200" y="1143000"/>
                  </a:lnTo>
                  <a:lnTo>
                    <a:pt x="0" y="1143000"/>
                  </a:lnTo>
                  <a:close/>
                </a:path>
              </a:pathLst>
            </a:custGeom>
            <a:solidFill>
              <a:srgbClr val="071D30">
                <a:alpha val="74902"/>
              </a:srgbClr>
            </a:solidFill>
          </p:spPr>
        </p:sp>
        <p:sp>
          <p:nvSpPr>
            <p:cNvPr name="TextBox 17" id="17"/>
            <p:cNvSpPr txBox="true"/>
            <p:nvPr/>
          </p:nvSpPr>
          <p:spPr>
            <a:xfrm>
              <a:off x="0" y="-38100"/>
              <a:ext cx="12395200" cy="1181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8" id="18"/>
          <p:cNvSpPr txBox="true"/>
          <p:nvPr/>
        </p:nvSpPr>
        <p:spPr>
          <a:xfrm rot="0">
            <a:off x="9334500" y="9696450"/>
            <a:ext cx="8572500" cy="2419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350">
                <a:solidFill>
                  <a:srgbClr val="F5F7FA"/>
                </a:solidFill>
                <a:latin typeface="Arimo"/>
                <a:ea typeface="Arimo"/>
                <a:cs typeface="Arimo"/>
                <a:sym typeface="Arimo"/>
              </a:rPr>
              <a:t>Imagen: magnetograma de HMI del 7 ene 2014 y la caja de una región activa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666750" y="9772650"/>
            <a:ext cx="5905500" cy="224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84"/>
              </a:lnSpc>
            </a:pPr>
            <a:r>
              <a:rPr lang="en-US" sz="1275" b="true">
                <a:solidFill>
                  <a:srgbClr val="53697A"/>
                </a:solidFill>
                <a:latin typeface="Arimo Bold"/>
                <a:ea typeface="Arimo Bold"/>
                <a:cs typeface="Arimo Bold"/>
                <a:sym typeface="Arimo Bold"/>
              </a:rPr>
              <a:t>HELIODATA ACADEMY 2026  ·  ESCUELA DE ASTROFÍSICA SOLAR</a:t>
            </a:r>
          </a:p>
        </p:txBody>
      </p:sp>
      <p:sp>
        <p:nvSpPr>
          <p:cNvPr name="Freeform 20" id="20" descr="Logo GoSA"/>
          <p:cNvSpPr/>
          <p:nvPr/>
        </p:nvSpPr>
        <p:spPr>
          <a:xfrm flipH="false" flipV="false" rot="0">
            <a:off x="6858000" y="9734550"/>
            <a:ext cx="819150" cy="381000"/>
          </a:xfrm>
          <a:custGeom>
            <a:avLst/>
            <a:gdLst/>
            <a:ahLst/>
            <a:cxnLst/>
            <a:rect r="r" b="b" t="t" l="l"/>
            <a:pathLst>
              <a:path h="381000" w="819150">
                <a:moveTo>
                  <a:pt x="0" y="0"/>
                </a:moveTo>
                <a:lnTo>
                  <a:pt x="819150" y="0"/>
                </a:lnTo>
                <a:lnTo>
                  <a:pt x="819150" y="381000"/>
                </a:lnTo>
                <a:lnTo>
                  <a:pt x="0" y="381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-307" r="0" b="-307"/>
            </a:stretch>
          </a:blipFill>
        </p:spPr>
      </p:sp>
      <p:sp>
        <p:nvSpPr>
          <p:cNvPr name="Freeform 21" id="21" descr="Logo Observatorio Astronómico Nacional"/>
          <p:cNvSpPr/>
          <p:nvPr/>
        </p:nvSpPr>
        <p:spPr>
          <a:xfrm flipH="false" flipV="false" rot="0">
            <a:off x="7829550" y="9715500"/>
            <a:ext cx="457200" cy="428625"/>
          </a:xfrm>
          <a:custGeom>
            <a:avLst/>
            <a:gdLst/>
            <a:ahLst/>
            <a:cxnLst/>
            <a:rect r="r" b="b" t="t" l="l"/>
            <a:pathLst>
              <a:path h="428625" w="457200">
                <a:moveTo>
                  <a:pt x="0" y="0"/>
                </a:moveTo>
                <a:lnTo>
                  <a:pt x="457200" y="0"/>
                </a:lnTo>
                <a:lnTo>
                  <a:pt x="45720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-328" t="0" r="-328" b="0"/>
            </a:stretch>
          </a:blipFill>
        </p:spPr>
      </p:sp>
      <p:pic>
        <p:nvPicPr>
          <p:cNvPr id="22" name="Picture 21" descr="clase_dummy_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32000" y="504000"/>
            <a:ext cx="8424000" cy="8424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D30"/>
        </a:solidFill>
      </p:bgPr>
    </p:bg>
    <p:spTree>
      <p:nvGrpSpPr>
        <p:cNvPr id="1" name=""/>
        <p:cNvGrpSpPr/>
        <p:nvPr/>
      </p:nvGrpSpPr>
      <p:grpSpPr/>
      <p:grpSp>
        <p:nvGrpSpPr>
          <p:cNvPr name="Group 2" id="2"/>
          <p:cNvGrpSpPr/>
          <p:nvPr/>
        </p:nvGrpSpPr>
        <p:grpSpPr>
          <a:xfrm rot="0">
            <a:off x="9048750" y="6524625"/>
            <a:ext cx="8858250" cy="2381250"/>
            <a:chOff x="0" y="0"/>
            <a:chExt cx="11811000" cy="31750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1811000" cy="3175000"/>
            </a:xfrm>
            <a:custGeom>
              <a:avLst/>
              <a:gdLst/>
              <a:ahLst/>
              <a:cxnLst/>
              <a:rect r="r" b="b" t="t" l="l"/>
              <a:pathLst>
                <a:path h="3175000" w="11811000">
                  <a:moveTo>
                    <a:pt x="254000" y="0"/>
                  </a:moveTo>
                  <a:lnTo>
                    <a:pt x="11557000" y="0"/>
                  </a:lnTo>
                  <a:cubicBezTo>
                    <a:pt x="11697281" y="0"/>
                    <a:pt x="11811000" y="113720"/>
                    <a:pt x="11811000" y="254000"/>
                  </a:cubicBezTo>
                  <a:lnTo>
                    <a:pt x="11811000" y="2921000"/>
                  </a:lnTo>
                  <a:cubicBezTo>
                    <a:pt x="11811000" y="3061280"/>
                    <a:pt x="11697281" y="3175000"/>
                    <a:pt x="11557000" y="3175000"/>
                  </a:cubicBezTo>
                  <a:lnTo>
                    <a:pt x="254000" y="3175000"/>
                  </a:lnTo>
                  <a:cubicBezTo>
                    <a:pt x="113720" y="3175000"/>
                    <a:pt x="0" y="3061280"/>
                    <a:pt x="0" y="2921000"/>
                  </a:cubicBezTo>
                  <a:lnTo>
                    <a:pt x="0" y="254000"/>
                  </a:lnTo>
                  <a:cubicBezTo>
                    <a:pt x="0" y="113720"/>
                    <a:pt x="113720" y="0"/>
                    <a:pt x="254000" y="0"/>
                  </a:cubicBezTo>
                  <a:close/>
                </a:path>
              </a:pathLst>
            </a:custGeom>
            <a:solidFill>
              <a:srgbClr val="102C43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11811000" cy="3213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381000" y="6524625"/>
            <a:ext cx="8477250" cy="2381250"/>
            <a:chOff x="0" y="0"/>
            <a:chExt cx="11303000" cy="317500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1303000" cy="3175000"/>
            </a:xfrm>
            <a:custGeom>
              <a:avLst/>
              <a:gdLst/>
              <a:ahLst/>
              <a:cxnLst/>
              <a:rect r="r" b="b" t="t" l="l"/>
              <a:pathLst>
                <a:path h="3175000" w="11303000">
                  <a:moveTo>
                    <a:pt x="254000" y="0"/>
                  </a:moveTo>
                  <a:lnTo>
                    <a:pt x="11049000" y="0"/>
                  </a:lnTo>
                  <a:cubicBezTo>
                    <a:pt x="11189281" y="0"/>
                    <a:pt x="11303000" y="113720"/>
                    <a:pt x="11303000" y="254000"/>
                  </a:cubicBezTo>
                  <a:lnTo>
                    <a:pt x="11303000" y="2921000"/>
                  </a:lnTo>
                  <a:cubicBezTo>
                    <a:pt x="11303000" y="3061280"/>
                    <a:pt x="11189281" y="3175000"/>
                    <a:pt x="11049000" y="3175000"/>
                  </a:cubicBezTo>
                  <a:lnTo>
                    <a:pt x="254000" y="3175000"/>
                  </a:lnTo>
                  <a:cubicBezTo>
                    <a:pt x="113720" y="3175000"/>
                    <a:pt x="0" y="3061280"/>
                    <a:pt x="0" y="2921000"/>
                  </a:cubicBezTo>
                  <a:lnTo>
                    <a:pt x="0" y="254000"/>
                  </a:lnTo>
                  <a:cubicBezTo>
                    <a:pt x="0" y="113720"/>
                    <a:pt x="113720" y="0"/>
                    <a:pt x="254000" y="0"/>
                  </a:cubicBezTo>
                  <a:close/>
                </a:path>
              </a:pathLst>
            </a:custGeom>
            <a:solidFill>
              <a:srgbClr val="102C43"/>
            </a:solidFill>
          </p:spPr>
        </p:sp>
        <p:sp>
          <p:nvSpPr>
            <p:cNvPr name="TextBox 7" id="7"/>
            <p:cNvSpPr txBox="true"/>
            <p:nvPr/>
          </p:nvSpPr>
          <p:spPr>
            <a:xfrm>
              <a:off x="0" y="-38100"/>
              <a:ext cx="11303000" cy="3213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9048750" y="3857625"/>
            <a:ext cx="8858250" cy="2190750"/>
            <a:chOff x="0" y="0"/>
            <a:chExt cx="11811000" cy="292100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11811000" cy="2921000"/>
            </a:xfrm>
            <a:custGeom>
              <a:avLst/>
              <a:gdLst/>
              <a:ahLst/>
              <a:cxnLst/>
              <a:rect r="r" b="b" t="t" l="l"/>
              <a:pathLst>
                <a:path h="2921000" w="11811000">
                  <a:moveTo>
                    <a:pt x="254000" y="0"/>
                  </a:moveTo>
                  <a:lnTo>
                    <a:pt x="11557000" y="0"/>
                  </a:lnTo>
                  <a:cubicBezTo>
                    <a:pt x="11697281" y="0"/>
                    <a:pt x="11811000" y="113720"/>
                    <a:pt x="11811000" y="254000"/>
                  </a:cubicBezTo>
                  <a:lnTo>
                    <a:pt x="11811000" y="2667000"/>
                  </a:lnTo>
                  <a:cubicBezTo>
                    <a:pt x="11811000" y="2807280"/>
                    <a:pt x="11697281" y="2921000"/>
                    <a:pt x="11557000" y="2921000"/>
                  </a:cubicBezTo>
                  <a:lnTo>
                    <a:pt x="254000" y="2921000"/>
                  </a:lnTo>
                  <a:cubicBezTo>
                    <a:pt x="113720" y="2921000"/>
                    <a:pt x="0" y="2807280"/>
                    <a:pt x="0" y="2667000"/>
                  </a:cubicBezTo>
                  <a:lnTo>
                    <a:pt x="0" y="254000"/>
                  </a:lnTo>
                  <a:cubicBezTo>
                    <a:pt x="0" y="113720"/>
                    <a:pt x="113720" y="0"/>
                    <a:pt x="254000" y="0"/>
                  </a:cubicBezTo>
                  <a:close/>
                </a:path>
              </a:pathLst>
            </a:custGeom>
            <a:solidFill>
              <a:srgbClr val="102C43"/>
            </a:solidFill>
          </p:spPr>
        </p:sp>
        <p:sp>
          <p:nvSpPr>
            <p:cNvPr name="TextBox 10" id="10"/>
            <p:cNvSpPr txBox="true"/>
            <p:nvPr/>
          </p:nvSpPr>
          <p:spPr>
            <a:xfrm>
              <a:off x="0" y="-38100"/>
              <a:ext cx="11811000" cy="2959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1" id="11"/>
          <p:cNvGrpSpPr/>
          <p:nvPr/>
        </p:nvGrpSpPr>
        <p:grpSpPr>
          <a:xfrm rot="0">
            <a:off x="381000" y="3857625"/>
            <a:ext cx="8477250" cy="2190750"/>
            <a:chOff x="0" y="0"/>
            <a:chExt cx="11303000" cy="2921000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11303000" cy="2921000"/>
            </a:xfrm>
            <a:custGeom>
              <a:avLst/>
              <a:gdLst/>
              <a:ahLst/>
              <a:cxnLst/>
              <a:rect r="r" b="b" t="t" l="l"/>
              <a:pathLst>
                <a:path h="2921000" w="11303000">
                  <a:moveTo>
                    <a:pt x="254000" y="0"/>
                  </a:moveTo>
                  <a:lnTo>
                    <a:pt x="11049000" y="0"/>
                  </a:lnTo>
                  <a:cubicBezTo>
                    <a:pt x="11189281" y="0"/>
                    <a:pt x="11303000" y="113720"/>
                    <a:pt x="11303000" y="254000"/>
                  </a:cubicBezTo>
                  <a:lnTo>
                    <a:pt x="11303000" y="2667000"/>
                  </a:lnTo>
                  <a:cubicBezTo>
                    <a:pt x="11303000" y="2807280"/>
                    <a:pt x="11189281" y="2921000"/>
                    <a:pt x="11049000" y="2921000"/>
                  </a:cubicBezTo>
                  <a:lnTo>
                    <a:pt x="254000" y="2921000"/>
                  </a:lnTo>
                  <a:cubicBezTo>
                    <a:pt x="113720" y="2921000"/>
                    <a:pt x="0" y="2807280"/>
                    <a:pt x="0" y="2667000"/>
                  </a:cubicBezTo>
                  <a:lnTo>
                    <a:pt x="0" y="254000"/>
                  </a:lnTo>
                  <a:cubicBezTo>
                    <a:pt x="0" y="113720"/>
                    <a:pt x="113720" y="0"/>
                    <a:pt x="254000" y="0"/>
                  </a:cubicBezTo>
                  <a:close/>
                </a:path>
              </a:pathLst>
            </a:custGeom>
            <a:solidFill>
              <a:srgbClr val="102C43"/>
            </a:solidFill>
          </p:spPr>
        </p:sp>
        <p:sp>
          <p:nvSpPr>
            <p:cNvPr name="TextBox 13" id="13"/>
            <p:cNvSpPr txBox="true"/>
            <p:nvPr/>
          </p:nvSpPr>
          <p:spPr>
            <a:xfrm>
              <a:off x="0" y="-38100"/>
              <a:ext cx="11303000" cy="2959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4" id="14"/>
          <p:cNvSpPr txBox="true"/>
          <p:nvPr/>
        </p:nvSpPr>
        <p:spPr>
          <a:xfrm rot="0">
            <a:off x="666750" y="809625"/>
            <a:ext cx="16954500" cy="106997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8000"/>
              </a:lnSpc>
              <a:spcBef>
                <a:spcPct val="0"/>
              </a:spcBef>
            </a:pPr>
            <a:r>
              <a:rPr lang="en-US" sz="8000" strike="noStrike" u="none">
                <a:solidFill>
                  <a:srgbClr val="F5B82E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Surya en cifras</a:t>
            </a:r>
          </a:p>
        </p:txBody>
      </p:sp>
      <p:grpSp>
        <p:nvGrpSpPr>
          <p:cNvPr name="Group 15" id="15"/>
          <p:cNvGrpSpPr/>
          <p:nvPr/>
        </p:nvGrpSpPr>
        <p:grpSpPr>
          <a:xfrm rot="0">
            <a:off x="2105025" y="4259580"/>
            <a:ext cx="6886575" cy="1570673"/>
            <a:chOff x="0" y="0"/>
            <a:chExt cx="9182100" cy="2094230"/>
          </a:xfrm>
        </p:grpSpPr>
        <p:sp>
          <p:nvSpPr>
            <p:cNvPr name="TextBox 16" id="16"/>
            <p:cNvSpPr txBox="true"/>
            <p:nvPr/>
          </p:nvSpPr>
          <p:spPr>
            <a:xfrm rot="0">
              <a:off x="0" y="0"/>
              <a:ext cx="9182100" cy="9271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5040"/>
                </a:lnSpc>
                <a:spcBef>
                  <a:spcPct val="0"/>
                </a:spcBef>
              </a:pPr>
              <a:r>
                <a:rPr lang="en-US" b="true" sz="4200" spc="-63" strike="noStrike" u="none">
                  <a:solidFill>
                    <a:srgbClr val="F5B82E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366 M</a:t>
              </a:r>
            </a:p>
          </p:txBody>
        </p:sp>
        <p:sp>
          <p:nvSpPr>
            <p:cNvPr name="TextBox 17" id="17"/>
            <p:cNvSpPr txBox="true"/>
            <p:nvPr/>
          </p:nvSpPr>
          <p:spPr>
            <a:xfrm rot="0">
              <a:off x="0" y="1571414"/>
              <a:ext cx="9182100" cy="52281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249"/>
                </a:lnSpc>
                <a:spcBef>
                  <a:spcPct val="0"/>
                </a:spcBef>
              </a:pPr>
              <a:r>
                <a:rPr lang="en-US" sz="2499" spc="-37" strike="noStrike" u="none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parámetros: transformer espaciotemporal</a:t>
              </a:r>
            </a:p>
          </p:txBody>
        </p:sp>
      </p:grpSp>
      <p:grpSp>
        <p:nvGrpSpPr>
          <p:cNvPr name="Group 18" id="18"/>
          <p:cNvGrpSpPr/>
          <p:nvPr/>
        </p:nvGrpSpPr>
        <p:grpSpPr>
          <a:xfrm rot="0">
            <a:off x="10734675" y="6944836"/>
            <a:ext cx="6886575" cy="1570673"/>
            <a:chOff x="0" y="0"/>
            <a:chExt cx="9182100" cy="2094230"/>
          </a:xfrm>
        </p:grpSpPr>
        <p:sp>
          <p:nvSpPr>
            <p:cNvPr name="TextBox 19" id="19"/>
            <p:cNvSpPr txBox="true"/>
            <p:nvPr/>
          </p:nvSpPr>
          <p:spPr>
            <a:xfrm rot="0">
              <a:off x="0" y="0"/>
              <a:ext cx="9182100" cy="9271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5040"/>
                </a:lnSpc>
                <a:spcBef>
                  <a:spcPct val="0"/>
                </a:spcBef>
              </a:pPr>
              <a:r>
                <a:rPr lang="en-US" b="true" sz="4200" spc="-63" strike="noStrike" u="none">
                  <a:solidFill>
                    <a:srgbClr val="F5B82E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+60 min</a:t>
              </a:r>
            </a:p>
          </p:txBody>
        </p:sp>
        <p:sp>
          <p:nvSpPr>
            <p:cNvPr name="TextBox 20" id="20"/>
            <p:cNvSpPr txBox="true"/>
            <p:nvPr/>
          </p:nvSpPr>
          <p:spPr>
            <a:xfrm rot="0">
              <a:off x="0" y="1571414"/>
              <a:ext cx="9182100" cy="52281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249"/>
                </a:lnSpc>
                <a:spcBef>
                  <a:spcPct val="0"/>
                </a:spcBef>
              </a:pPr>
              <a:r>
                <a:rPr lang="en-US" sz="2499" spc="-37" strike="noStrike" u="none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preentrenado para pronosticar el Sol una hora adelante</a:t>
              </a:r>
            </a:p>
          </p:txBody>
        </p:sp>
      </p:grpSp>
      <p:grpSp>
        <p:nvGrpSpPr>
          <p:cNvPr name="Group 21" id="21"/>
          <p:cNvGrpSpPr/>
          <p:nvPr/>
        </p:nvGrpSpPr>
        <p:grpSpPr>
          <a:xfrm rot="0">
            <a:off x="2105025" y="6937534"/>
            <a:ext cx="6886575" cy="1616869"/>
            <a:chOff x="0" y="0"/>
            <a:chExt cx="9182100" cy="2155825"/>
          </a:xfrm>
        </p:grpSpPr>
        <p:sp>
          <p:nvSpPr>
            <p:cNvPr name="TextBox 22" id="22"/>
            <p:cNvSpPr txBox="true"/>
            <p:nvPr/>
          </p:nvSpPr>
          <p:spPr>
            <a:xfrm rot="0">
              <a:off x="0" y="0"/>
              <a:ext cx="9182100" cy="9271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5040"/>
                </a:lnSpc>
                <a:spcBef>
                  <a:spcPct val="0"/>
                </a:spcBef>
              </a:pPr>
              <a:r>
                <a:rPr lang="en-US" b="true" sz="4200" spc="-63" strike="noStrike" u="none">
                  <a:solidFill>
                    <a:srgbClr val="F5B82E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13 canales</a:t>
              </a:r>
            </a:p>
          </p:txBody>
        </p:sp>
        <p:sp>
          <p:nvSpPr>
            <p:cNvPr name="TextBox 23" id="23"/>
            <p:cNvSpPr txBox="true"/>
            <p:nvPr/>
          </p:nvSpPr>
          <p:spPr>
            <a:xfrm rot="0">
              <a:off x="0" y="1633008"/>
              <a:ext cx="9182100" cy="52281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249"/>
                </a:lnSpc>
                <a:spcBef>
                  <a:spcPct val="0"/>
                </a:spcBef>
              </a:pPr>
              <a:r>
                <a:rPr lang="en-US" sz="2499" spc="-37" strike="noStrike" u="none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8 de AIA y 5 de HMI</a:t>
              </a:r>
            </a:p>
          </p:txBody>
        </p:sp>
      </p:grpSp>
      <p:sp>
        <p:nvSpPr>
          <p:cNvPr name="TextBox 24" id="24"/>
          <p:cNvSpPr txBox="true"/>
          <p:nvPr/>
        </p:nvSpPr>
        <p:spPr>
          <a:xfrm rot="0">
            <a:off x="666750" y="4244340"/>
            <a:ext cx="864987" cy="4286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359"/>
              </a:lnSpc>
              <a:spcBef>
                <a:spcPct val="0"/>
              </a:spcBef>
            </a:pPr>
            <a:r>
              <a:rPr lang="en-US" sz="2799" u="none">
                <a:solidFill>
                  <a:srgbClr val="F5B82E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01</a:t>
            </a:r>
          </a:p>
        </p:txBody>
      </p:sp>
      <p:sp>
        <p:nvSpPr>
          <p:cNvPr name="TextBox 25" id="25"/>
          <p:cNvSpPr txBox="true"/>
          <p:nvPr/>
        </p:nvSpPr>
        <p:spPr>
          <a:xfrm rot="0">
            <a:off x="9296400" y="4250055"/>
            <a:ext cx="864987" cy="4286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359"/>
              </a:lnSpc>
              <a:spcBef>
                <a:spcPct val="0"/>
              </a:spcBef>
            </a:pPr>
            <a:r>
              <a:rPr lang="en-US" sz="2799" u="none">
                <a:solidFill>
                  <a:srgbClr val="F5B82E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03</a:t>
            </a:r>
          </a:p>
        </p:txBody>
      </p:sp>
      <p:sp>
        <p:nvSpPr>
          <p:cNvPr name="TextBox 26" id="26"/>
          <p:cNvSpPr txBox="true"/>
          <p:nvPr/>
        </p:nvSpPr>
        <p:spPr>
          <a:xfrm rot="0">
            <a:off x="9296400" y="6936105"/>
            <a:ext cx="864987" cy="4286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359"/>
              </a:lnSpc>
              <a:spcBef>
                <a:spcPct val="0"/>
              </a:spcBef>
            </a:pPr>
            <a:r>
              <a:rPr lang="en-US" sz="2799" u="none">
                <a:solidFill>
                  <a:srgbClr val="F5B82E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04</a:t>
            </a:r>
          </a:p>
        </p:txBody>
      </p:sp>
      <p:sp>
        <p:nvSpPr>
          <p:cNvPr name="TextBox 27" id="27"/>
          <p:cNvSpPr txBox="true"/>
          <p:nvPr/>
        </p:nvSpPr>
        <p:spPr>
          <a:xfrm rot="0">
            <a:off x="666750" y="6930390"/>
            <a:ext cx="864987" cy="4286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359"/>
              </a:lnSpc>
              <a:spcBef>
                <a:spcPct val="0"/>
              </a:spcBef>
            </a:pPr>
            <a:r>
              <a:rPr lang="en-US" sz="2799" u="none">
                <a:solidFill>
                  <a:srgbClr val="F5B82E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02</a:t>
            </a:r>
          </a:p>
        </p:txBody>
      </p:sp>
      <p:grpSp>
        <p:nvGrpSpPr>
          <p:cNvPr name="Group 28" id="28"/>
          <p:cNvGrpSpPr/>
          <p:nvPr/>
        </p:nvGrpSpPr>
        <p:grpSpPr>
          <a:xfrm rot="0">
            <a:off x="10734675" y="4258786"/>
            <a:ext cx="6886575" cy="1570673"/>
            <a:chOff x="0" y="0"/>
            <a:chExt cx="9182100" cy="2094230"/>
          </a:xfrm>
        </p:grpSpPr>
        <p:sp>
          <p:nvSpPr>
            <p:cNvPr name="TextBox 29" id="29"/>
            <p:cNvSpPr txBox="true"/>
            <p:nvPr/>
          </p:nvSpPr>
          <p:spPr>
            <a:xfrm rot="0">
              <a:off x="0" y="0"/>
              <a:ext cx="9182100" cy="9271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5040"/>
                </a:lnSpc>
                <a:spcBef>
                  <a:spcPct val="0"/>
                </a:spcBef>
              </a:pPr>
              <a:r>
                <a:rPr lang="en-US" b="true" sz="4200" spc="-63" strike="noStrike" u="none">
                  <a:solidFill>
                    <a:srgbClr val="F5B82E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4096²</a:t>
              </a:r>
            </a:p>
          </p:txBody>
        </p:sp>
        <p:sp>
          <p:nvSpPr>
            <p:cNvPr name="TextBox 30" id="30"/>
            <p:cNvSpPr txBox="true"/>
            <p:nvPr/>
          </p:nvSpPr>
          <p:spPr>
            <a:xfrm rot="0">
              <a:off x="0" y="1571414"/>
              <a:ext cx="9182100" cy="52281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249"/>
                </a:lnSpc>
                <a:spcBef>
                  <a:spcPct val="0"/>
                </a:spcBef>
              </a:pPr>
              <a:r>
                <a:rPr lang="en-US" sz="2499" spc="-37" strike="noStrike" u="none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píxeles: la resolución nativa de SDO</a:t>
              </a:r>
            </a:p>
          </p:txBody>
        </p:sp>
      </p:grpSp>
      <p:sp>
        <p:nvSpPr>
          <p:cNvPr name="TextBox 31" id="31"/>
          <p:cNvSpPr txBox="true"/>
          <p:nvPr/>
        </p:nvSpPr>
        <p:spPr>
          <a:xfrm rot="0">
            <a:off x="685800" y="2085975"/>
            <a:ext cx="66675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>
                <a:solidFill>
                  <a:srgbClr val="087F8C"/>
                </a:solidFill>
                <a:latin typeface="Arimo Bold"/>
                <a:ea typeface="Arimo Bold"/>
                <a:cs typeface="Arimo Bold"/>
                <a:sym typeface="Arimo Bold"/>
              </a:rPr>
              <a:t>ROY ET AL. (2025)</a:t>
            </a:r>
          </a:p>
        </p:txBody>
      </p:sp>
      <p:grpSp>
        <p:nvGrpSpPr>
          <p:cNvPr name="Group 32" id="32"/>
          <p:cNvGrpSpPr/>
          <p:nvPr/>
        </p:nvGrpSpPr>
        <p:grpSpPr>
          <a:xfrm rot="0">
            <a:off x="16383000" y="571500"/>
            <a:ext cx="1238250" cy="1238250"/>
            <a:chOff x="0" y="0"/>
            <a:chExt cx="1651000" cy="1651000"/>
          </a:xfrm>
        </p:grpSpPr>
        <p:sp>
          <p:nvSpPr>
            <p:cNvPr name="Freeform 33" id="33"/>
            <p:cNvSpPr/>
            <p:nvPr/>
          </p:nvSpPr>
          <p:spPr>
            <a:xfrm flipH="false" flipV="false" rot="0">
              <a:off x="185738" y="185738"/>
              <a:ext cx="1279525" cy="1279525"/>
            </a:xfrm>
            <a:custGeom>
              <a:avLst/>
              <a:gdLst/>
              <a:ahLst/>
              <a:cxnLst/>
              <a:rect r="r" b="b" t="t" l="l"/>
              <a:pathLst>
                <a:path h="1279525" w="1279525">
                  <a:moveTo>
                    <a:pt x="275166" y="639762"/>
                  </a:moveTo>
                  <a:cubicBezTo>
                    <a:pt x="275166" y="841123"/>
                    <a:pt x="438401" y="1004358"/>
                    <a:pt x="639762" y="1004358"/>
                  </a:cubicBezTo>
                  <a:cubicBezTo>
                    <a:pt x="841123" y="1004358"/>
                    <a:pt x="1004358" y="841123"/>
                    <a:pt x="1004358" y="639762"/>
                  </a:cubicBezTo>
                  <a:cubicBezTo>
                    <a:pt x="1004358" y="438401"/>
                    <a:pt x="841123" y="275166"/>
                    <a:pt x="639762" y="275166"/>
                  </a:cubicBezTo>
                  <a:cubicBezTo>
                    <a:pt x="438401" y="275166"/>
                    <a:pt x="275166" y="438401"/>
                    <a:pt x="275166" y="639762"/>
                  </a:cubicBezTo>
                  <a:close/>
                  <a:moveTo>
                    <a:pt x="1246505" y="260720"/>
                  </a:moveTo>
                  <a:cubicBezTo>
                    <a:pt x="1203867" y="188286"/>
                    <a:pt x="1047386" y="194142"/>
                    <a:pt x="836581" y="276061"/>
                  </a:cubicBezTo>
                  <a:cubicBezTo>
                    <a:pt x="625775" y="357980"/>
                    <a:pt x="393043" y="503372"/>
                    <a:pt x="226905" y="656936"/>
                  </a:cubicBezTo>
                  <a:cubicBezTo>
                    <a:pt x="60766" y="810500"/>
                    <a:pt x="-13246" y="948637"/>
                    <a:pt x="33020" y="1018804"/>
                  </a:cubicBezTo>
                  <a:cubicBezTo>
                    <a:pt x="75657" y="1091238"/>
                    <a:pt x="232138" y="1085382"/>
                    <a:pt x="442943" y="1003463"/>
                  </a:cubicBezTo>
                  <a:cubicBezTo>
                    <a:pt x="653749" y="921544"/>
                    <a:pt x="886481" y="776152"/>
                    <a:pt x="1052619" y="622588"/>
                  </a:cubicBezTo>
                  <a:cubicBezTo>
                    <a:pt x="1218758" y="469024"/>
                    <a:pt x="1292770" y="330887"/>
                    <a:pt x="1246505" y="260720"/>
                  </a:cubicBezTo>
                  <a:close/>
                  <a:moveTo>
                    <a:pt x="639762" y="110066"/>
                  </a:moveTo>
                  <a:lnTo>
                    <a:pt x="639762" y="0"/>
                  </a:lnTo>
                  <a:moveTo>
                    <a:pt x="639762" y="1279524"/>
                  </a:moveTo>
                  <a:lnTo>
                    <a:pt x="639762" y="1169458"/>
                  </a:lnTo>
                  <a:moveTo>
                    <a:pt x="110066" y="639762"/>
                  </a:moveTo>
                  <a:lnTo>
                    <a:pt x="0" y="639762"/>
                  </a:lnTo>
                  <a:moveTo>
                    <a:pt x="1279524" y="639762"/>
                  </a:moveTo>
                  <a:lnTo>
                    <a:pt x="1169458" y="639762"/>
                  </a:lnTo>
                  <a:moveTo>
                    <a:pt x="268287" y="268287"/>
                  </a:moveTo>
                  <a:lnTo>
                    <a:pt x="192616" y="192616"/>
                  </a:lnTo>
                  <a:moveTo>
                    <a:pt x="1011237" y="1011237"/>
                  </a:moveTo>
                  <a:lnTo>
                    <a:pt x="1086908" y="1086908"/>
                  </a:lnTo>
                  <a:moveTo>
                    <a:pt x="302683" y="687916"/>
                  </a:moveTo>
                  <a:lnTo>
                    <a:pt x="454024" y="687916"/>
                  </a:lnTo>
                  <a:lnTo>
                    <a:pt x="529695" y="529695"/>
                  </a:lnTo>
                  <a:lnTo>
                    <a:pt x="646641" y="804862"/>
                  </a:lnTo>
                  <a:lnTo>
                    <a:pt x="749829" y="598487"/>
                  </a:lnTo>
                  <a:lnTo>
                    <a:pt x="818620" y="687916"/>
                  </a:lnTo>
                  <a:lnTo>
                    <a:pt x="983720" y="687916"/>
                  </a:lnTo>
                </a:path>
              </a:pathLst>
            </a:custGeom>
            <a:ln w="38100" cap="sq">
              <a:solidFill>
                <a:srgbClr val="F5B82E"/>
              </a:solidFill>
              <a:prstDash val="solid"/>
              <a:miter/>
            </a:ln>
          </p:spPr>
        </p:sp>
        <p:sp>
          <p:nvSpPr>
            <p:cNvPr name="TextBox 34" id="34"/>
            <p:cNvSpPr txBox="true"/>
            <p:nvPr/>
          </p:nvSpPr>
          <p:spPr>
            <a:xfrm>
              <a:off x="0" y="-38100"/>
              <a:ext cx="1651000" cy="1689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35" id="35"/>
          <p:cNvGrpSpPr/>
          <p:nvPr/>
        </p:nvGrpSpPr>
        <p:grpSpPr>
          <a:xfrm rot="0">
            <a:off x="16383000" y="571500"/>
            <a:ext cx="1238250" cy="1238250"/>
            <a:chOff x="0" y="0"/>
            <a:chExt cx="1651000" cy="1651000"/>
          </a:xfrm>
        </p:grpSpPr>
        <p:sp>
          <p:nvSpPr>
            <p:cNvPr name="Freeform 36" id="36"/>
            <p:cNvSpPr/>
            <p:nvPr/>
          </p:nvSpPr>
          <p:spPr>
            <a:xfrm flipH="false" flipV="false" rot="0">
              <a:off x="1183217" y="213254"/>
              <a:ext cx="220133" cy="220133"/>
            </a:xfrm>
            <a:custGeom>
              <a:avLst/>
              <a:gdLst/>
              <a:ahLst/>
              <a:cxnLst/>
              <a:rect r="r" b="b" t="t" l="l"/>
              <a:pathLst>
                <a:path h="220133" w="220133">
                  <a:moveTo>
                    <a:pt x="110066" y="0"/>
                  </a:moveTo>
                  <a:lnTo>
                    <a:pt x="137583" y="82550"/>
                  </a:lnTo>
                  <a:lnTo>
                    <a:pt x="220133" y="110067"/>
                  </a:lnTo>
                  <a:lnTo>
                    <a:pt x="137583" y="137584"/>
                  </a:lnTo>
                  <a:lnTo>
                    <a:pt x="110066" y="220134"/>
                  </a:lnTo>
                  <a:lnTo>
                    <a:pt x="82550" y="137584"/>
                  </a:lnTo>
                  <a:lnTo>
                    <a:pt x="0" y="110067"/>
                  </a:lnTo>
                  <a:lnTo>
                    <a:pt x="82550" y="82550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37" id="37"/>
            <p:cNvSpPr txBox="true"/>
            <p:nvPr/>
          </p:nvSpPr>
          <p:spPr>
            <a:xfrm>
              <a:off x="0" y="-38100"/>
              <a:ext cx="1651000" cy="1689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38" id="38"/>
          <p:cNvSpPr txBox="true"/>
          <p:nvPr/>
        </p:nvSpPr>
        <p:spPr>
          <a:xfrm rot="0">
            <a:off x="666750" y="9772650"/>
            <a:ext cx="9525000" cy="224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84"/>
              </a:lnSpc>
            </a:pPr>
            <a:r>
              <a:rPr lang="en-US" sz="1275" b="true">
                <a:solidFill>
                  <a:srgbClr val="9FB3C8"/>
                </a:solidFill>
                <a:latin typeface="Arimo Bold"/>
                <a:ea typeface="Arimo Bold"/>
                <a:cs typeface="Arimo Bold"/>
                <a:sym typeface="Arimo Bold"/>
              </a:rPr>
              <a:t>HELIODATA ACADEMY 2026  ·  ESCUELA DE ASTROFÍSICA SOLAR</a:t>
            </a:r>
          </a:p>
        </p:txBody>
      </p:sp>
      <p:sp>
        <p:nvSpPr>
          <p:cNvPr name="Freeform 39" id="39" descr="Logo GoSA"/>
          <p:cNvSpPr/>
          <p:nvPr/>
        </p:nvSpPr>
        <p:spPr>
          <a:xfrm flipH="false" flipV="false" rot="0">
            <a:off x="16192500" y="9753600"/>
            <a:ext cx="762000" cy="352425"/>
          </a:xfrm>
          <a:custGeom>
            <a:avLst/>
            <a:gdLst/>
            <a:ahLst/>
            <a:cxnLst/>
            <a:rect r="r" b="b" t="t" l="l"/>
            <a:pathLst>
              <a:path h="352425" w="762000">
                <a:moveTo>
                  <a:pt x="0" y="0"/>
                </a:moveTo>
                <a:lnTo>
                  <a:pt x="762000" y="0"/>
                </a:lnTo>
                <a:lnTo>
                  <a:pt x="762000" y="352425"/>
                </a:lnTo>
                <a:lnTo>
                  <a:pt x="0" y="352425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592" r="0" b="-592"/>
            </a:stretch>
          </a:blipFill>
        </p:spPr>
      </p:sp>
      <p:sp>
        <p:nvSpPr>
          <p:cNvPr name="Freeform 40" id="40" descr="Logo Observatorio Astronómico Nacional"/>
          <p:cNvSpPr/>
          <p:nvPr/>
        </p:nvSpPr>
        <p:spPr>
          <a:xfrm flipH="false" flipV="false" rot="0">
            <a:off x="17145000" y="9715500"/>
            <a:ext cx="457200" cy="428625"/>
          </a:xfrm>
          <a:custGeom>
            <a:avLst/>
            <a:gdLst/>
            <a:ahLst/>
            <a:cxnLst/>
            <a:rect r="r" b="b" t="t" l="l"/>
            <a:pathLst>
              <a:path h="428625" w="457200">
                <a:moveTo>
                  <a:pt x="0" y="0"/>
                </a:moveTo>
                <a:lnTo>
                  <a:pt x="457200" y="0"/>
                </a:lnTo>
                <a:lnTo>
                  <a:pt x="45720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328" t="0" r="-328" b="0"/>
            </a:stretch>
          </a:blipFill>
        </p:spPr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/>
      <p:grpSp>
        <p:nvGrpSpPr>
          <p:cNvPr name="Group 2" id="2"/>
          <p:cNvGrpSpPr/>
          <p:nvPr/>
        </p:nvGrpSpPr>
        <p:grpSpPr>
          <a:xfrm rot="0">
            <a:off x="9296400" y="0"/>
            <a:ext cx="8991600" cy="3352800"/>
            <a:chOff x="0" y="0"/>
            <a:chExt cx="2368158" cy="883042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368158" cy="883042"/>
            </a:xfrm>
            <a:custGeom>
              <a:avLst/>
              <a:gdLst/>
              <a:ahLst/>
              <a:cxnLst/>
              <a:rect r="r" b="b" t="t" l="l"/>
              <a:pathLst>
                <a:path h="883042" w="2368158">
                  <a:moveTo>
                    <a:pt x="0" y="0"/>
                  </a:moveTo>
                  <a:lnTo>
                    <a:pt x="2368158" y="0"/>
                  </a:lnTo>
                  <a:lnTo>
                    <a:pt x="2368158" y="883042"/>
                  </a:lnTo>
                  <a:lnTo>
                    <a:pt x="0" y="883042"/>
                  </a:lnTo>
                  <a:close/>
                </a:path>
              </a:pathLst>
            </a:custGeom>
            <a:solidFill>
              <a:srgbClr val="F5F7FA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2368158" cy="92114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00"/>
                </a:lnSpc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8991600" y="0"/>
            <a:ext cx="9296400" cy="10287000"/>
            <a:chOff x="0" y="0"/>
            <a:chExt cx="1220873" cy="1350966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220873" cy="1350966"/>
            </a:xfrm>
            <a:custGeom>
              <a:avLst/>
              <a:gdLst/>
              <a:ahLst/>
              <a:cxnLst/>
              <a:rect r="r" b="b" t="t" l="l"/>
              <a:pathLst>
                <a:path h="1350966" w="1220873">
                  <a:moveTo>
                    <a:pt x="0" y="0"/>
                  </a:moveTo>
                  <a:lnTo>
                    <a:pt x="1220873" y="0"/>
                  </a:lnTo>
                  <a:lnTo>
                    <a:pt x="1220873" y="1350966"/>
                  </a:lnTo>
                  <a:lnTo>
                    <a:pt x="0" y="1350966"/>
                  </a:lnTo>
                  <a:close/>
                </a:path>
              </a:pathLst>
            </a:custGeom>
            <a:solidFill>
              <a:srgbClr val="071D30"/>
            </a:solidFill>
          </p:spPr>
        </p:sp>
      </p:grpSp>
      <p:grpSp>
        <p:nvGrpSpPr>
          <p:cNvPr name="Group 8" id="8"/>
          <p:cNvGrpSpPr/>
          <p:nvPr/>
        </p:nvGrpSpPr>
        <p:grpSpPr>
          <a:xfrm rot="0">
            <a:off x="666750" y="5334000"/>
            <a:ext cx="6886575" cy="1898650"/>
            <a:chOff x="0" y="0"/>
            <a:chExt cx="9182100" cy="2531534"/>
          </a:xfrm>
        </p:grpSpPr>
        <p:sp>
          <p:nvSpPr>
            <p:cNvPr name="TextBox 9" id="9"/>
            <p:cNvSpPr txBox="true"/>
            <p:nvPr/>
          </p:nvSpPr>
          <p:spPr>
            <a:xfrm rot="0">
              <a:off x="0" y="0"/>
              <a:ext cx="9182100" cy="5588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000"/>
                </a:lnSpc>
                <a:spcBef>
                  <a:spcPct val="0"/>
                </a:spcBef>
              </a:pPr>
              <a:r>
                <a:rPr lang="en-US" b="true" sz="2500" spc="-37" strike="noStrike" u="none">
                  <a:solidFill>
                    <a:srgbClr val="071D30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Normalización de Surya</a:t>
              </a:r>
            </a:p>
          </p:txBody>
        </p:sp>
        <p:sp>
          <p:nvSpPr>
            <p:cNvPr name="TextBox 10" id="10"/>
            <p:cNvSpPr txBox="true"/>
            <p:nvPr/>
          </p:nvSpPr>
          <p:spPr>
            <a:xfrm rot="0">
              <a:off x="0" y="825500"/>
              <a:ext cx="9182100" cy="1706034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499"/>
                </a:lnSpc>
                <a:spcBef>
                  <a:spcPct val="0"/>
                </a:spcBef>
              </a:pPr>
              <a:r>
                <a:rPr lang="en-US" sz="2499" spc="-37" strike="noStrike" u="none">
                  <a:solidFill>
                    <a:srgbClr val="071D30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Escala, logaritmo con signo y estandarización con μ y σ globales de cada canal. Por eso una imagen no queda con media 0: aia94 va de −0,53 a 219,6.</a:t>
              </a:r>
            </a:p>
          </p:txBody>
        </p:sp>
      </p:grpSp>
      <p:sp>
        <p:nvSpPr>
          <p:cNvPr name="TextBox 11" id="11"/>
          <p:cNvSpPr txBox="true"/>
          <p:nvPr/>
        </p:nvSpPr>
        <p:spPr>
          <a:xfrm rot="0">
            <a:off x="685800" y="657225"/>
            <a:ext cx="66675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>
                <a:solidFill>
                  <a:srgbClr val="087F8C"/>
                </a:solidFill>
                <a:latin typeface="Arimo Bold"/>
                <a:ea typeface="Arimo Bold"/>
                <a:cs typeface="Arimo Bold"/>
                <a:sym typeface="Arimo Bold"/>
              </a:rPr>
              <a:t>ECUACIÓN  /  DATO DESTACADO</a:t>
            </a:r>
          </a:p>
        </p:txBody>
      </p:sp>
      <p:grpSp>
        <p:nvGrpSpPr>
          <p:cNvPr name="Group 12" id="12"/>
          <p:cNvGrpSpPr/>
          <p:nvPr/>
        </p:nvGrpSpPr>
        <p:grpSpPr>
          <a:xfrm rot="0">
            <a:off x="685800" y="4476750"/>
            <a:ext cx="1428750" cy="57150"/>
            <a:chOff x="0" y="0"/>
            <a:chExt cx="1905000" cy="76200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1905000" cy="76200"/>
            </a:xfrm>
            <a:custGeom>
              <a:avLst/>
              <a:gdLst/>
              <a:ahLst/>
              <a:cxnLst/>
              <a:rect r="r" b="b" t="t" l="l"/>
              <a:pathLst>
                <a:path h="76200" w="1905000">
                  <a:moveTo>
                    <a:pt x="0" y="0"/>
                  </a:moveTo>
                  <a:lnTo>
                    <a:pt x="1905000" y="0"/>
                  </a:lnTo>
                  <a:lnTo>
                    <a:pt x="1905000" y="76200"/>
                  </a:lnTo>
                  <a:lnTo>
                    <a:pt x="0" y="76200"/>
                  </a:lnTo>
                  <a:close/>
                </a:path>
              </a:pathLst>
            </a:custGeom>
            <a:solidFill>
              <a:srgbClr val="F5B82E"/>
            </a:solidFill>
          </p:spPr>
        </p:sp>
        <p:sp>
          <p:nvSpPr>
            <p:cNvPr name="TextBox 14" id="14"/>
            <p:cNvSpPr txBox="true"/>
            <p:nvPr/>
          </p:nvSpPr>
          <p:spPr>
            <a:xfrm>
              <a:off x="0" y="-38100"/>
              <a:ext cx="1905000" cy="1143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5" id="15"/>
          <p:cNvSpPr txBox="true"/>
          <p:nvPr/>
        </p:nvSpPr>
        <p:spPr>
          <a:xfrm rot="0">
            <a:off x="685800" y="8515350"/>
            <a:ext cx="76200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i="true">
                <a:solidFill>
                  <a:srgbClr val="53697A"/>
                </a:solidFill>
                <a:latin typeface="Arimo Italics"/>
                <a:ea typeface="Arimo Italics"/>
                <a:cs typeface="Arimo Italics"/>
                <a:sym typeface="Arimo Italics"/>
              </a:rPr>
              <a:t>Referencia: surya.datasets.helio.transform; cuaderno, sección 2</a:t>
            </a:r>
          </a:p>
        </p:txBody>
      </p:sp>
      <p:grpSp>
        <p:nvGrpSpPr>
          <p:cNvPr name="Group 16" id="16"/>
          <p:cNvGrpSpPr/>
          <p:nvPr/>
        </p:nvGrpSpPr>
        <p:grpSpPr>
          <a:xfrm rot="0">
            <a:off x="8991600" y="9429750"/>
            <a:ext cx="9296400" cy="857250"/>
            <a:chOff x="0" y="0"/>
            <a:chExt cx="12395200" cy="1143000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12395200" cy="1143000"/>
            </a:xfrm>
            <a:custGeom>
              <a:avLst/>
              <a:gdLst/>
              <a:ahLst/>
              <a:cxnLst/>
              <a:rect r="r" b="b" t="t" l="l"/>
              <a:pathLst>
                <a:path h="1143000" w="12395200">
                  <a:moveTo>
                    <a:pt x="0" y="0"/>
                  </a:moveTo>
                  <a:lnTo>
                    <a:pt x="12395200" y="0"/>
                  </a:lnTo>
                  <a:lnTo>
                    <a:pt x="12395200" y="1143000"/>
                  </a:lnTo>
                  <a:lnTo>
                    <a:pt x="0" y="1143000"/>
                  </a:lnTo>
                  <a:close/>
                </a:path>
              </a:pathLst>
            </a:custGeom>
            <a:solidFill>
              <a:srgbClr val="071D30">
                <a:alpha val="74902"/>
              </a:srgbClr>
            </a:solidFill>
          </p:spPr>
        </p:sp>
        <p:sp>
          <p:nvSpPr>
            <p:cNvPr name="TextBox 18" id="18"/>
            <p:cNvSpPr txBox="true"/>
            <p:nvPr/>
          </p:nvSpPr>
          <p:spPr>
            <a:xfrm>
              <a:off x="0" y="-38100"/>
              <a:ext cx="12395200" cy="1181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9" id="19"/>
          <p:cNvSpPr txBox="true"/>
          <p:nvPr/>
        </p:nvSpPr>
        <p:spPr>
          <a:xfrm rot="0">
            <a:off x="9334500" y="9696450"/>
            <a:ext cx="8572500" cy="2419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350">
                <a:solidFill>
                  <a:srgbClr val="F5F7FA"/>
                </a:solidFill>
                <a:latin typeface="Arimo"/>
                <a:ea typeface="Arimo"/>
                <a:cs typeface="Arimo"/>
                <a:sym typeface="Arimo"/>
              </a:rPr>
              <a:t>Imagen: los 13 canales del recorte de la AR 11944, con sus unidades (DN/s, G, m/s)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666750" y="9772650"/>
            <a:ext cx="5905500" cy="224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84"/>
              </a:lnSpc>
            </a:pPr>
            <a:r>
              <a:rPr lang="en-US" sz="1275" b="true">
                <a:solidFill>
                  <a:srgbClr val="53697A"/>
                </a:solidFill>
                <a:latin typeface="Arimo Bold"/>
                <a:ea typeface="Arimo Bold"/>
                <a:cs typeface="Arimo Bold"/>
                <a:sym typeface="Arimo Bold"/>
              </a:rPr>
              <a:t>HELIODATA ACADEMY 2026  ·  ESCUELA DE ASTROFÍSICA SOLAR</a:t>
            </a:r>
          </a:p>
        </p:txBody>
      </p:sp>
      <p:sp>
        <p:nvSpPr>
          <p:cNvPr name="Freeform 21" id="21" descr="Logo GoSA"/>
          <p:cNvSpPr/>
          <p:nvPr/>
        </p:nvSpPr>
        <p:spPr>
          <a:xfrm flipH="false" flipV="false" rot="0">
            <a:off x="6858000" y="9734550"/>
            <a:ext cx="819150" cy="381000"/>
          </a:xfrm>
          <a:custGeom>
            <a:avLst/>
            <a:gdLst/>
            <a:ahLst/>
            <a:cxnLst/>
            <a:rect r="r" b="b" t="t" l="l"/>
            <a:pathLst>
              <a:path h="381000" w="819150">
                <a:moveTo>
                  <a:pt x="0" y="0"/>
                </a:moveTo>
                <a:lnTo>
                  <a:pt x="819150" y="0"/>
                </a:lnTo>
                <a:lnTo>
                  <a:pt x="819150" y="381000"/>
                </a:lnTo>
                <a:lnTo>
                  <a:pt x="0" y="381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-307" r="0" b="-307"/>
            </a:stretch>
          </a:blipFill>
        </p:spPr>
      </p:sp>
      <p:sp>
        <p:nvSpPr>
          <p:cNvPr name="Freeform 22" id="22" descr="Logo Observatorio Astronómico Nacional"/>
          <p:cNvSpPr/>
          <p:nvPr/>
        </p:nvSpPr>
        <p:spPr>
          <a:xfrm flipH="false" flipV="false" rot="0">
            <a:off x="7829550" y="9715500"/>
            <a:ext cx="457200" cy="428625"/>
          </a:xfrm>
          <a:custGeom>
            <a:avLst/>
            <a:gdLst/>
            <a:ahLst/>
            <a:cxnLst/>
            <a:rect r="r" b="b" t="t" l="l"/>
            <a:pathLst>
              <a:path h="428625" w="457200">
                <a:moveTo>
                  <a:pt x="0" y="0"/>
                </a:moveTo>
                <a:lnTo>
                  <a:pt x="457200" y="0"/>
                </a:lnTo>
                <a:lnTo>
                  <a:pt x="45720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-328" t="0" r="-328" b="0"/>
            </a:stretch>
          </a:blipFill>
        </p:spPr>
      </p:sp>
      <p:pic>
        <p:nvPicPr>
          <p:cNvPr id="23" name="Picture 22" descr="eq_norm_ful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4000" y="1224000"/>
            <a:ext cx="5893882" cy="2664000"/>
          </a:xfrm>
          <a:prstGeom prst="rect">
            <a:avLst/>
          </a:prstGeom>
        </p:spPr>
      </p:pic>
      <p:pic>
        <p:nvPicPr>
          <p:cNvPr id="24" name="Picture 23" descr="canale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32000" y="2320892"/>
            <a:ext cx="8424000" cy="4790215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/>
      <p:sp>
        <p:nvSpPr>
          <p:cNvPr name="TextBox 2" id="2"/>
          <p:cNvSpPr txBox="true"/>
          <p:nvPr/>
        </p:nvSpPr>
        <p:spPr>
          <a:xfrm rot="0">
            <a:off x="666750" y="1190625"/>
            <a:ext cx="6886575" cy="8667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4840"/>
              </a:lnSpc>
              <a:spcBef>
                <a:spcPct val="0"/>
              </a:spcBef>
            </a:pPr>
            <a:r>
              <a:rPr lang="en-US" sz="4400" strike="noStrike" u="none">
                <a:solidFill>
                  <a:srgbClr val="071D30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Práctica 1: del dato a los tokens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666750" y="3771900"/>
            <a:ext cx="6886575" cy="12890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499"/>
              </a:lnSpc>
              <a:spcBef>
                <a:spcPct val="0"/>
              </a:spcBef>
            </a:pPr>
            <a:r>
              <a:rPr lang="en-US" sz="2499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1.  Corre las secciones 1 a 5 del cuaderno</a:t>
            </a:r>
          </a:p>
          <a:p>
            <a:pPr algn="l" marL="0" indent="0" lvl="0">
              <a:lnSpc>
                <a:spcPts val="3499"/>
              </a:lnSpc>
              <a:spcBef>
                <a:spcPct val="0"/>
              </a:spcBef>
            </a:pPr>
            <a:r>
              <a:rPr lang="en-US" sz="2499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2.  Cambia nombre a otro canal y compara los pasos</a:t>
            </a:r>
          </a:p>
          <a:p>
            <a:pPr algn="l" marL="0" indent="0" lvl="0">
              <a:lnSpc>
                <a:spcPts val="3499"/>
              </a:lnSpc>
              <a:spcBef>
                <a:spcPct val="0"/>
              </a:spcBef>
            </a:pPr>
            <a:r>
              <a:rPr lang="en-US" sz="2499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3.  Mira por qué la media no queda en 0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685800" y="657225"/>
            <a:ext cx="66675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>
                <a:solidFill>
                  <a:srgbClr val="087F8C"/>
                </a:solidFill>
                <a:latin typeface="Arimo Bold"/>
                <a:ea typeface="Arimo Bold"/>
                <a:cs typeface="Arimo Bold"/>
                <a:sym typeface="Arimo Bold"/>
              </a:rPr>
              <a:t>CÓDIGO  ·  PRÁCTICA</a:t>
            </a:r>
          </a:p>
        </p:txBody>
      </p:sp>
      <p:grpSp>
        <p:nvGrpSpPr>
          <p:cNvPr name="Group 5" id="5"/>
          <p:cNvGrpSpPr/>
          <p:nvPr/>
        </p:nvGrpSpPr>
        <p:grpSpPr>
          <a:xfrm rot="0">
            <a:off x="8382000" y="762000"/>
            <a:ext cx="9239250" cy="8382000"/>
            <a:chOff x="0" y="0"/>
            <a:chExt cx="12319000" cy="1117600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2319000" cy="11176000"/>
            </a:xfrm>
            <a:custGeom>
              <a:avLst/>
              <a:gdLst/>
              <a:ahLst/>
              <a:cxnLst/>
              <a:rect r="r" b="b" t="t" l="l"/>
              <a:pathLst>
                <a:path h="11176000" w="12319000">
                  <a:moveTo>
                    <a:pt x="279400" y="0"/>
                  </a:moveTo>
                  <a:lnTo>
                    <a:pt x="12039600" y="0"/>
                  </a:lnTo>
                  <a:cubicBezTo>
                    <a:pt x="12193908" y="0"/>
                    <a:pt x="12319000" y="125092"/>
                    <a:pt x="12319000" y="279400"/>
                  </a:cubicBezTo>
                  <a:lnTo>
                    <a:pt x="12319000" y="10896600"/>
                  </a:lnTo>
                  <a:cubicBezTo>
                    <a:pt x="12319000" y="11050908"/>
                    <a:pt x="12193908" y="11176000"/>
                    <a:pt x="12039600" y="11176000"/>
                  </a:cubicBezTo>
                  <a:lnTo>
                    <a:pt x="279400" y="11176000"/>
                  </a:lnTo>
                  <a:cubicBezTo>
                    <a:pt x="125092" y="11176000"/>
                    <a:pt x="0" y="11050908"/>
                    <a:pt x="0" y="10896600"/>
                  </a:cubicBezTo>
                  <a:lnTo>
                    <a:pt x="0" y="279400"/>
                  </a:lnTo>
                  <a:cubicBezTo>
                    <a:pt x="0" y="125092"/>
                    <a:pt x="125092" y="0"/>
                    <a:pt x="279400" y="0"/>
                  </a:cubicBezTo>
                  <a:close/>
                </a:path>
              </a:pathLst>
            </a:custGeom>
            <a:solidFill>
              <a:srgbClr val="0B1622"/>
            </a:solidFill>
          </p:spPr>
        </p:sp>
        <p:sp>
          <p:nvSpPr>
            <p:cNvPr name="TextBox 7" id="7"/>
            <p:cNvSpPr txBox="true"/>
            <p:nvPr/>
          </p:nvSpPr>
          <p:spPr>
            <a:xfrm>
              <a:off x="0" y="-38100"/>
              <a:ext cx="12319000" cy="11214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8382000" y="762000"/>
            <a:ext cx="9239250" cy="666750"/>
            <a:chOff x="0" y="0"/>
            <a:chExt cx="12319000" cy="88900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12319000" cy="889000"/>
            </a:xfrm>
            <a:custGeom>
              <a:avLst/>
              <a:gdLst/>
              <a:ahLst/>
              <a:cxnLst/>
              <a:rect r="r" b="b" t="t" l="l"/>
              <a:pathLst>
                <a:path h="889000" w="12319000">
                  <a:moveTo>
                    <a:pt x="279400" y="0"/>
                  </a:moveTo>
                  <a:lnTo>
                    <a:pt x="12039600" y="0"/>
                  </a:lnTo>
                  <a:cubicBezTo>
                    <a:pt x="12193908" y="0"/>
                    <a:pt x="12319000" y="125092"/>
                    <a:pt x="12319000" y="279400"/>
                  </a:cubicBezTo>
                  <a:lnTo>
                    <a:pt x="12319000" y="609600"/>
                  </a:lnTo>
                  <a:cubicBezTo>
                    <a:pt x="12319000" y="763908"/>
                    <a:pt x="12193908" y="889000"/>
                    <a:pt x="12039600" y="889000"/>
                  </a:cubicBezTo>
                  <a:lnTo>
                    <a:pt x="279400" y="889000"/>
                  </a:lnTo>
                  <a:cubicBezTo>
                    <a:pt x="125092" y="889000"/>
                    <a:pt x="0" y="763908"/>
                    <a:pt x="0" y="609600"/>
                  </a:cubicBezTo>
                  <a:lnTo>
                    <a:pt x="0" y="279400"/>
                  </a:lnTo>
                  <a:cubicBezTo>
                    <a:pt x="0" y="125092"/>
                    <a:pt x="125092" y="0"/>
                    <a:pt x="279400" y="0"/>
                  </a:cubicBezTo>
                  <a:close/>
                </a:path>
              </a:pathLst>
            </a:custGeom>
            <a:solidFill>
              <a:srgbClr val="102C43"/>
            </a:solidFill>
          </p:spPr>
        </p:sp>
        <p:sp>
          <p:nvSpPr>
            <p:cNvPr name="TextBox 10" id="10"/>
            <p:cNvSpPr txBox="true"/>
            <p:nvPr/>
          </p:nvSpPr>
          <p:spPr>
            <a:xfrm>
              <a:off x="0" y="-38100"/>
              <a:ext cx="12319000" cy="927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1" id="11"/>
          <p:cNvGrpSpPr/>
          <p:nvPr/>
        </p:nvGrpSpPr>
        <p:grpSpPr>
          <a:xfrm rot="0">
            <a:off x="8667750" y="1009650"/>
            <a:ext cx="171450" cy="171450"/>
            <a:chOff x="0" y="0"/>
            <a:chExt cx="228600" cy="228600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228600" cy="228600"/>
            </a:xfrm>
            <a:custGeom>
              <a:avLst/>
              <a:gdLst/>
              <a:ahLst/>
              <a:cxnLst/>
              <a:rect r="r" b="b" t="t" l="l"/>
              <a:pathLst>
                <a:path h="228600" w="228600">
                  <a:moveTo>
                    <a:pt x="114300" y="0"/>
                  </a:moveTo>
                  <a:cubicBezTo>
                    <a:pt x="51174" y="0"/>
                    <a:pt x="0" y="51174"/>
                    <a:pt x="0" y="114300"/>
                  </a:cubicBezTo>
                  <a:cubicBezTo>
                    <a:pt x="0" y="177426"/>
                    <a:pt x="51174" y="228600"/>
                    <a:pt x="114300" y="228600"/>
                  </a:cubicBezTo>
                  <a:cubicBezTo>
                    <a:pt x="177426" y="228600"/>
                    <a:pt x="228600" y="177426"/>
                    <a:pt x="228600" y="114300"/>
                  </a:cubicBezTo>
                  <a:cubicBezTo>
                    <a:pt x="228600" y="51174"/>
                    <a:pt x="177426" y="0"/>
                    <a:pt x="114300" y="0"/>
                  </a:cubicBezTo>
                  <a:close/>
                </a:path>
              </a:pathLst>
            </a:custGeom>
            <a:solidFill>
              <a:srgbClr val="FF5F57"/>
            </a:solidFill>
          </p:spPr>
        </p:sp>
        <p:sp>
          <p:nvSpPr>
            <p:cNvPr name="TextBox 13" id="13"/>
            <p:cNvSpPr txBox="true"/>
            <p:nvPr/>
          </p:nvSpPr>
          <p:spPr>
            <a:xfrm>
              <a:off x="0" y="-38100"/>
              <a:ext cx="228600" cy="2667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4" id="14"/>
          <p:cNvGrpSpPr/>
          <p:nvPr/>
        </p:nvGrpSpPr>
        <p:grpSpPr>
          <a:xfrm rot="0">
            <a:off x="8953500" y="1009650"/>
            <a:ext cx="171450" cy="171450"/>
            <a:chOff x="0" y="0"/>
            <a:chExt cx="228600" cy="228600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228600" cy="228600"/>
            </a:xfrm>
            <a:custGeom>
              <a:avLst/>
              <a:gdLst/>
              <a:ahLst/>
              <a:cxnLst/>
              <a:rect r="r" b="b" t="t" l="l"/>
              <a:pathLst>
                <a:path h="228600" w="228600">
                  <a:moveTo>
                    <a:pt x="114300" y="0"/>
                  </a:moveTo>
                  <a:cubicBezTo>
                    <a:pt x="51174" y="0"/>
                    <a:pt x="0" y="51174"/>
                    <a:pt x="0" y="114300"/>
                  </a:cubicBezTo>
                  <a:cubicBezTo>
                    <a:pt x="0" y="177426"/>
                    <a:pt x="51174" y="228600"/>
                    <a:pt x="114300" y="228600"/>
                  </a:cubicBezTo>
                  <a:cubicBezTo>
                    <a:pt x="177426" y="228600"/>
                    <a:pt x="228600" y="177426"/>
                    <a:pt x="228600" y="114300"/>
                  </a:cubicBezTo>
                  <a:cubicBezTo>
                    <a:pt x="228600" y="51174"/>
                    <a:pt x="177426" y="0"/>
                    <a:pt x="114300" y="0"/>
                  </a:cubicBezTo>
                  <a:close/>
                </a:path>
              </a:pathLst>
            </a:custGeom>
            <a:solidFill>
              <a:srgbClr val="F5B82E"/>
            </a:solidFill>
          </p:spPr>
        </p:sp>
        <p:sp>
          <p:nvSpPr>
            <p:cNvPr name="TextBox 16" id="16"/>
            <p:cNvSpPr txBox="true"/>
            <p:nvPr/>
          </p:nvSpPr>
          <p:spPr>
            <a:xfrm>
              <a:off x="0" y="-38100"/>
              <a:ext cx="228600" cy="2667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7" id="17"/>
          <p:cNvGrpSpPr/>
          <p:nvPr/>
        </p:nvGrpSpPr>
        <p:grpSpPr>
          <a:xfrm rot="0">
            <a:off x="9239250" y="1009650"/>
            <a:ext cx="171450" cy="171450"/>
            <a:chOff x="0" y="0"/>
            <a:chExt cx="228600" cy="228600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228600" cy="228600"/>
            </a:xfrm>
            <a:custGeom>
              <a:avLst/>
              <a:gdLst/>
              <a:ahLst/>
              <a:cxnLst/>
              <a:rect r="r" b="b" t="t" l="l"/>
              <a:pathLst>
                <a:path h="228600" w="228600">
                  <a:moveTo>
                    <a:pt x="114300" y="0"/>
                  </a:moveTo>
                  <a:cubicBezTo>
                    <a:pt x="51174" y="0"/>
                    <a:pt x="0" y="51174"/>
                    <a:pt x="0" y="114300"/>
                  </a:cubicBezTo>
                  <a:cubicBezTo>
                    <a:pt x="0" y="177426"/>
                    <a:pt x="51174" y="228600"/>
                    <a:pt x="114300" y="228600"/>
                  </a:cubicBezTo>
                  <a:cubicBezTo>
                    <a:pt x="177426" y="228600"/>
                    <a:pt x="228600" y="177426"/>
                    <a:pt x="228600" y="114300"/>
                  </a:cubicBezTo>
                  <a:cubicBezTo>
                    <a:pt x="228600" y="51174"/>
                    <a:pt x="177426" y="0"/>
                    <a:pt x="114300" y="0"/>
                  </a:cubicBezTo>
                  <a:close/>
                </a:path>
              </a:pathLst>
            </a:custGeom>
            <a:solidFill>
              <a:srgbClr val="28C840"/>
            </a:solidFill>
          </p:spPr>
        </p:sp>
        <p:sp>
          <p:nvSpPr>
            <p:cNvPr name="TextBox 19" id="19"/>
            <p:cNvSpPr txBox="true"/>
            <p:nvPr/>
          </p:nvSpPr>
          <p:spPr>
            <a:xfrm>
              <a:off x="0" y="-38100"/>
              <a:ext cx="228600" cy="2667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20" id="20"/>
          <p:cNvSpPr txBox="true"/>
          <p:nvPr/>
        </p:nvSpPr>
        <p:spPr>
          <a:xfrm rot="0">
            <a:off x="9715500" y="904875"/>
            <a:ext cx="57150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>
                <a:solidFill>
                  <a:srgbClr val="9FB3C8"/>
                </a:solidFill>
                <a:latin typeface="Arimo"/>
                <a:ea typeface="Arimo"/>
                <a:cs typeface="Arimo"/>
                <a:sym typeface="Arimo"/>
              </a:rPr>
              <a:t>01_Del_dato_solar_al_caption.ipynb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8620125" y="1657350"/>
            <a:ext cx="476250" cy="51206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3720"/>
              </a:lnSpc>
            </a:pPr>
            <a:r>
              <a:rPr lang="en-US" sz="2325">
                <a:solidFill>
                  <a:srgbClr val="53697A"/>
                </a:solidFill>
                <a:latin typeface="Arimo"/>
                <a:ea typeface="Arimo"/>
                <a:cs typeface="Arimo"/>
                <a:sym typeface="Arimo"/>
              </a:rPr>
              <a:t>1</a:t>
            </a:r>
          </a:p>
          <a:p>
            <a:pPr algn="r">
              <a:lnSpc>
                <a:spcPts val="3720"/>
              </a:lnSpc>
            </a:pPr>
            <a:r>
              <a:rPr lang="en-US" sz="2325">
                <a:solidFill>
                  <a:srgbClr val="53697A"/>
                </a:solidFill>
                <a:latin typeface="Arimo"/>
                <a:ea typeface="Arimo"/>
                <a:cs typeface="Arimo"/>
                <a:sym typeface="Arimo"/>
              </a:rPr>
              <a:t>2</a:t>
            </a:r>
          </a:p>
          <a:p>
            <a:pPr algn="r">
              <a:lnSpc>
                <a:spcPts val="3720"/>
              </a:lnSpc>
            </a:pPr>
            <a:r>
              <a:rPr lang="en-US" sz="2325">
                <a:solidFill>
                  <a:srgbClr val="53697A"/>
                </a:solidFill>
                <a:latin typeface="Arimo"/>
                <a:ea typeface="Arimo"/>
                <a:cs typeface="Arimo"/>
                <a:sym typeface="Arimo"/>
              </a:rPr>
              <a:t>3</a:t>
            </a:r>
          </a:p>
          <a:p>
            <a:pPr algn="r">
              <a:lnSpc>
                <a:spcPts val="3720"/>
              </a:lnSpc>
            </a:pPr>
            <a:r>
              <a:rPr lang="en-US" sz="2325">
                <a:solidFill>
                  <a:srgbClr val="53697A"/>
                </a:solidFill>
                <a:latin typeface="Arimo"/>
                <a:ea typeface="Arimo"/>
                <a:cs typeface="Arimo"/>
                <a:sym typeface="Arimo"/>
              </a:rPr>
              <a:t>4</a:t>
            </a:r>
          </a:p>
          <a:p>
            <a:pPr algn="r">
              <a:lnSpc>
                <a:spcPts val="3720"/>
              </a:lnSpc>
            </a:pPr>
            <a:r>
              <a:rPr lang="en-US" sz="2325">
                <a:solidFill>
                  <a:srgbClr val="53697A"/>
                </a:solidFill>
                <a:latin typeface="Arimo"/>
                <a:ea typeface="Arimo"/>
                <a:cs typeface="Arimo"/>
                <a:sym typeface="Arimo"/>
              </a:rPr>
              <a:t>5</a:t>
            </a:r>
          </a:p>
          <a:p>
            <a:pPr algn="r">
              <a:lnSpc>
                <a:spcPts val="3720"/>
              </a:lnSpc>
            </a:pPr>
            <a:r>
              <a:rPr lang="en-US" sz="2325">
                <a:solidFill>
                  <a:srgbClr val="53697A"/>
                </a:solidFill>
                <a:latin typeface="Arimo"/>
                <a:ea typeface="Arimo"/>
                <a:cs typeface="Arimo"/>
                <a:sym typeface="Arimo"/>
              </a:rPr>
              <a:t>6</a:t>
            </a:r>
          </a:p>
          <a:p>
            <a:pPr algn="r">
              <a:lnSpc>
                <a:spcPts val="3720"/>
              </a:lnSpc>
            </a:pPr>
            <a:r>
              <a:rPr lang="en-US" sz="2325">
                <a:solidFill>
                  <a:srgbClr val="53697A"/>
                </a:solidFill>
                <a:latin typeface="Arimo"/>
                <a:ea typeface="Arimo"/>
                <a:cs typeface="Arimo"/>
                <a:sym typeface="Arimo"/>
              </a:rPr>
              <a:t>7</a:t>
            </a:r>
          </a:p>
          <a:p>
            <a:pPr algn="r">
              <a:lnSpc>
                <a:spcPts val="3720"/>
              </a:lnSpc>
            </a:pPr>
            <a:r>
              <a:rPr lang="en-US" sz="2325">
                <a:solidFill>
                  <a:srgbClr val="53697A"/>
                </a:solidFill>
                <a:latin typeface="Arimo"/>
                <a:ea typeface="Arimo"/>
                <a:cs typeface="Arimo"/>
                <a:sym typeface="Arimo"/>
              </a:rPr>
              <a:t>8</a:t>
            </a:r>
          </a:p>
          <a:p>
            <a:pPr algn="r">
              <a:lnSpc>
                <a:spcPts val="3720"/>
              </a:lnSpc>
            </a:pPr>
            <a:r>
              <a:rPr lang="en-US" sz="2325">
                <a:solidFill>
                  <a:srgbClr val="53697A"/>
                </a:solidFill>
                <a:latin typeface="Arimo"/>
                <a:ea typeface="Arimo"/>
                <a:cs typeface="Arimo"/>
                <a:sym typeface="Arimo"/>
              </a:rPr>
              <a:t>9</a:t>
            </a:r>
          </a:p>
          <a:p>
            <a:pPr algn="r">
              <a:lnSpc>
                <a:spcPts val="3720"/>
              </a:lnSpc>
            </a:pPr>
            <a:r>
              <a:rPr lang="en-US" sz="2325">
                <a:solidFill>
                  <a:srgbClr val="53697A"/>
                </a:solidFill>
                <a:latin typeface="Arimo"/>
                <a:ea typeface="Arimo"/>
                <a:cs typeface="Arimo"/>
                <a:sym typeface="Arimo"/>
              </a:rPr>
              <a:t>10</a:t>
            </a:r>
          </a:p>
          <a:p>
            <a:pPr algn="r">
              <a:lnSpc>
                <a:spcPts val="3720"/>
              </a:lnSpc>
            </a:pPr>
            <a:r>
              <a:rPr lang="en-US" sz="2325">
                <a:solidFill>
                  <a:srgbClr val="53697A"/>
                </a:solidFill>
                <a:latin typeface="Arimo"/>
                <a:ea typeface="Arimo"/>
                <a:cs typeface="Arimo"/>
                <a:sym typeface="Arimo"/>
              </a:rPr>
              <a:t>11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9286875" y="1657350"/>
            <a:ext cx="8096250" cy="51206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720"/>
              </a:lnSpc>
            </a:pPr>
            <a:r>
              <a:rPr lang="en-US" sz="1700">
                <a:solidFill>
                  <a:srgbClr val="E6EDF3"/>
                </a:solidFill>
                <a:latin typeface="Arimo"/>
                <a:ea typeface="Arimo"/>
                <a:cs typeface="Arimo"/>
                <a:sym typeface="Arimo"/>
              </a:rPr>
              <a:t>nombre = "aia94"</a:t>
            </a:r>
          </a:p>
          <a:p>
            <a:pPr algn="l">
              <a:lnSpc>
                <a:spcPts val="3720"/>
              </a:lnSpc>
            </a:pPr>
            <a:r>
              <a:rPr lang="en-US" sz="1700">
                <a:solidFill>
                  <a:srgbClr val="E6EDF3"/>
                </a:solidFill>
                <a:latin typeface="Arimo"/>
                <a:ea typeface="Arimo"/>
                <a:cs typeface="Arimo"/>
                <a:sym typeface="Arimo"/>
              </a:rPr>
              <a:t>k = constantes[nombre]</a:t>
            </a:r>
          </a:p>
          <a:p>
            <a:pPr algn="l">
              <a:lnSpc>
                <a:spcPts val="3720"/>
              </a:lnSpc>
            </a:pPr>
            <a:r>
              <a:rPr lang="en-US" sz="1700">
                <a:solidFill>
                  <a:srgbClr val="E6EDF3"/>
                </a:solidFill>
                <a:latin typeface="Arimo"/>
                <a:ea typeface="Arimo"/>
                <a:cs typeface="Arimo"/>
                <a:sym typeface="Arimo"/>
              </a:rPr>
              <a:t>x = crudo[canales.index(nombre)].astype(np.float64)</a:t>
            </a:r>
          </a:p>
          <a:p>
            <a:pPr algn="l">
              <a:lnSpc>
                <a:spcPts val="3720"/>
              </a:lnSpc>
            </a:pPr>
          </a:p>
          <a:p>
            <a:pPr algn="l">
              <a:lnSpc>
                <a:spcPts val="3720"/>
              </a:lnSpc>
            </a:pPr>
            <a:r>
              <a:rPr lang="en-US" sz="1700">
                <a:solidFill>
                  <a:srgbClr val="E6EDF3"/>
                </a:solidFill>
                <a:latin typeface="Arimo"/>
                <a:ea typeface="Arimo"/>
                <a:cs typeface="Arimo"/>
                <a:sym typeface="Arimo"/>
              </a:rPr>
              <a:t>paso1 = x * k["sl_scale_factor"]</a:t>
            </a:r>
          </a:p>
          <a:p>
            <a:pPr algn="l">
              <a:lnSpc>
                <a:spcPts val="3720"/>
              </a:lnSpc>
            </a:pPr>
            <a:r>
              <a:rPr lang="en-US" sz="1700">
                <a:solidFill>
                  <a:srgbClr val="E6EDF3"/>
                </a:solidFill>
                <a:latin typeface="Arimo"/>
                <a:ea typeface="Arimo"/>
                <a:cs typeface="Arimo"/>
                <a:sym typeface="Arimo"/>
              </a:rPr>
              <a:t>paso2 = np.sign(paso1) * np.log1p(np.abs(paso1))</a:t>
            </a:r>
          </a:p>
          <a:p>
            <a:pPr algn="l">
              <a:lnSpc>
                <a:spcPts val="3720"/>
              </a:lnSpc>
            </a:pPr>
            <a:r>
              <a:rPr lang="en-US" sz="1700">
                <a:solidFill>
                  <a:srgbClr val="E6EDF3"/>
                </a:solidFill>
                <a:latin typeface="Arimo"/>
                <a:ea typeface="Arimo"/>
                <a:cs typeface="Arimo"/>
                <a:sym typeface="Arimo"/>
              </a:rPr>
              <a:t>paso3 = (paso2 - k["mean"]) / (k["std"] + k["epsilon"])</a:t>
            </a:r>
          </a:p>
        </p:txBody>
      </p:sp>
      <p:grpSp>
        <p:nvGrpSpPr>
          <p:cNvPr name="Group 23" id="23"/>
          <p:cNvGrpSpPr/>
          <p:nvPr/>
        </p:nvGrpSpPr>
        <p:grpSpPr>
          <a:xfrm rot="0">
            <a:off x="8620125" y="8001000"/>
            <a:ext cx="8763000" cy="857250"/>
            <a:chOff x="0" y="0"/>
            <a:chExt cx="11684000" cy="1143000"/>
          </a:xfrm>
        </p:grpSpPr>
        <p:sp>
          <p:nvSpPr>
            <p:cNvPr name="Freeform 24" id="24"/>
            <p:cNvSpPr/>
            <p:nvPr/>
          </p:nvSpPr>
          <p:spPr>
            <a:xfrm flipH="false" flipV="false" rot="0">
              <a:off x="0" y="0"/>
              <a:ext cx="11684000" cy="1143000"/>
            </a:xfrm>
            <a:custGeom>
              <a:avLst/>
              <a:gdLst/>
              <a:ahLst/>
              <a:cxnLst/>
              <a:rect r="r" b="b" t="t" l="l"/>
              <a:pathLst>
                <a:path h="1143000" w="11684000">
                  <a:moveTo>
                    <a:pt x="152400" y="0"/>
                  </a:moveTo>
                  <a:lnTo>
                    <a:pt x="11531600" y="0"/>
                  </a:lnTo>
                  <a:cubicBezTo>
                    <a:pt x="11615769" y="0"/>
                    <a:pt x="11684000" y="68232"/>
                    <a:pt x="11684000" y="152400"/>
                  </a:cubicBezTo>
                  <a:lnTo>
                    <a:pt x="11684000" y="990600"/>
                  </a:lnTo>
                  <a:cubicBezTo>
                    <a:pt x="11684000" y="1074768"/>
                    <a:pt x="11615769" y="1143000"/>
                    <a:pt x="11531600" y="1143000"/>
                  </a:cubicBezTo>
                  <a:lnTo>
                    <a:pt x="152400" y="1143000"/>
                  </a:lnTo>
                  <a:cubicBezTo>
                    <a:pt x="68232" y="1143000"/>
                    <a:pt x="0" y="1074768"/>
                    <a:pt x="0" y="990600"/>
                  </a:cubicBezTo>
                  <a:lnTo>
                    <a:pt x="0" y="152400"/>
                  </a:lnTo>
                  <a:cubicBezTo>
                    <a:pt x="0" y="68232"/>
                    <a:pt x="68232" y="0"/>
                    <a:pt x="152400" y="0"/>
                  </a:cubicBezTo>
                  <a:close/>
                </a:path>
              </a:pathLst>
            </a:custGeom>
            <a:solidFill>
              <a:srgbClr val="102C43"/>
            </a:solidFill>
          </p:spPr>
        </p:sp>
        <p:sp>
          <p:nvSpPr>
            <p:cNvPr name="TextBox 25" id="25"/>
            <p:cNvSpPr txBox="true"/>
            <p:nvPr/>
          </p:nvSpPr>
          <p:spPr>
            <a:xfrm>
              <a:off x="0" y="-38100"/>
              <a:ext cx="11684000" cy="1181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26" id="26"/>
          <p:cNvSpPr txBox="true"/>
          <p:nvPr/>
        </p:nvSpPr>
        <p:spPr>
          <a:xfrm rot="0">
            <a:off x="8905875" y="8210550"/>
            <a:ext cx="8382000" cy="3505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29"/>
              </a:lnSpc>
            </a:pPr>
            <a:r>
              <a:rPr lang="en-US" sz="1950" b="true">
                <a:solidFill>
                  <a:srgbClr val="F5B82E"/>
                </a:solidFill>
                <a:latin typeface="Arimo Bold"/>
                <a:ea typeface="Arimo Bold"/>
                <a:cs typeface="Arimo Bold"/>
                <a:sym typeface="Arimo Bold"/>
              </a:rPr>
              <a:t>SALIDA  ›  paso 3: mín −0,526 · máx 219,601 · media 9,203</a:t>
            </a:r>
          </a:p>
        </p:txBody>
      </p:sp>
      <p:sp>
        <p:nvSpPr>
          <p:cNvPr name="TextBox 27" id="27"/>
          <p:cNvSpPr txBox="true"/>
          <p:nvPr/>
        </p:nvSpPr>
        <p:spPr>
          <a:xfrm rot="0">
            <a:off x="666750" y="9772650"/>
            <a:ext cx="9525000" cy="224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84"/>
              </a:lnSpc>
            </a:pPr>
            <a:r>
              <a:rPr lang="en-US" sz="1275" b="true">
                <a:solidFill>
                  <a:srgbClr val="53697A"/>
                </a:solidFill>
                <a:latin typeface="Arimo Bold"/>
                <a:ea typeface="Arimo Bold"/>
                <a:cs typeface="Arimo Bold"/>
                <a:sym typeface="Arimo Bold"/>
              </a:rPr>
              <a:t>HELIODATA ACADEMY 2026  ·  ESCUELA DE ASTROFÍSICA SOLAR</a:t>
            </a:r>
          </a:p>
        </p:txBody>
      </p:sp>
      <p:grpSp>
        <p:nvGrpSpPr>
          <p:cNvPr name="Group 28" id="28"/>
          <p:cNvGrpSpPr/>
          <p:nvPr/>
        </p:nvGrpSpPr>
        <p:grpSpPr>
          <a:xfrm rot="0">
            <a:off x="666750" y="9639300"/>
            <a:ext cx="16954500" cy="19050"/>
            <a:chOff x="0" y="0"/>
            <a:chExt cx="22606000" cy="25400"/>
          </a:xfrm>
        </p:grpSpPr>
        <p:sp>
          <p:nvSpPr>
            <p:cNvPr name="Freeform 29" id="29"/>
            <p:cNvSpPr/>
            <p:nvPr/>
          </p:nvSpPr>
          <p:spPr>
            <a:xfrm flipH="false" flipV="false" rot="0">
              <a:off x="0" y="0"/>
              <a:ext cx="22606000" cy="25400"/>
            </a:xfrm>
            <a:custGeom>
              <a:avLst/>
              <a:gdLst/>
              <a:ahLst/>
              <a:cxnLst/>
              <a:rect r="r" b="b" t="t" l="l"/>
              <a:pathLst>
                <a:path h="25400" w="22606000">
                  <a:moveTo>
                    <a:pt x="0" y="0"/>
                  </a:moveTo>
                  <a:lnTo>
                    <a:pt x="22606000" y="0"/>
                  </a:lnTo>
                  <a:lnTo>
                    <a:pt x="22606000" y="25400"/>
                  </a:lnTo>
                  <a:lnTo>
                    <a:pt x="0" y="25400"/>
                  </a:lnTo>
                  <a:close/>
                </a:path>
              </a:pathLst>
            </a:custGeom>
            <a:solidFill>
              <a:srgbClr val="C9D3DD"/>
            </a:solidFill>
          </p:spPr>
        </p:sp>
        <p:sp>
          <p:nvSpPr>
            <p:cNvPr name="TextBox 30" id="30"/>
            <p:cNvSpPr txBox="true"/>
            <p:nvPr/>
          </p:nvSpPr>
          <p:spPr>
            <a:xfrm>
              <a:off x="0" y="-38100"/>
              <a:ext cx="22606000" cy="635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Freeform 31" id="31" descr="Logo GoSA"/>
          <p:cNvSpPr/>
          <p:nvPr/>
        </p:nvSpPr>
        <p:spPr>
          <a:xfrm flipH="false" flipV="false" rot="0">
            <a:off x="16192500" y="9734550"/>
            <a:ext cx="819150" cy="381000"/>
          </a:xfrm>
          <a:custGeom>
            <a:avLst/>
            <a:gdLst/>
            <a:ahLst/>
            <a:cxnLst/>
            <a:rect r="r" b="b" t="t" l="l"/>
            <a:pathLst>
              <a:path h="381000" w="819150">
                <a:moveTo>
                  <a:pt x="0" y="0"/>
                </a:moveTo>
                <a:lnTo>
                  <a:pt x="819150" y="0"/>
                </a:lnTo>
                <a:lnTo>
                  <a:pt x="819150" y="381000"/>
                </a:lnTo>
                <a:lnTo>
                  <a:pt x="0" y="381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07" r="0" b="-307"/>
            </a:stretch>
          </a:blipFill>
        </p:spPr>
      </p:sp>
      <p:sp>
        <p:nvSpPr>
          <p:cNvPr name="Freeform 32" id="32" descr="Logo Observatorio Astronómico Nacional"/>
          <p:cNvSpPr/>
          <p:nvPr/>
        </p:nvSpPr>
        <p:spPr>
          <a:xfrm flipH="false" flipV="false" rot="0">
            <a:off x="17145000" y="9715500"/>
            <a:ext cx="457200" cy="428625"/>
          </a:xfrm>
          <a:custGeom>
            <a:avLst/>
            <a:gdLst/>
            <a:ahLst/>
            <a:cxnLst/>
            <a:rect r="r" b="b" t="t" l="l"/>
            <a:pathLst>
              <a:path h="428625" w="457200">
                <a:moveTo>
                  <a:pt x="0" y="0"/>
                </a:moveTo>
                <a:lnTo>
                  <a:pt x="457200" y="0"/>
                </a:lnTo>
                <a:lnTo>
                  <a:pt x="45720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328" t="0" r="-328" b="0"/>
            </a:stretch>
          </a:blipFill>
        </p:spPr>
      </p:sp>
      <p:grpSp>
        <p:nvGrpSpPr>
          <p:cNvPr name="Group 33" id="33"/>
          <p:cNvGrpSpPr/>
          <p:nvPr/>
        </p:nvGrpSpPr>
        <p:grpSpPr>
          <a:xfrm rot="0">
            <a:off x="666750" y="7048500"/>
            <a:ext cx="7048500" cy="1809750"/>
            <a:chOff x="0" y="0"/>
            <a:chExt cx="9398000" cy="2413000"/>
          </a:xfrm>
        </p:grpSpPr>
        <p:sp>
          <p:nvSpPr>
            <p:cNvPr name="Freeform 34" id="34"/>
            <p:cNvSpPr/>
            <p:nvPr/>
          </p:nvSpPr>
          <p:spPr>
            <a:xfrm flipH="false" flipV="false" rot="0">
              <a:off x="0" y="0"/>
              <a:ext cx="9398000" cy="2413000"/>
            </a:xfrm>
            <a:custGeom>
              <a:avLst/>
              <a:gdLst/>
              <a:ahLst/>
              <a:cxnLst/>
              <a:rect r="r" b="b" t="t" l="l"/>
              <a:pathLst>
                <a:path h="2413000" w="9398000">
                  <a:moveTo>
                    <a:pt x="228600" y="0"/>
                  </a:moveTo>
                  <a:lnTo>
                    <a:pt x="9169400" y="0"/>
                  </a:lnTo>
                  <a:cubicBezTo>
                    <a:pt x="9295652" y="0"/>
                    <a:pt x="9398000" y="102348"/>
                    <a:pt x="9398000" y="228600"/>
                  </a:cubicBezTo>
                  <a:lnTo>
                    <a:pt x="9398000" y="2184400"/>
                  </a:lnTo>
                  <a:cubicBezTo>
                    <a:pt x="9398000" y="2310652"/>
                    <a:pt x="9295652" y="2413000"/>
                    <a:pt x="9169400" y="2413000"/>
                  </a:cubicBezTo>
                  <a:lnTo>
                    <a:pt x="228600" y="2413000"/>
                  </a:lnTo>
                  <a:cubicBezTo>
                    <a:pt x="102348" y="2413000"/>
                    <a:pt x="0" y="2310652"/>
                    <a:pt x="0" y="2184400"/>
                  </a:cubicBezTo>
                  <a:lnTo>
                    <a:pt x="0" y="228600"/>
                  </a:lnTo>
                  <a:cubicBezTo>
                    <a:pt x="0" y="102348"/>
                    <a:pt x="102348" y="0"/>
                    <a:pt x="228600" y="0"/>
                  </a:cubicBezTo>
                  <a:close/>
                </a:path>
              </a:pathLst>
            </a:custGeom>
            <a:solidFill>
              <a:srgbClr val="E3EEF0"/>
            </a:solidFill>
          </p:spPr>
        </p:sp>
        <p:sp>
          <p:nvSpPr>
            <p:cNvPr name="TextBox 35" id="35"/>
            <p:cNvSpPr txBox="true"/>
            <p:nvPr/>
          </p:nvSpPr>
          <p:spPr>
            <a:xfrm>
              <a:off x="0" y="-38100"/>
              <a:ext cx="9398000" cy="2451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36" id="36"/>
          <p:cNvGrpSpPr/>
          <p:nvPr/>
        </p:nvGrpSpPr>
        <p:grpSpPr>
          <a:xfrm rot="0">
            <a:off x="666750" y="7239000"/>
            <a:ext cx="95250" cy="1428750"/>
            <a:chOff x="0" y="0"/>
            <a:chExt cx="127000" cy="1905000"/>
          </a:xfrm>
        </p:grpSpPr>
        <p:sp>
          <p:nvSpPr>
            <p:cNvPr name="Freeform 37" id="37"/>
            <p:cNvSpPr/>
            <p:nvPr/>
          </p:nvSpPr>
          <p:spPr>
            <a:xfrm flipH="false" flipV="false" rot="0">
              <a:off x="0" y="0"/>
              <a:ext cx="127000" cy="1905000"/>
            </a:xfrm>
            <a:custGeom>
              <a:avLst/>
              <a:gdLst/>
              <a:ahLst/>
              <a:cxnLst/>
              <a:rect r="r" b="b" t="t" l="l"/>
              <a:pathLst>
                <a:path h="1905000" w="127000">
                  <a:moveTo>
                    <a:pt x="0" y="0"/>
                  </a:moveTo>
                  <a:lnTo>
                    <a:pt x="127000" y="0"/>
                  </a:lnTo>
                  <a:lnTo>
                    <a:pt x="127000" y="1905000"/>
                  </a:lnTo>
                  <a:lnTo>
                    <a:pt x="0" y="1905000"/>
                  </a:lnTo>
                  <a:close/>
                </a:path>
              </a:pathLst>
            </a:custGeom>
            <a:solidFill>
              <a:srgbClr val="087F8C"/>
            </a:solidFill>
          </p:spPr>
        </p:sp>
        <p:sp>
          <p:nvSpPr>
            <p:cNvPr name="TextBox 38" id="38"/>
            <p:cNvSpPr txBox="true"/>
            <p:nvPr/>
          </p:nvSpPr>
          <p:spPr>
            <a:xfrm>
              <a:off x="0" y="-38100"/>
              <a:ext cx="127000" cy="1943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39" id="39"/>
          <p:cNvSpPr txBox="true"/>
          <p:nvPr/>
        </p:nvSpPr>
        <p:spPr>
          <a:xfrm rot="0">
            <a:off x="1047750" y="7277100"/>
            <a:ext cx="57150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>
                <a:solidFill>
                  <a:srgbClr val="087F8C"/>
                </a:solidFill>
                <a:latin typeface="Arimo Bold"/>
                <a:ea typeface="Arimo Bold"/>
                <a:cs typeface="Arimo Bold"/>
                <a:sym typeface="Arimo Bold"/>
              </a:rPr>
              <a:t>OBJETIVO</a:t>
            </a:r>
          </a:p>
        </p:txBody>
      </p:sp>
      <p:sp>
        <p:nvSpPr>
          <p:cNvPr name="TextBox 40" id="40"/>
          <p:cNvSpPr txBox="true"/>
          <p:nvPr/>
        </p:nvSpPr>
        <p:spPr>
          <a:xfrm rot="0">
            <a:off x="1047750" y="7724775"/>
            <a:ext cx="6477000" cy="3981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120"/>
              </a:lnSpc>
            </a:pPr>
            <a:r>
              <a:rPr lang="en-US" sz="2400">
                <a:solidFill>
                  <a:srgbClr val="071D30"/>
                </a:solidFill>
                <a:latin typeface="Arimo"/>
                <a:ea typeface="Arimo"/>
                <a:cs typeface="Arimo"/>
                <a:sym typeface="Arimo"/>
              </a:rPr>
              <a:t>Entender la normalización de Surya y sus constantes globales.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/>
      <p:sp>
        <p:nvSpPr>
          <p:cNvPr name="TextBox 2" id="2"/>
          <p:cNvSpPr txBox="true"/>
          <p:nvPr/>
        </p:nvSpPr>
        <p:spPr>
          <a:xfrm rot="0">
            <a:off x="666750" y="3676650"/>
            <a:ext cx="6886575" cy="12890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539748" indent="-269874" lvl="1">
              <a:lnSpc>
                <a:spcPts val="3499"/>
              </a:lnSpc>
              <a:spcBef>
                <a:spcPct val="0"/>
              </a:spcBef>
              <a:buFont typeface="Arial"/>
              <a:buChar char="•"/>
            </a:pPr>
            <a:r>
              <a:rPr lang="en-US" sz="2499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Recorte de </a:t>
            </a:r>
            <a:r>
              <a:rPr lang="en-US" sz="2499" spc="-37" strike="noStrike" u="none" b="1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704 × 704 px</a:t>
            </a:r>
            <a:r>
              <a:rPr lang="en-US" sz="2499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alrededor de la AR 11944</a:t>
            </a:r>
          </a:p>
          <a:p>
            <a:pPr algn="l" marL="539748" indent="-269874" lvl="1">
              <a:lnSpc>
                <a:spcPts val="3499"/>
              </a:lnSpc>
              <a:spcBef>
                <a:spcPct val="0"/>
              </a:spcBef>
              <a:buFont typeface="Arial"/>
              <a:buChar char="•"/>
            </a:pPr>
            <a:r>
              <a:rPr lang="en-US" sz="2499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Un token por parche de </a:t>
            </a:r>
            <a:r>
              <a:rPr lang="en-US" sz="2499" spc="-37" strike="noStrike" u="none" b="1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16 × 16 px</a:t>
            </a:r>
            <a:r>
              <a:rPr lang="en-US" sz="2499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: </a:t>
            </a:r>
            <a:r>
              <a:rPr lang="en-US" sz="2499" spc="-37" strike="noStrike" u="none" b="1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45 × 45</a:t>
            </a:r>
            <a:r>
              <a:rPr lang="en-US" sz="2499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tokens de 1280 dimensiones</a:t>
            </a:r>
          </a:p>
          <a:p>
            <a:pPr algn="l" marL="539748" indent="-269874" lvl="1">
              <a:lnSpc>
                <a:spcPts val="3499"/>
              </a:lnSpc>
              <a:spcBef>
                <a:spcPct val="0"/>
              </a:spcBef>
              <a:buFont typeface="Arial"/>
              <a:buChar char="•"/>
            </a:pPr>
            <a:r>
              <a:rPr lang="en-US" sz="2499" spc="-37" strike="noStrike" u="none" b="1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Pooling adaptativo</a:t>
            </a:r>
            <a:r>
              <a:rPr lang="en-US" sz="2499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a 16 × 16 = </a:t>
            </a:r>
            <a:r>
              <a:rPr lang="en-US" sz="2499" spc="-37" strike="noStrike" u="none" b="1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256 tokens</a:t>
            </a:r>
          </a:p>
          <a:p>
            <a:pPr algn="l" marL="539748" indent="-269874" lvl="1">
              <a:lnSpc>
                <a:spcPts val="3499"/>
              </a:lnSpc>
              <a:spcBef>
                <a:spcPct val="0"/>
              </a:spcBef>
              <a:buFont typeface="Arial"/>
              <a:buChar char="•"/>
            </a:pPr>
            <a:r>
              <a:rPr lang="en-US" sz="2499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Surya corre sobre el </a:t>
            </a:r>
            <a:r>
              <a:rPr lang="en-US" sz="2499" spc="-37" strike="noStrike" u="none" b="1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disco completo</a:t>
            </a:r>
            <a:r>
              <a:rPr lang="en-US" sz="2499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: se recortan tokens, no la imagen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666750" y="1190625"/>
            <a:ext cx="6886575" cy="17049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6600"/>
              </a:lnSpc>
              <a:spcBef>
                <a:spcPct val="0"/>
              </a:spcBef>
            </a:pPr>
            <a:r>
              <a:rPr lang="en-US" sz="6000" spc="-179" strike="noStrike" u="none">
                <a:solidFill>
                  <a:srgbClr val="071D30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De la región a 256 tokens</a:t>
            </a:r>
          </a:p>
        </p:txBody>
      </p:sp>
      <p:grpSp>
        <p:nvGrpSpPr>
          <p:cNvPr name="Group 4" id="4"/>
          <p:cNvGrpSpPr/>
          <p:nvPr/>
        </p:nvGrpSpPr>
        <p:grpSpPr>
          <a:xfrm rot="0">
            <a:off x="8991600" y="0"/>
            <a:ext cx="9296400" cy="10287000"/>
            <a:chOff x="0" y="0"/>
            <a:chExt cx="1220873" cy="1350966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1220873" cy="1350966"/>
            </a:xfrm>
            <a:custGeom>
              <a:avLst/>
              <a:gdLst/>
              <a:ahLst/>
              <a:cxnLst/>
              <a:rect r="r" b="b" t="t" l="l"/>
              <a:pathLst>
                <a:path h="1350966" w="1220873">
                  <a:moveTo>
                    <a:pt x="0" y="0"/>
                  </a:moveTo>
                  <a:lnTo>
                    <a:pt x="1220873" y="0"/>
                  </a:lnTo>
                  <a:lnTo>
                    <a:pt x="1220873" y="1350966"/>
                  </a:lnTo>
                  <a:lnTo>
                    <a:pt x="0" y="1350966"/>
                  </a:lnTo>
                  <a:close/>
                </a:path>
              </a:pathLst>
            </a:custGeom>
            <a:solidFill>
              <a:srgbClr val="071D30"/>
            </a:solidFill>
          </p:spPr>
        </p:sp>
      </p:grpSp>
      <p:sp>
        <p:nvSpPr>
          <p:cNvPr name="TextBox 6" id="6"/>
          <p:cNvSpPr txBox="true"/>
          <p:nvPr/>
        </p:nvSpPr>
        <p:spPr>
          <a:xfrm rot="0">
            <a:off x="685800" y="657225"/>
            <a:ext cx="57150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>
                <a:solidFill>
                  <a:srgbClr val="087F8C"/>
                </a:solidFill>
                <a:latin typeface="Arimo Bold"/>
                <a:ea typeface="Arimo Bold"/>
                <a:cs typeface="Arimo Bold"/>
                <a:sym typeface="Arimo Bold"/>
              </a:rPr>
              <a:t>CONCEPTO</a:t>
            </a:r>
          </a:p>
        </p:txBody>
      </p:sp>
      <p:grpSp>
        <p:nvGrpSpPr>
          <p:cNvPr name="Group 7" id="7"/>
          <p:cNvGrpSpPr/>
          <p:nvPr/>
        </p:nvGrpSpPr>
        <p:grpSpPr>
          <a:xfrm rot="0">
            <a:off x="666750" y="7048500"/>
            <a:ext cx="7620000" cy="1905000"/>
            <a:chOff x="0" y="0"/>
            <a:chExt cx="10160000" cy="254000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10160000" cy="2540000"/>
            </a:xfrm>
            <a:custGeom>
              <a:avLst/>
              <a:gdLst/>
              <a:ahLst/>
              <a:cxnLst/>
              <a:rect r="r" b="b" t="t" l="l"/>
              <a:pathLst>
                <a:path h="2540000" w="10160000">
                  <a:moveTo>
                    <a:pt x="254000" y="0"/>
                  </a:moveTo>
                  <a:lnTo>
                    <a:pt x="9906000" y="0"/>
                  </a:lnTo>
                  <a:cubicBezTo>
                    <a:pt x="10046281" y="0"/>
                    <a:pt x="10160000" y="113720"/>
                    <a:pt x="10160000" y="254000"/>
                  </a:cubicBezTo>
                  <a:lnTo>
                    <a:pt x="10160000" y="2286000"/>
                  </a:lnTo>
                  <a:cubicBezTo>
                    <a:pt x="10160000" y="2426280"/>
                    <a:pt x="10046281" y="2540000"/>
                    <a:pt x="9906000" y="2540000"/>
                  </a:cubicBezTo>
                  <a:lnTo>
                    <a:pt x="254000" y="2540000"/>
                  </a:lnTo>
                  <a:cubicBezTo>
                    <a:pt x="113720" y="2540000"/>
                    <a:pt x="0" y="2426280"/>
                    <a:pt x="0" y="2286000"/>
                  </a:cubicBezTo>
                  <a:lnTo>
                    <a:pt x="0" y="254000"/>
                  </a:lnTo>
                  <a:cubicBezTo>
                    <a:pt x="0" y="113720"/>
                    <a:pt x="113720" y="0"/>
                    <a:pt x="254000" y="0"/>
                  </a:cubicBezTo>
                  <a:close/>
                </a:path>
              </a:pathLst>
            </a:custGeom>
            <a:solidFill>
              <a:srgbClr val="071D30"/>
            </a:solidFill>
          </p:spPr>
        </p:sp>
        <p:sp>
          <p:nvSpPr>
            <p:cNvPr name="TextBox 9" id="9"/>
            <p:cNvSpPr txBox="true"/>
            <p:nvPr/>
          </p:nvSpPr>
          <p:spPr>
            <a:xfrm>
              <a:off x="0" y="-38100"/>
              <a:ext cx="10160000" cy="2578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666750" y="7239000"/>
            <a:ext cx="114300" cy="1524000"/>
            <a:chOff x="0" y="0"/>
            <a:chExt cx="152400" cy="203200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152400" cy="2032000"/>
            </a:xfrm>
            <a:custGeom>
              <a:avLst/>
              <a:gdLst/>
              <a:ahLst/>
              <a:cxnLst/>
              <a:rect r="r" b="b" t="t" l="l"/>
              <a:pathLst>
                <a:path h="2032000" w="152400">
                  <a:moveTo>
                    <a:pt x="0" y="0"/>
                  </a:moveTo>
                  <a:lnTo>
                    <a:pt x="152400" y="0"/>
                  </a:lnTo>
                  <a:lnTo>
                    <a:pt x="152400" y="2032000"/>
                  </a:lnTo>
                  <a:lnTo>
                    <a:pt x="0" y="2032000"/>
                  </a:lnTo>
                  <a:close/>
                </a:path>
              </a:pathLst>
            </a:custGeom>
            <a:solidFill>
              <a:srgbClr val="F5B82E"/>
            </a:solid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38100"/>
              <a:ext cx="152400" cy="2070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3" id="13"/>
          <p:cNvSpPr txBox="true"/>
          <p:nvPr/>
        </p:nvSpPr>
        <p:spPr>
          <a:xfrm rot="0">
            <a:off x="1095375" y="7277100"/>
            <a:ext cx="66675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>
                <a:solidFill>
                  <a:srgbClr val="F5B82E"/>
                </a:solidFill>
                <a:latin typeface="Arimo Bold"/>
                <a:ea typeface="Arimo Bold"/>
                <a:cs typeface="Arimo Bold"/>
                <a:sym typeface="Arimo Bold"/>
              </a:rPr>
              <a:t>IDEA CLAVE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1095375" y="7772400"/>
            <a:ext cx="6858000" cy="8439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60"/>
              </a:lnSpc>
            </a:pPr>
            <a:r>
              <a:rPr lang="en-US" sz="2200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Recortar la imagen quitaría el contexto de posición y escala que Surya aprendió.</a:t>
            </a:r>
          </a:p>
        </p:txBody>
      </p:sp>
      <p:grpSp>
        <p:nvGrpSpPr>
          <p:cNvPr name="Group 15" id="15"/>
          <p:cNvGrpSpPr/>
          <p:nvPr/>
        </p:nvGrpSpPr>
        <p:grpSpPr>
          <a:xfrm rot="0">
            <a:off x="8991600" y="9429750"/>
            <a:ext cx="9296400" cy="857250"/>
            <a:chOff x="0" y="0"/>
            <a:chExt cx="12395200" cy="114300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12395200" cy="1143000"/>
            </a:xfrm>
            <a:custGeom>
              <a:avLst/>
              <a:gdLst/>
              <a:ahLst/>
              <a:cxnLst/>
              <a:rect r="r" b="b" t="t" l="l"/>
              <a:pathLst>
                <a:path h="1143000" w="12395200">
                  <a:moveTo>
                    <a:pt x="0" y="0"/>
                  </a:moveTo>
                  <a:lnTo>
                    <a:pt x="12395200" y="0"/>
                  </a:lnTo>
                  <a:lnTo>
                    <a:pt x="12395200" y="1143000"/>
                  </a:lnTo>
                  <a:lnTo>
                    <a:pt x="0" y="1143000"/>
                  </a:lnTo>
                  <a:close/>
                </a:path>
              </a:pathLst>
            </a:custGeom>
            <a:solidFill>
              <a:srgbClr val="071D30">
                <a:alpha val="74902"/>
              </a:srgbClr>
            </a:solidFill>
          </p:spPr>
        </p:sp>
        <p:sp>
          <p:nvSpPr>
            <p:cNvPr name="TextBox 17" id="17"/>
            <p:cNvSpPr txBox="true"/>
            <p:nvPr/>
          </p:nvSpPr>
          <p:spPr>
            <a:xfrm>
              <a:off x="0" y="-38100"/>
              <a:ext cx="12395200" cy="1181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8" id="18"/>
          <p:cNvSpPr txBox="true"/>
          <p:nvPr/>
        </p:nvSpPr>
        <p:spPr>
          <a:xfrm rot="0">
            <a:off x="9334500" y="9696450"/>
            <a:ext cx="8572500" cy="2419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350">
                <a:solidFill>
                  <a:srgbClr val="F5F7FA"/>
                </a:solidFill>
                <a:latin typeface="Arimo"/>
                <a:ea typeface="Arimo"/>
                <a:cs typeface="Arimo"/>
                <a:sym typeface="Arimo"/>
              </a:rPr>
              <a:t>Imagen: norma L2 de los tokens antes y después del pooling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666750" y="9772650"/>
            <a:ext cx="5905500" cy="224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84"/>
              </a:lnSpc>
            </a:pPr>
            <a:r>
              <a:rPr lang="en-US" sz="1275" b="true">
                <a:solidFill>
                  <a:srgbClr val="53697A"/>
                </a:solidFill>
                <a:latin typeface="Arimo Bold"/>
                <a:ea typeface="Arimo Bold"/>
                <a:cs typeface="Arimo Bold"/>
                <a:sym typeface="Arimo Bold"/>
              </a:rPr>
              <a:t>HELIODATA ACADEMY 2026  ·  ESCUELA DE ASTROFÍSICA SOLAR</a:t>
            </a:r>
          </a:p>
        </p:txBody>
      </p:sp>
      <p:sp>
        <p:nvSpPr>
          <p:cNvPr name="Freeform 20" id="20" descr="Logo GoSA"/>
          <p:cNvSpPr/>
          <p:nvPr/>
        </p:nvSpPr>
        <p:spPr>
          <a:xfrm flipH="false" flipV="false" rot="0">
            <a:off x="6858000" y="9734550"/>
            <a:ext cx="819150" cy="381000"/>
          </a:xfrm>
          <a:custGeom>
            <a:avLst/>
            <a:gdLst/>
            <a:ahLst/>
            <a:cxnLst/>
            <a:rect r="r" b="b" t="t" l="l"/>
            <a:pathLst>
              <a:path h="381000" w="819150">
                <a:moveTo>
                  <a:pt x="0" y="0"/>
                </a:moveTo>
                <a:lnTo>
                  <a:pt x="819150" y="0"/>
                </a:lnTo>
                <a:lnTo>
                  <a:pt x="819150" y="381000"/>
                </a:lnTo>
                <a:lnTo>
                  <a:pt x="0" y="381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-307" r="0" b="-307"/>
            </a:stretch>
          </a:blipFill>
        </p:spPr>
      </p:sp>
      <p:sp>
        <p:nvSpPr>
          <p:cNvPr name="Freeform 21" id="21" descr="Logo Observatorio Astronómico Nacional"/>
          <p:cNvSpPr/>
          <p:nvPr/>
        </p:nvSpPr>
        <p:spPr>
          <a:xfrm flipH="false" flipV="false" rot="0">
            <a:off x="7829550" y="9715500"/>
            <a:ext cx="457200" cy="428625"/>
          </a:xfrm>
          <a:custGeom>
            <a:avLst/>
            <a:gdLst/>
            <a:ahLst/>
            <a:cxnLst/>
            <a:rect r="r" b="b" t="t" l="l"/>
            <a:pathLst>
              <a:path h="428625" w="457200">
                <a:moveTo>
                  <a:pt x="0" y="0"/>
                </a:moveTo>
                <a:lnTo>
                  <a:pt x="457200" y="0"/>
                </a:lnTo>
                <a:lnTo>
                  <a:pt x="45720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-328" t="0" r="-328" b="0"/>
            </a:stretch>
          </a:blipFill>
        </p:spPr>
      </p:sp>
      <p:pic>
        <p:nvPicPr>
          <p:cNvPr id="22" name="Picture 21" descr="clase_dummy_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32000" y="3053248"/>
            <a:ext cx="8424000" cy="3325504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D30"/>
        </a:solidFill>
      </p:bgPr>
    </p:bg>
    <p:spTree>
      <p:nvGrpSpPr>
        <p:cNvPr id="1" name=""/>
        <p:cNvGrpSpPr/>
        <p:nvPr/>
      </p:nvGrpSpPr>
      <p:grpSpPr/>
      <p:sp>
        <p:nvSpPr>
          <p:cNvPr name="TextBox 2" id="2"/>
          <p:cNvSpPr txBox="true"/>
          <p:nvPr/>
        </p:nvSpPr>
        <p:spPr>
          <a:xfrm rot="0">
            <a:off x="17259300" y="9220200"/>
            <a:ext cx="152400" cy="190500"/>
          </a:xfrm>
          <a:prstGeom prst="rect">
            <a:avLst/>
          </a:prstGeom>
        </p:spPr>
        <p:txBody>
          <a:bodyPr anchor="t" rtlCol="false" tIns="0" lIns="0" bIns="0" rIns="0" wrap="none">
            <a:spAutoFit/>
          </a:bodyPr>
          <a:lstStyle/>
          <a:p>
            <a:pPr algn="ctr">
              <a:lnSpc>
                <a:spcPts val="2800"/>
              </a:lnSpc>
              <a:spcBef>
                <a:spcPct val="0"/>
              </a:spcBef>
            </a:pPr>
            <a:r>
              <a:rPr lang="en-US" sz="2000">
                <a:solidFill>
                  <a:srgbClr val="F5F7FA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19</a:t>
            </a:r>
          </a:p>
        </p:txBody>
      </p:sp>
      <p:grpSp>
        <p:nvGrpSpPr>
          <p:cNvPr name="Group 3" id="3"/>
          <p:cNvGrpSpPr/>
          <p:nvPr/>
        </p:nvGrpSpPr>
        <p:grpSpPr>
          <a:xfrm rot="0">
            <a:off x="666750" y="666750"/>
            <a:ext cx="16954500" cy="8953500"/>
            <a:chOff x="0" y="0"/>
            <a:chExt cx="4465383" cy="2358123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4465383" cy="2358124"/>
            </a:xfrm>
            <a:custGeom>
              <a:avLst/>
              <a:gdLst/>
              <a:ahLst/>
              <a:cxnLst/>
              <a:rect r="r" b="b" t="t" l="l"/>
              <a:pathLst>
                <a:path h="2358124" w="4465383">
                  <a:moveTo>
                    <a:pt x="20548" y="0"/>
                  </a:moveTo>
                  <a:lnTo>
                    <a:pt x="4444835" y="0"/>
                  </a:lnTo>
                  <a:cubicBezTo>
                    <a:pt x="4456183" y="0"/>
                    <a:pt x="4465383" y="9200"/>
                    <a:pt x="4465383" y="20548"/>
                  </a:cubicBezTo>
                  <a:lnTo>
                    <a:pt x="4465383" y="2337575"/>
                  </a:lnTo>
                  <a:cubicBezTo>
                    <a:pt x="4465383" y="2348924"/>
                    <a:pt x="4456183" y="2358124"/>
                    <a:pt x="4444835" y="2358124"/>
                  </a:cubicBezTo>
                  <a:lnTo>
                    <a:pt x="20548" y="2358124"/>
                  </a:lnTo>
                  <a:cubicBezTo>
                    <a:pt x="9200" y="2358124"/>
                    <a:pt x="0" y="2348924"/>
                    <a:pt x="0" y="2337575"/>
                  </a:cubicBezTo>
                  <a:lnTo>
                    <a:pt x="0" y="20548"/>
                  </a:lnTo>
                  <a:cubicBezTo>
                    <a:pt x="0" y="9200"/>
                    <a:pt x="9200" y="0"/>
                    <a:pt x="20548" y="0"/>
                  </a:cubicBezTo>
                  <a:close/>
                </a:path>
              </a:pathLst>
            </a:custGeom>
            <a:solidFill>
              <a:srgbClr val="087F8C"/>
            </a:solidFill>
            <a:ln cap="rnd">
              <a:noFill/>
              <a:prstDash val="solid"/>
              <a:round/>
            </a:ln>
          </p:spPr>
        </p:sp>
        <p:sp>
          <p:nvSpPr>
            <p:cNvPr name="TextBox 5" id="5"/>
            <p:cNvSpPr txBox="true"/>
            <p:nvPr/>
          </p:nvSpPr>
          <p:spPr>
            <a:xfrm>
              <a:off x="0" y="-38100"/>
              <a:ext cx="4465383" cy="239622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3359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6" id="6"/>
          <p:cNvGrpSpPr/>
          <p:nvPr/>
        </p:nvGrpSpPr>
        <p:grpSpPr>
          <a:xfrm rot="0">
            <a:off x="1800225" y="1562100"/>
            <a:ext cx="12944475" cy="2067009"/>
            <a:chOff x="0" y="0"/>
            <a:chExt cx="17259300" cy="2756012"/>
          </a:xfrm>
        </p:grpSpPr>
        <p:sp>
          <p:nvSpPr>
            <p:cNvPr name="TextBox 7" id="7"/>
            <p:cNvSpPr txBox="true"/>
            <p:nvPr/>
          </p:nvSpPr>
          <p:spPr>
            <a:xfrm rot="0">
              <a:off x="0" y="-85725"/>
              <a:ext cx="17259300" cy="1702858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10400"/>
                </a:lnSpc>
                <a:spcBef>
                  <a:spcPct val="0"/>
                </a:spcBef>
              </a:pPr>
              <a:r>
                <a:rPr lang="en-US" sz="8000" spc="-240" strike="noStrike" u="none">
                  <a:solidFill>
                    <a:srgbClr val="F5B82E"/>
                  </a:solidFill>
                  <a:latin typeface="Georgia Pro Condensed"/>
                  <a:ea typeface="Georgia Pro Condensed"/>
                  <a:cs typeface="Georgia Pro Condensed"/>
                  <a:sym typeface="Georgia Pro Condensed"/>
                </a:rPr>
                <a:t>Dos fuentes de texto</a:t>
              </a:r>
            </a:p>
          </p:txBody>
        </p:sp>
        <p:sp>
          <p:nvSpPr>
            <p:cNvPr name="TextBox 8" id="8"/>
            <p:cNvSpPr txBox="true"/>
            <p:nvPr/>
          </p:nvSpPr>
          <p:spPr>
            <a:xfrm rot="0">
              <a:off x="0" y="2197212"/>
              <a:ext cx="17259300" cy="5588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000"/>
                </a:lnSpc>
                <a:spcBef>
                  <a:spcPct val="0"/>
                </a:spcBef>
              </a:pPr>
              <a:r>
                <a:rPr lang="en-US" b="true" sz="2500" spc="-37" strike="noStrike" u="none">
                  <a:solidFill>
                    <a:srgbClr val="F5F7FA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Para entrenar hacen falta pares observación–descripción</a:t>
              </a:r>
            </a:p>
          </p:txBody>
        </p:sp>
      </p:grpSp>
      <p:grpSp>
        <p:nvGrpSpPr>
          <p:cNvPr name="Group 9" id="9"/>
          <p:cNvGrpSpPr/>
          <p:nvPr/>
        </p:nvGrpSpPr>
        <p:grpSpPr>
          <a:xfrm rot="0">
            <a:off x="1800225" y="5143500"/>
            <a:ext cx="5753100" cy="1844675"/>
            <a:chOff x="0" y="0"/>
            <a:chExt cx="7670800" cy="2459567"/>
          </a:xfrm>
        </p:grpSpPr>
        <p:sp>
          <p:nvSpPr>
            <p:cNvPr name="TextBox 10" id="10"/>
            <p:cNvSpPr txBox="true"/>
            <p:nvPr/>
          </p:nvSpPr>
          <p:spPr>
            <a:xfrm rot="0">
              <a:off x="0" y="9525"/>
              <a:ext cx="7670800" cy="52387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2999"/>
                </a:lnSpc>
                <a:spcBef>
                  <a:spcPct val="0"/>
                </a:spcBef>
              </a:pPr>
              <a:r>
                <a:rPr lang="en-US" b="true" sz="2499" spc="-37" strike="noStrike" u="none">
                  <a:solidFill>
                    <a:srgbClr val="F5F7FA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Artículos</a:t>
              </a:r>
            </a:p>
          </p:txBody>
        </p:sp>
        <p:sp>
          <p:nvSpPr>
            <p:cNvPr name="TextBox 11" id="11"/>
            <p:cNvSpPr txBox="true"/>
            <p:nvPr/>
          </p:nvSpPr>
          <p:spPr>
            <a:xfrm rot="0">
              <a:off x="0" y="1079500"/>
              <a:ext cx="7670800" cy="138006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2800"/>
                </a:lnSpc>
                <a:spcBef>
                  <a:spcPct val="0"/>
                </a:spcBef>
              </a:pPr>
              <a:r>
                <a:rPr lang="en-US" sz="2000" spc="-30" strike="noStrike" u="none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• Figuras y textos de la literatura</a:t>
              </a:r>
            </a:p>
            <a:p>
              <a:pPr algn="l" marL="0" indent="0" lvl="0">
                <a:lnSpc>
                  <a:spcPts val="2800"/>
                </a:lnSpc>
                <a:spcBef>
                  <a:spcPct val="0"/>
                </a:spcBef>
              </a:pPr>
              <a:r>
                <a:rPr lang="en-US" sz="2000" spc="-30" strike="noStrike" u="none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• Hay que re-consultar la observación</a:t>
              </a:r>
            </a:p>
            <a:p>
              <a:pPr algn="l" marL="0" indent="0" lvl="0">
                <a:lnSpc>
                  <a:spcPts val="2800"/>
                </a:lnSpc>
                <a:spcBef>
                  <a:spcPct val="0"/>
                </a:spcBef>
              </a:pPr>
              <a:r>
                <a:rPr lang="en-US" sz="2000" spc="-30" strike="noStrike" u="none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• Pocos pares y metadatos ruidosos</a:t>
              </a:r>
            </a:p>
          </p:txBody>
        </p:sp>
      </p:grpSp>
      <p:grpSp>
        <p:nvGrpSpPr>
          <p:cNvPr name="Group 12" id="12"/>
          <p:cNvGrpSpPr/>
          <p:nvPr/>
        </p:nvGrpSpPr>
        <p:grpSpPr>
          <a:xfrm rot="0">
            <a:off x="9296400" y="5143500"/>
            <a:ext cx="5448300" cy="1844675"/>
            <a:chOff x="0" y="0"/>
            <a:chExt cx="7264400" cy="2459567"/>
          </a:xfrm>
        </p:grpSpPr>
        <p:sp>
          <p:nvSpPr>
            <p:cNvPr name="TextBox 13" id="13"/>
            <p:cNvSpPr txBox="true"/>
            <p:nvPr/>
          </p:nvSpPr>
          <p:spPr>
            <a:xfrm rot="0">
              <a:off x="0" y="9525"/>
              <a:ext cx="7264400" cy="52387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2999"/>
                </a:lnSpc>
                <a:spcBef>
                  <a:spcPct val="0"/>
                </a:spcBef>
              </a:pPr>
              <a:r>
                <a:rPr lang="en-US" b="true" sz="2499" spc="-37" strike="noStrike" u="none">
                  <a:solidFill>
                    <a:srgbClr val="F5F7FA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Catálogo (HEK, NOAA)</a:t>
              </a:r>
            </a:p>
          </p:txBody>
        </p:sp>
        <p:sp>
          <p:nvSpPr>
            <p:cNvPr name="TextBox 14" id="14"/>
            <p:cNvSpPr txBox="true"/>
            <p:nvPr/>
          </p:nvSpPr>
          <p:spPr>
            <a:xfrm rot="0">
              <a:off x="0" y="1079500"/>
              <a:ext cx="7264400" cy="138006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2800"/>
                </a:lnSpc>
                <a:spcBef>
                  <a:spcPct val="0"/>
                </a:spcBef>
              </a:pPr>
              <a:r>
                <a:rPr lang="en-US" sz="2000" spc="-30" strike="noStrike" u="none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• Posición, manchas y clases</a:t>
              </a:r>
            </a:p>
            <a:p>
              <a:pPr algn="l" marL="0" indent="0" lvl="0">
                <a:lnSpc>
                  <a:spcPts val="2800"/>
                </a:lnSpc>
                <a:spcBef>
                  <a:spcPct val="0"/>
                </a:spcBef>
              </a:pPr>
              <a:r>
                <a:rPr lang="en-US" sz="2000" spc="-30" strike="noStrike" u="none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• Captions con plantilla fija, sin LLM</a:t>
              </a:r>
            </a:p>
            <a:p>
              <a:pPr algn="l" marL="0" indent="0" lvl="0">
                <a:lnSpc>
                  <a:spcPts val="2800"/>
                </a:lnSpc>
                <a:spcBef>
                  <a:spcPct val="0"/>
                </a:spcBef>
              </a:pPr>
              <a:r>
                <a:rPr lang="en-US" sz="2000" spc="-30" strike="noStrike" u="none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• Muchos pares, texto repetitivo</a:t>
              </a:r>
            </a:p>
          </p:txBody>
        </p:sp>
      </p:grpSp>
      <p:grpSp>
        <p:nvGrpSpPr>
          <p:cNvPr name="Group 15" id="15"/>
          <p:cNvGrpSpPr/>
          <p:nvPr/>
        </p:nvGrpSpPr>
        <p:grpSpPr>
          <a:xfrm rot="0">
            <a:off x="8572500" y="5143500"/>
            <a:ext cx="28575" cy="2381250"/>
            <a:chOff x="0" y="0"/>
            <a:chExt cx="38100" cy="317500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38100" cy="3175000"/>
            </a:xfrm>
            <a:custGeom>
              <a:avLst/>
              <a:gdLst/>
              <a:ahLst/>
              <a:cxnLst/>
              <a:rect r="r" b="b" t="t" l="l"/>
              <a:pathLst>
                <a:path h="3175000" w="38100">
                  <a:moveTo>
                    <a:pt x="0" y="0"/>
                  </a:moveTo>
                  <a:lnTo>
                    <a:pt x="38100" y="0"/>
                  </a:lnTo>
                  <a:lnTo>
                    <a:pt x="38100" y="3175000"/>
                  </a:lnTo>
                  <a:lnTo>
                    <a:pt x="0" y="3175000"/>
                  </a:lnTo>
                  <a:close/>
                </a:path>
              </a:pathLst>
            </a:custGeom>
            <a:solidFill>
              <a:srgbClr val="F5B82E"/>
            </a:solidFill>
          </p:spPr>
        </p:sp>
        <p:sp>
          <p:nvSpPr>
            <p:cNvPr name="TextBox 17" id="17"/>
            <p:cNvSpPr txBox="true"/>
            <p:nvPr/>
          </p:nvSpPr>
          <p:spPr>
            <a:xfrm>
              <a:off x="0" y="-38100"/>
              <a:ext cx="38100" cy="3213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8" id="18"/>
          <p:cNvGrpSpPr/>
          <p:nvPr/>
        </p:nvGrpSpPr>
        <p:grpSpPr>
          <a:xfrm rot="0">
            <a:off x="1800225" y="8001000"/>
            <a:ext cx="12944475" cy="952500"/>
            <a:chOff x="0" y="0"/>
            <a:chExt cx="17259300" cy="1270000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17259300" cy="1270000"/>
            </a:xfrm>
            <a:custGeom>
              <a:avLst/>
              <a:gdLst/>
              <a:ahLst/>
              <a:cxnLst/>
              <a:rect r="r" b="b" t="t" l="l"/>
              <a:pathLst>
                <a:path h="1270000" w="17259300">
                  <a:moveTo>
                    <a:pt x="203200" y="0"/>
                  </a:moveTo>
                  <a:lnTo>
                    <a:pt x="17056100" y="0"/>
                  </a:lnTo>
                  <a:cubicBezTo>
                    <a:pt x="17168324" y="0"/>
                    <a:pt x="17259300" y="90976"/>
                    <a:pt x="17259300" y="203200"/>
                  </a:cubicBezTo>
                  <a:lnTo>
                    <a:pt x="17259300" y="1066800"/>
                  </a:lnTo>
                  <a:cubicBezTo>
                    <a:pt x="17259300" y="1179024"/>
                    <a:pt x="17168324" y="1270000"/>
                    <a:pt x="17056100" y="1270000"/>
                  </a:cubicBezTo>
                  <a:lnTo>
                    <a:pt x="203200" y="1270000"/>
                  </a:lnTo>
                  <a:cubicBezTo>
                    <a:pt x="90976" y="1270000"/>
                    <a:pt x="0" y="1179024"/>
                    <a:pt x="0" y="1066800"/>
                  </a:cubicBezTo>
                  <a:lnTo>
                    <a:pt x="0" y="203200"/>
                  </a:lnTo>
                  <a:cubicBezTo>
                    <a:pt x="0" y="90976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71D30"/>
            </a:solidFill>
          </p:spPr>
        </p:sp>
        <p:sp>
          <p:nvSpPr>
            <p:cNvPr name="TextBox 20" id="20"/>
            <p:cNvSpPr txBox="true"/>
            <p:nvPr/>
          </p:nvSpPr>
          <p:spPr>
            <a:xfrm>
              <a:off x="0" y="-38100"/>
              <a:ext cx="17259300" cy="1308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21" id="21"/>
          <p:cNvSpPr txBox="true"/>
          <p:nvPr/>
        </p:nvSpPr>
        <p:spPr>
          <a:xfrm rot="0">
            <a:off x="2143125" y="8229600"/>
            <a:ext cx="12382500" cy="4000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149"/>
              </a:lnSpc>
            </a:pPr>
            <a:r>
              <a:rPr lang="en-US" sz="2250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CONCLUSIÓN   El prototipo usa el catálogo; los artículos llegan cuando el pipeline madure.</a:t>
            </a:r>
          </a:p>
        </p:txBody>
      </p:sp>
      <p:grpSp>
        <p:nvGrpSpPr>
          <p:cNvPr name="Group 22" id="22"/>
          <p:cNvGrpSpPr/>
          <p:nvPr/>
        </p:nvGrpSpPr>
        <p:grpSpPr>
          <a:xfrm rot="0">
            <a:off x="15049500" y="1238250"/>
            <a:ext cx="1905000" cy="1905000"/>
            <a:chOff x="0" y="0"/>
            <a:chExt cx="2540000" cy="2540000"/>
          </a:xfrm>
        </p:grpSpPr>
        <p:sp>
          <p:nvSpPr>
            <p:cNvPr name="Freeform 23" id="23"/>
            <p:cNvSpPr/>
            <p:nvPr/>
          </p:nvSpPr>
          <p:spPr>
            <a:xfrm flipH="false" flipV="false" rot="0">
              <a:off x="285750" y="285750"/>
              <a:ext cx="1968500" cy="1968500"/>
            </a:xfrm>
            <a:custGeom>
              <a:avLst/>
              <a:gdLst/>
              <a:ahLst/>
              <a:cxnLst/>
              <a:rect r="r" b="b" t="t" l="l"/>
              <a:pathLst>
                <a:path h="1968500" w="1968500">
                  <a:moveTo>
                    <a:pt x="423333" y="984250"/>
                  </a:moveTo>
                  <a:cubicBezTo>
                    <a:pt x="423333" y="1294036"/>
                    <a:pt x="674464" y="1545167"/>
                    <a:pt x="984250" y="1545167"/>
                  </a:cubicBezTo>
                  <a:cubicBezTo>
                    <a:pt x="1294036" y="1545167"/>
                    <a:pt x="1545167" y="1294036"/>
                    <a:pt x="1545167" y="984250"/>
                  </a:cubicBezTo>
                  <a:cubicBezTo>
                    <a:pt x="1545167" y="674464"/>
                    <a:pt x="1294036" y="423333"/>
                    <a:pt x="984250" y="423333"/>
                  </a:cubicBezTo>
                  <a:cubicBezTo>
                    <a:pt x="674464" y="423333"/>
                    <a:pt x="423333" y="674464"/>
                    <a:pt x="423333" y="984250"/>
                  </a:cubicBezTo>
                  <a:close/>
                  <a:moveTo>
                    <a:pt x="1917700" y="401108"/>
                  </a:moveTo>
                  <a:cubicBezTo>
                    <a:pt x="1852103" y="289672"/>
                    <a:pt x="1611364" y="298681"/>
                    <a:pt x="1287048" y="424711"/>
                  </a:cubicBezTo>
                  <a:cubicBezTo>
                    <a:pt x="962732" y="550740"/>
                    <a:pt x="604683" y="774419"/>
                    <a:pt x="349085" y="1010672"/>
                  </a:cubicBezTo>
                  <a:cubicBezTo>
                    <a:pt x="93487" y="1246925"/>
                    <a:pt x="-20378" y="1459442"/>
                    <a:pt x="50800" y="1567392"/>
                  </a:cubicBezTo>
                  <a:cubicBezTo>
                    <a:pt x="116397" y="1678828"/>
                    <a:pt x="357136" y="1669819"/>
                    <a:pt x="681452" y="1543789"/>
                  </a:cubicBezTo>
                  <a:cubicBezTo>
                    <a:pt x="1005768" y="1417760"/>
                    <a:pt x="1363817" y="1194081"/>
                    <a:pt x="1619415" y="957828"/>
                  </a:cubicBezTo>
                  <a:cubicBezTo>
                    <a:pt x="1875013" y="721575"/>
                    <a:pt x="1988878" y="509058"/>
                    <a:pt x="1917700" y="401108"/>
                  </a:cubicBezTo>
                  <a:close/>
                  <a:moveTo>
                    <a:pt x="984250" y="169333"/>
                  </a:moveTo>
                  <a:lnTo>
                    <a:pt x="984250" y="0"/>
                  </a:lnTo>
                  <a:moveTo>
                    <a:pt x="984250" y="1968500"/>
                  </a:moveTo>
                  <a:lnTo>
                    <a:pt x="984250" y="1799167"/>
                  </a:lnTo>
                  <a:moveTo>
                    <a:pt x="169333" y="984250"/>
                  </a:moveTo>
                  <a:lnTo>
                    <a:pt x="0" y="984250"/>
                  </a:lnTo>
                  <a:moveTo>
                    <a:pt x="1968500" y="984250"/>
                  </a:moveTo>
                  <a:lnTo>
                    <a:pt x="1799167" y="984250"/>
                  </a:lnTo>
                  <a:moveTo>
                    <a:pt x="412750" y="412750"/>
                  </a:moveTo>
                  <a:lnTo>
                    <a:pt x="296333" y="296333"/>
                  </a:lnTo>
                  <a:moveTo>
                    <a:pt x="1555750" y="1555750"/>
                  </a:moveTo>
                  <a:lnTo>
                    <a:pt x="1672167" y="1672167"/>
                  </a:lnTo>
                  <a:moveTo>
                    <a:pt x="465667" y="1058333"/>
                  </a:moveTo>
                  <a:lnTo>
                    <a:pt x="698500" y="1058333"/>
                  </a:lnTo>
                  <a:lnTo>
                    <a:pt x="814917" y="814917"/>
                  </a:lnTo>
                  <a:lnTo>
                    <a:pt x="994833" y="1238250"/>
                  </a:lnTo>
                  <a:lnTo>
                    <a:pt x="1153583" y="920750"/>
                  </a:lnTo>
                  <a:lnTo>
                    <a:pt x="1259417" y="1058333"/>
                  </a:lnTo>
                  <a:lnTo>
                    <a:pt x="1513417" y="1058333"/>
                  </a:lnTo>
                </a:path>
              </a:pathLst>
            </a:custGeom>
            <a:ln w="47625" cap="sq">
              <a:solidFill>
                <a:srgbClr val="F5B82E"/>
              </a:solidFill>
              <a:prstDash val="solid"/>
              <a:miter/>
            </a:ln>
          </p:spPr>
        </p:sp>
        <p:sp>
          <p:nvSpPr>
            <p:cNvPr name="TextBox 24" id="24"/>
            <p:cNvSpPr txBox="true"/>
            <p:nvPr/>
          </p:nvSpPr>
          <p:spPr>
            <a:xfrm>
              <a:off x="0" y="-38100"/>
              <a:ext cx="2540000" cy="2578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25" id="25"/>
          <p:cNvGrpSpPr/>
          <p:nvPr/>
        </p:nvGrpSpPr>
        <p:grpSpPr>
          <a:xfrm rot="0">
            <a:off x="15049500" y="1238250"/>
            <a:ext cx="1905000" cy="1905000"/>
            <a:chOff x="0" y="0"/>
            <a:chExt cx="2540000" cy="2540000"/>
          </a:xfrm>
        </p:grpSpPr>
        <p:sp>
          <p:nvSpPr>
            <p:cNvPr name="Freeform 26" id="26"/>
            <p:cNvSpPr/>
            <p:nvPr/>
          </p:nvSpPr>
          <p:spPr>
            <a:xfrm flipH="false" flipV="false" rot="0">
              <a:off x="1820333" y="328083"/>
              <a:ext cx="338667" cy="338667"/>
            </a:xfrm>
            <a:custGeom>
              <a:avLst/>
              <a:gdLst/>
              <a:ahLst/>
              <a:cxnLst/>
              <a:rect r="r" b="b" t="t" l="l"/>
              <a:pathLst>
                <a:path h="338667" w="338667">
                  <a:moveTo>
                    <a:pt x="169334" y="0"/>
                  </a:moveTo>
                  <a:lnTo>
                    <a:pt x="211667" y="127000"/>
                  </a:lnTo>
                  <a:lnTo>
                    <a:pt x="338667" y="169334"/>
                  </a:lnTo>
                  <a:lnTo>
                    <a:pt x="211667" y="211667"/>
                  </a:lnTo>
                  <a:lnTo>
                    <a:pt x="169334" y="338667"/>
                  </a:lnTo>
                  <a:lnTo>
                    <a:pt x="127000" y="211667"/>
                  </a:lnTo>
                  <a:lnTo>
                    <a:pt x="0" y="169334"/>
                  </a:lnTo>
                  <a:lnTo>
                    <a:pt x="127000" y="127000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27" id="27"/>
            <p:cNvSpPr txBox="true"/>
            <p:nvPr/>
          </p:nvSpPr>
          <p:spPr>
            <a:xfrm>
              <a:off x="0" y="-38100"/>
              <a:ext cx="2540000" cy="2578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28" id="28"/>
          <p:cNvSpPr txBox="true"/>
          <p:nvPr/>
        </p:nvSpPr>
        <p:spPr>
          <a:xfrm rot="0">
            <a:off x="666750" y="9772650"/>
            <a:ext cx="9525000" cy="224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84"/>
              </a:lnSpc>
            </a:pPr>
            <a:r>
              <a:rPr lang="en-US" sz="1275" b="true">
                <a:solidFill>
                  <a:srgbClr val="9FB3C8"/>
                </a:solidFill>
                <a:latin typeface="Arimo Bold"/>
                <a:ea typeface="Arimo Bold"/>
                <a:cs typeface="Arimo Bold"/>
                <a:sym typeface="Arimo Bold"/>
              </a:rPr>
              <a:t>HELIODATA ACADEMY 2026  ·  ESCUELA DE ASTROFÍSICA SOLAR</a:t>
            </a:r>
          </a:p>
        </p:txBody>
      </p:sp>
      <p:sp>
        <p:nvSpPr>
          <p:cNvPr name="Freeform 29" id="29" descr="Logo GoSA"/>
          <p:cNvSpPr/>
          <p:nvPr/>
        </p:nvSpPr>
        <p:spPr>
          <a:xfrm flipH="false" flipV="false" rot="0">
            <a:off x="16192500" y="9753600"/>
            <a:ext cx="762000" cy="352425"/>
          </a:xfrm>
          <a:custGeom>
            <a:avLst/>
            <a:gdLst/>
            <a:ahLst/>
            <a:cxnLst/>
            <a:rect r="r" b="b" t="t" l="l"/>
            <a:pathLst>
              <a:path h="352425" w="762000">
                <a:moveTo>
                  <a:pt x="0" y="0"/>
                </a:moveTo>
                <a:lnTo>
                  <a:pt x="762000" y="0"/>
                </a:lnTo>
                <a:lnTo>
                  <a:pt x="762000" y="352425"/>
                </a:lnTo>
                <a:lnTo>
                  <a:pt x="0" y="352425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592" r="0" b="-592"/>
            </a:stretch>
          </a:blipFill>
        </p:spPr>
      </p:sp>
      <p:sp>
        <p:nvSpPr>
          <p:cNvPr name="Freeform 30" id="30" descr="Logo Observatorio Astronómico Nacional"/>
          <p:cNvSpPr/>
          <p:nvPr/>
        </p:nvSpPr>
        <p:spPr>
          <a:xfrm flipH="false" flipV="false" rot="0">
            <a:off x="17145000" y="9715500"/>
            <a:ext cx="457200" cy="428625"/>
          </a:xfrm>
          <a:custGeom>
            <a:avLst/>
            <a:gdLst/>
            <a:ahLst/>
            <a:cxnLst/>
            <a:rect r="r" b="b" t="t" l="l"/>
            <a:pathLst>
              <a:path h="428625" w="457200">
                <a:moveTo>
                  <a:pt x="0" y="0"/>
                </a:moveTo>
                <a:lnTo>
                  <a:pt x="457200" y="0"/>
                </a:lnTo>
                <a:lnTo>
                  <a:pt x="45720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328" t="0" r="-328" b="0"/>
            </a:stretch>
          </a:blipFill>
        </p:spPr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/>
      <p:sp>
        <p:nvSpPr>
          <p:cNvPr name="TextBox 2" id="2"/>
          <p:cNvSpPr txBox="true"/>
          <p:nvPr/>
        </p:nvSpPr>
        <p:spPr>
          <a:xfrm rot="0">
            <a:off x="666750" y="3676650"/>
            <a:ext cx="6886575" cy="12890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539748" indent="-269874" lvl="1">
              <a:lnSpc>
                <a:spcPts val="3499"/>
              </a:lnSpc>
              <a:spcBef>
                <a:spcPct val="0"/>
              </a:spcBef>
              <a:buFont typeface="Arial"/>
              <a:buChar char="•"/>
            </a:pPr>
            <a:r>
              <a:rPr lang="en-US" sz="2499" spc="-37" strike="noStrike" u="none" b="1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Surya</a:t>
            </a:r>
            <a:r>
              <a:rPr lang="en-US" sz="2499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congelado: 256 tokens de 1280 dimensiones</a:t>
            </a:r>
          </a:p>
          <a:p>
            <a:pPr algn="l" marL="539748" indent="-269874" lvl="1">
              <a:lnSpc>
                <a:spcPts val="3499"/>
              </a:lnSpc>
              <a:spcBef>
                <a:spcPct val="0"/>
              </a:spcBef>
              <a:buFont typeface="Arial"/>
              <a:buChar char="•"/>
            </a:pPr>
            <a:r>
              <a:rPr lang="en-US" sz="2499" spc="-37" strike="noStrike" u="none" b="1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Proyector MLP</a:t>
            </a:r>
            <a:r>
              <a:rPr lang="en-US" sz="2499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1280 → 4096 → GELU → 4096: </a:t>
            </a:r>
            <a:r>
              <a:rPr lang="en-US" sz="2499" spc="-37" strike="noStrike" u="none" b="1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22 M</a:t>
            </a:r>
            <a:r>
              <a:rPr lang="en-US" sz="2499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parámetros</a:t>
            </a:r>
          </a:p>
          <a:p>
            <a:pPr algn="l" marL="539748" indent="-269874" lvl="1">
              <a:lnSpc>
                <a:spcPts val="3499"/>
              </a:lnSpc>
              <a:spcBef>
                <a:spcPct val="0"/>
              </a:spcBef>
              <a:buFont typeface="Arial"/>
              <a:buChar char="•"/>
            </a:pPr>
            <a:r>
              <a:rPr lang="en-US" sz="2499" spc="-37" strike="noStrike" u="none" b="1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Qwen3-8B</a:t>
            </a:r>
            <a:r>
              <a:rPr lang="en-US" sz="2499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congelado lee los tokens visuales y escribe el caption</a:t>
            </a:r>
          </a:p>
          <a:p>
            <a:pPr algn="l" marL="539748" indent="-269874" lvl="1">
              <a:lnSpc>
                <a:spcPts val="3499"/>
              </a:lnSpc>
              <a:spcBef>
                <a:spcPct val="0"/>
              </a:spcBef>
              <a:buFont typeface="Arial"/>
              <a:buChar char="•"/>
            </a:pPr>
            <a:r>
              <a:rPr lang="en-US" sz="2499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La receta de LLaVA (Liu et al., 2023)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666750" y="1190625"/>
            <a:ext cx="6886575" cy="17049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6600"/>
              </a:lnSpc>
              <a:spcBef>
                <a:spcPct val="0"/>
              </a:spcBef>
            </a:pPr>
            <a:r>
              <a:rPr lang="en-US" sz="6000" spc="-179" strike="noStrike" u="none">
                <a:solidFill>
                  <a:srgbClr val="071D30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Surya + proyector + LLM</a:t>
            </a:r>
          </a:p>
        </p:txBody>
      </p:sp>
      <p:grpSp>
        <p:nvGrpSpPr>
          <p:cNvPr name="Group 4" id="4"/>
          <p:cNvGrpSpPr/>
          <p:nvPr/>
        </p:nvGrpSpPr>
        <p:grpSpPr>
          <a:xfrm rot="0">
            <a:off x="8991600" y="0"/>
            <a:ext cx="9296400" cy="10287000"/>
            <a:chOff x="0" y="0"/>
            <a:chExt cx="1220873" cy="1350966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1220873" cy="1350966"/>
            </a:xfrm>
            <a:custGeom>
              <a:avLst/>
              <a:gdLst/>
              <a:ahLst/>
              <a:cxnLst/>
              <a:rect r="r" b="b" t="t" l="l"/>
              <a:pathLst>
                <a:path h="1350966" w="1220873">
                  <a:moveTo>
                    <a:pt x="0" y="0"/>
                  </a:moveTo>
                  <a:lnTo>
                    <a:pt x="1220873" y="0"/>
                  </a:lnTo>
                  <a:lnTo>
                    <a:pt x="1220873" y="1350966"/>
                  </a:lnTo>
                  <a:lnTo>
                    <a:pt x="0" y="1350966"/>
                  </a:lnTo>
                  <a:close/>
                </a:path>
              </a:pathLst>
            </a:custGeom>
            <a:solidFill>
              <a:srgbClr val="071D30"/>
            </a:solidFill>
          </p:spPr>
        </p:sp>
      </p:grpSp>
      <p:sp>
        <p:nvSpPr>
          <p:cNvPr name="TextBox 6" id="6"/>
          <p:cNvSpPr txBox="true"/>
          <p:nvPr/>
        </p:nvSpPr>
        <p:spPr>
          <a:xfrm rot="0">
            <a:off x="685800" y="657225"/>
            <a:ext cx="57150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>
                <a:solidFill>
                  <a:srgbClr val="087F8C"/>
                </a:solidFill>
                <a:latin typeface="Arimo Bold"/>
                <a:ea typeface="Arimo Bold"/>
                <a:cs typeface="Arimo Bold"/>
                <a:sym typeface="Arimo Bold"/>
              </a:rPr>
              <a:t>ARQUITECTURA</a:t>
            </a:r>
          </a:p>
        </p:txBody>
      </p:sp>
      <p:grpSp>
        <p:nvGrpSpPr>
          <p:cNvPr name="Group 7" id="7"/>
          <p:cNvGrpSpPr/>
          <p:nvPr/>
        </p:nvGrpSpPr>
        <p:grpSpPr>
          <a:xfrm rot="0">
            <a:off x="666750" y="7048500"/>
            <a:ext cx="7620000" cy="1905000"/>
            <a:chOff x="0" y="0"/>
            <a:chExt cx="10160000" cy="254000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10160000" cy="2540000"/>
            </a:xfrm>
            <a:custGeom>
              <a:avLst/>
              <a:gdLst/>
              <a:ahLst/>
              <a:cxnLst/>
              <a:rect r="r" b="b" t="t" l="l"/>
              <a:pathLst>
                <a:path h="2540000" w="10160000">
                  <a:moveTo>
                    <a:pt x="254000" y="0"/>
                  </a:moveTo>
                  <a:lnTo>
                    <a:pt x="9906000" y="0"/>
                  </a:lnTo>
                  <a:cubicBezTo>
                    <a:pt x="10046281" y="0"/>
                    <a:pt x="10160000" y="113720"/>
                    <a:pt x="10160000" y="254000"/>
                  </a:cubicBezTo>
                  <a:lnTo>
                    <a:pt x="10160000" y="2286000"/>
                  </a:lnTo>
                  <a:cubicBezTo>
                    <a:pt x="10160000" y="2426280"/>
                    <a:pt x="10046281" y="2540000"/>
                    <a:pt x="9906000" y="2540000"/>
                  </a:cubicBezTo>
                  <a:lnTo>
                    <a:pt x="254000" y="2540000"/>
                  </a:lnTo>
                  <a:cubicBezTo>
                    <a:pt x="113720" y="2540000"/>
                    <a:pt x="0" y="2426280"/>
                    <a:pt x="0" y="2286000"/>
                  </a:cubicBezTo>
                  <a:lnTo>
                    <a:pt x="0" y="254000"/>
                  </a:lnTo>
                  <a:cubicBezTo>
                    <a:pt x="0" y="113720"/>
                    <a:pt x="113720" y="0"/>
                    <a:pt x="254000" y="0"/>
                  </a:cubicBezTo>
                  <a:close/>
                </a:path>
              </a:pathLst>
            </a:custGeom>
            <a:solidFill>
              <a:srgbClr val="071D30"/>
            </a:solidFill>
          </p:spPr>
        </p:sp>
        <p:sp>
          <p:nvSpPr>
            <p:cNvPr name="TextBox 9" id="9"/>
            <p:cNvSpPr txBox="true"/>
            <p:nvPr/>
          </p:nvSpPr>
          <p:spPr>
            <a:xfrm>
              <a:off x="0" y="-38100"/>
              <a:ext cx="10160000" cy="2578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666750" y="7239000"/>
            <a:ext cx="114300" cy="1524000"/>
            <a:chOff x="0" y="0"/>
            <a:chExt cx="152400" cy="203200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152400" cy="2032000"/>
            </a:xfrm>
            <a:custGeom>
              <a:avLst/>
              <a:gdLst/>
              <a:ahLst/>
              <a:cxnLst/>
              <a:rect r="r" b="b" t="t" l="l"/>
              <a:pathLst>
                <a:path h="2032000" w="152400">
                  <a:moveTo>
                    <a:pt x="0" y="0"/>
                  </a:moveTo>
                  <a:lnTo>
                    <a:pt x="152400" y="0"/>
                  </a:lnTo>
                  <a:lnTo>
                    <a:pt x="152400" y="2032000"/>
                  </a:lnTo>
                  <a:lnTo>
                    <a:pt x="0" y="2032000"/>
                  </a:lnTo>
                  <a:close/>
                </a:path>
              </a:pathLst>
            </a:custGeom>
            <a:solidFill>
              <a:srgbClr val="F5B82E"/>
            </a:solid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38100"/>
              <a:ext cx="152400" cy="2070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3" id="13"/>
          <p:cNvSpPr txBox="true"/>
          <p:nvPr/>
        </p:nvSpPr>
        <p:spPr>
          <a:xfrm rot="0">
            <a:off x="1095375" y="7277100"/>
            <a:ext cx="66675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>
                <a:solidFill>
                  <a:srgbClr val="F5B82E"/>
                </a:solidFill>
                <a:latin typeface="Arimo Bold"/>
                <a:ea typeface="Arimo Bold"/>
                <a:cs typeface="Arimo Bold"/>
                <a:sym typeface="Arimo Bold"/>
              </a:rPr>
              <a:t>IDEA CLAVE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1095375" y="7772400"/>
            <a:ext cx="6858000" cy="8439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60"/>
              </a:lnSpc>
            </a:pPr>
            <a:r>
              <a:rPr lang="en-US" sz="2200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Solo se entrena el proyector: 22 M de parámetros frente a 366 M de Surya.</a:t>
            </a:r>
          </a:p>
        </p:txBody>
      </p:sp>
      <p:grpSp>
        <p:nvGrpSpPr>
          <p:cNvPr name="Group 15" id="15"/>
          <p:cNvGrpSpPr/>
          <p:nvPr/>
        </p:nvGrpSpPr>
        <p:grpSpPr>
          <a:xfrm rot="0">
            <a:off x="8991600" y="9429750"/>
            <a:ext cx="9296400" cy="857250"/>
            <a:chOff x="0" y="0"/>
            <a:chExt cx="12395200" cy="114300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12395200" cy="1143000"/>
            </a:xfrm>
            <a:custGeom>
              <a:avLst/>
              <a:gdLst/>
              <a:ahLst/>
              <a:cxnLst/>
              <a:rect r="r" b="b" t="t" l="l"/>
              <a:pathLst>
                <a:path h="1143000" w="12395200">
                  <a:moveTo>
                    <a:pt x="0" y="0"/>
                  </a:moveTo>
                  <a:lnTo>
                    <a:pt x="12395200" y="0"/>
                  </a:lnTo>
                  <a:lnTo>
                    <a:pt x="12395200" y="1143000"/>
                  </a:lnTo>
                  <a:lnTo>
                    <a:pt x="0" y="1143000"/>
                  </a:lnTo>
                  <a:close/>
                </a:path>
              </a:pathLst>
            </a:custGeom>
            <a:solidFill>
              <a:srgbClr val="071D30">
                <a:alpha val="74902"/>
              </a:srgbClr>
            </a:solidFill>
          </p:spPr>
        </p:sp>
        <p:sp>
          <p:nvSpPr>
            <p:cNvPr name="TextBox 17" id="17"/>
            <p:cNvSpPr txBox="true"/>
            <p:nvPr/>
          </p:nvSpPr>
          <p:spPr>
            <a:xfrm>
              <a:off x="0" y="-38100"/>
              <a:ext cx="12395200" cy="1181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8" id="18"/>
          <p:cNvSpPr txBox="true"/>
          <p:nvPr/>
        </p:nvSpPr>
        <p:spPr>
          <a:xfrm rot="0">
            <a:off x="9334500" y="9696450"/>
            <a:ext cx="8572500" cy="2419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350">
                <a:solidFill>
                  <a:srgbClr val="F5F7FA"/>
                </a:solidFill>
                <a:latin typeface="Arimo"/>
                <a:ea typeface="Arimo"/>
                <a:cs typeface="Arimo"/>
                <a:sym typeface="Arimo"/>
              </a:rPr>
              <a:t>Imagen: esquema de un VLM de teledetección, Weng et al. (2025)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666750" y="9772650"/>
            <a:ext cx="5905500" cy="224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84"/>
              </a:lnSpc>
            </a:pPr>
            <a:r>
              <a:rPr lang="en-US" sz="1275" b="true">
                <a:solidFill>
                  <a:srgbClr val="53697A"/>
                </a:solidFill>
                <a:latin typeface="Arimo Bold"/>
                <a:ea typeface="Arimo Bold"/>
                <a:cs typeface="Arimo Bold"/>
                <a:sym typeface="Arimo Bold"/>
              </a:rPr>
              <a:t>HELIODATA ACADEMY 2026  ·  ESCUELA DE ASTROFÍSICA SOLAR</a:t>
            </a:r>
          </a:p>
        </p:txBody>
      </p:sp>
      <p:sp>
        <p:nvSpPr>
          <p:cNvPr name="Freeform 20" id="20" descr="Logo GoSA"/>
          <p:cNvSpPr/>
          <p:nvPr/>
        </p:nvSpPr>
        <p:spPr>
          <a:xfrm flipH="false" flipV="false" rot="0">
            <a:off x="6858000" y="9734550"/>
            <a:ext cx="819150" cy="381000"/>
          </a:xfrm>
          <a:custGeom>
            <a:avLst/>
            <a:gdLst/>
            <a:ahLst/>
            <a:cxnLst/>
            <a:rect r="r" b="b" t="t" l="l"/>
            <a:pathLst>
              <a:path h="381000" w="819150">
                <a:moveTo>
                  <a:pt x="0" y="0"/>
                </a:moveTo>
                <a:lnTo>
                  <a:pt x="819150" y="0"/>
                </a:lnTo>
                <a:lnTo>
                  <a:pt x="819150" y="381000"/>
                </a:lnTo>
                <a:lnTo>
                  <a:pt x="0" y="381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-307" r="0" b="-307"/>
            </a:stretch>
          </a:blipFill>
        </p:spPr>
      </p:sp>
      <p:sp>
        <p:nvSpPr>
          <p:cNvPr name="Freeform 21" id="21" descr="Logo Observatorio Astronómico Nacional"/>
          <p:cNvSpPr/>
          <p:nvPr/>
        </p:nvSpPr>
        <p:spPr>
          <a:xfrm flipH="false" flipV="false" rot="0">
            <a:off x="7829550" y="9715500"/>
            <a:ext cx="457200" cy="428625"/>
          </a:xfrm>
          <a:custGeom>
            <a:avLst/>
            <a:gdLst/>
            <a:ahLst/>
            <a:cxnLst/>
            <a:rect r="r" b="b" t="t" l="l"/>
            <a:pathLst>
              <a:path h="428625" w="457200">
                <a:moveTo>
                  <a:pt x="0" y="0"/>
                </a:moveTo>
                <a:lnTo>
                  <a:pt x="457200" y="0"/>
                </a:lnTo>
                <a:lnTo>
                  <a:pt x="45720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-328" t="0" r="-328" b="0"/>
            </a:stretch>
          </a:blipFill>
        </p:spPr>
      </p:sp>
      <p:pic>
        <p:nvPicPr>
          <p:cNvPr id="22" name="Picture 21" descr="clase_arch_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32000" y="2582649"/>
            <a:ext cx="8424000" cy="4266701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/>
      <p:grpSp>
        <p:nvGrpSpPr>
          <p:cNvPr name="Group 2" id="2"/>
          <p:cNvGrpSpPr/>
          <p:nvPr/>
        </p:nvGrpSpPr>
        <p:grpSpPr>
          <a:xfrm rot="0">
            <a:off x="9296400" y="0"/>
            <a:ext cx="8991600" cy="3352800"/>
            <a:chOff x="0" y="0"/>
            <a:chExt cx="2368158" cy="883042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368158" cy="883042"/>
            </a:xfrm>
            <a:custGeom>
              <a:avLst/>
              <a:gdLst/>
              <a:ahLst/>
              <a:cxnLst/>
              <a:rect r="r" b="b" t="t" l="l"/>
              <a:pathLst>
                <a:path h="883042" w="2368158">
                  <a:moveTo>
                    <a:pt x="0" y="0"/>
                  </a:moveTo>
                  <a:lnTo>
                    <a:pt x="2368158" y="0"/>
                  </a:lnTo>
                  <a:lnTo>
                    <a:pt x="2368158" y="883042"/>
                  </a:lnTo>
                  <a:lnTo>
                    <a:pt x="0" y="883042"/>
                  </a:lnTo>
                  <a:close/>
                </a:path>
              </a:pathLst>
            </a:custGeom>
            <a:solidFill>
              <a:srgbClr val="F5F7FA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2368158" cy="92114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00"/>
                </a:lnSpc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8991600" y="0"/>
            <a:ext cx="9296400" cy="10287000"/>
            <a:chOff x="0" y="0"/>
            <a:chExt cx="1220873" cy="1350966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220873" cy="1350966"/>
            </a:xfrm>
            <a:custGeom>
              <a:avLst/>
              <a:gdLst/>
              <a:ahLst/>
              <a:cxnLst/>
              <a:rect r="r" b="b" t="t" l="l"/>
              <a:pathLst>
                <a:path h="1350966" w="1220873">
                  <a:moveTo>
                    <a:pt x="0" y="0"/>
                  </a:moveTo>
                  <a:lnTo>
                    <a:pt x="1220873" y="0"/>
                  </a:lnTo>
                  <a:lnTo>
                    <a:pt x="1220873" y="1350966"/>
                  </a:lnTo>
                  <a:lnTo>
                    <a:pt x="0" y="1350966"/>
                  </a:lnTo>
                  <a:close/>
                </a:path>
              </a:pathLst>
            </a:custGeom>
            <a:solidFill>
              <a:srgbClr val="071D30"/>
            </a:solidFill>
          </p:spPr>
        </p:sp>
      </p:grpSp>
      <p:sp>
        <p:nvSpPr>
          <p:cNvPr name="TextBox 7" id="7"/>
          <p:cNvSpPr txBox="true"/>
          <p:nvPr/>
        </p:nvSpPr>
        <p:spPr>
          <a:xfrm rot="0">
            <a:off x="666750" y="2362200"/>
            <a:ext cx="6886575" cy="11811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6600"/>
              </a:lnSpc>
              <a:spcBef>
                <a:spcPct val="0"/>
              </a:spcBef>
            </a:pPr>
            <a:r>
              <a:rPr lang="en-US" sz="6000" spc="-247" strike="noStrike" u="none">
                <a:solidFill>
                  <a:srgbClr val="071D30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286 posiciones</a:t>
            </a:r>
          </a:p>
        </p:txBody>
      </p:sp>
      <p:grpSp>
        <p:nvGrpSpPr>
          <p:cNvPr name="Group 8" id="8"/>
          <p:cNvGrpSpPr/>
          <p:nvPr/>
        </p:nvGrpSpPr>
        <p:grpSpPr>
          <a:xfrm rot="0">
            <a:off x="666750" y="5334000"/>
            <a:ext cx="6886575" cy="1898650"/>
            <a:chOff x="0" y="0"/>
            <a:chExt cx="9182100" cy="2531534"/>
          </a:xfrm>
        </p:grpSpPr>
        <p:sp>
          <p:nvSpPr>
            <p:cNvPr name="TextBox 9" id="9"/>
            <p:cNvSpPr txBox="true"/>
            <p:nvPr/>
          </p:nvSpPr>
          <p:spPr>
            <a:xfrm rot="0">
              <a:off x="0" y="0"/>
              <a:ext cx="9182100" cy="5588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000"/>
                </a:lnSpc>
                <a:spcBef>
                  <a:spcPct val="0"/>
                </a:spcBef>
              </a:pPr>
              <a:r>
                <a:rPr lang="en-US" b="true" sz="2500" spc="-37" strike="noStrike" u="none">
                  <a:solidFill>
                    <a:srgbClr val="071D30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La secuencia que lee el LLM</a:t>
              </a:r>
            </a:p>
          </p:txBody>
        </p:sp>
        <p:sp>
          <p:nvSpPr>
            <p:cNvPr name="TextBox 10" id="10"/>
            <p:cNvSpPr txBox="true"/>
            <p:nvPr/>
          </p:nvSpPr>
          <p:spPr>
            <a:xfrm rot="0">
              <a:off x="0" y="825500"/>
              <a:ext cx="9182100" cy="1706034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499"/>
                </a:lnSpc>
                <a:spcBef>
                  <a:spcPct val="0"/>
                </a:spcBef>
              </a:pPr>
              <a:r>
                <a:rPr lang="en-US" sz="2499" spc="-37" strike="noStrike" u="none">
                  <a:solidFill>
                    <a:srgbClr val="071D30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Instrucción, 256 tokens visuales (posiciones 4 a 259) y el caption. La pérdida solo cuenta el caption y su marca de fin (275 a 284), no la pregunta ni la imagen.</a:t>
              </a:r>
            </a:p>
          </p:txBody>
        </p:sp>
      </p:grpSp>
      <p:sp>
        <p:nvSpPr>
          <p:cNvPr name="TextBox 11" id="11"/>
          <p:cNvSpPr txBox="true"/>
          <p:nvPr/>
        </p:nvSpPr>
        <p:spPr>
          <a:xfrm rot="0">
            <a:off x="685800" y="657225"/>
            <a:ext cx="66675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>
                <a:solidFill>
                  <a:srgbClr val="087F8C"/>
                </a:solidFill>
                <a:latin typeface="Arimo Bold"/>
                <a:ea typeface="Arimo Bold"/>
                <a:cs typeface="Arimo Bold"/>
                <a:sym typeface="Arimo Bold"/>
              </a:rPr>
              <a:t>ECUACIÓN  /  DATO DESTACADO</a:t>
            </a:r>
          </a:p>
        </p:txBody>
      </p:sp>
      <p:grpSp>
        <p:nvGrpSpPr>
          <p:cNvPr name="Group 12" id="12"/>
          <p:cNvGrpSpPr/>
          <p:nvPr/>
        </p:nvGrpSpPr>
        <p:grpSpPr>
          <a:xfrm rot="0">
            <a:off x="685800" y="4476750"/>
            <a:ext cx="1428750" cy="57150"/>
            <a:chOff x="0" y="0"/>
            <a:chExt cx="1905000" cy="76200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1905000" cy="76200"/>
            </a:xfrm>
            <a:custGeom>
              <a:avLst/>
              <a:gdLst/>
              <a:ahLst/>
              <a:cxnLst/>
              <a:rect r="r" b="b" t="t" l="l"/>
              <a:pathLst>
                <a:path h="76200" w="1905000">
                  <a:moveTo>
                    <a:pt x="0" y="0"/>
                  </a:moveTo>
                  <a:lnTo>
                    <a:pt x="1905000" y="0"/>
                  </a:lnTo>
                  <a:lnTo>
                    <a:pt x="1905000" y="76200"/>
                  </a:lnTo>
                  <a:lnTo>
                    <a:pt x="0" y="76200"/>
                  </a:lnTo>
                  <a:close/>
                </a:path>
              </a:pathLst>
            </a:custGeom>
            <a:solidFill>
              <a:srgbClr val="F5B82E"/>
            </a:solidFill>
          </p:spPr>
        </p:sp>
        <p:sp>
          <p:nvSpPr>
            <p:cNvPr name="TextBox 14" id="14"/>
            <p:cNvSpPr txBox="true"/>
            <p:nvPr/>
          </p:nvSpPr>
          <p:spPr>
            <a:xfrm>
              <a:off x="0" y="-38100"/>
              <a:ext cx="1905000" cy="1143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5" id="15"/>
          <p:cNvSpPr txBox="true"/>
          <p:nvPr/>
        </p:nvSpPr>
        <p:spPr>
          <a:xfrm rot="0">
            <a:off x="685800" y="8515350"/>
            <a:ext cx="76200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i="true">
                <a:solidFill>
                  <a:srgbClr val="53697A"/>
                </a:solidFill>
                <a:latin typeface="Arimo Italics"/>
                <a:ea typeface="Arimo Italics"/>
                <a:cs typeface="Arimo Italics"/>
                <a:sym typeface="Arimo Italics"/>
              </a:rPr>
              <a:t>Referencia: cuaderno, sección 7</a:t>
            </a:r>
          </a:p>
        </p:txBody>
      </p:sp>
      <p:grpSp>
        <p:nvGrpSpPr>
          <p:cNvPr name="Group 16" id="16"/>
          <p:cNvGrpSpPr/>
          <p:nvPr/>
        </p:nvGrpSpPr>
        <p:grpSpPr>
          <a:xfrm rot="0">
            <a:off x="8991600" y="9429750"/>
            <a:ext cx="9296400" cy="857250"/>
            <a:chOff x="0" y="0"/>
            <a:chExt cx="12395200" cy="1143000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12395200" cy="1143000"/>
            </a:xfrm>
            <a:custGeom>
              <a:avLst/>
              <a:gdLst/>
              <a:ahLst/>
              <a:cxnLst/>
              <a:rect r="r" b="b" t="t" l="l"/>
              <a:pathLst>
                <a:path h="1143000" w="12395200">
                  <a:moveTo>
                    <a:pt x="0" y="0"/>
                  </a:moveTo>
                  <a:lnTo>
                    <a:pt x="12395200" y="0"/>
                  </a:lnTo>
                  <a:lnTo>
                    <a:pt x="12395200" y="1143000"/>
                  </a:lnTo>
                  <a:lnTo>
                    <a:pt x="0" y="1143000"/>
                  </a:lnTo>
                  <a:close/>
                </a:path>
              </a:pathLst>
            </a:custGeom>
            <a:solidFill>
              <a:srgbClr val="071D30">
                <a:alpha val="74902"/>
              </a:srgbClr>
            </a:solidFill>
          </p:spPr>
        </p:sp>
        <p:sp>
          <p:nvSpPr>
            <p:cNvPr name="TextBox 18" id="18"/>
            <p:cNvSpPr txBox="true"/>
            <p:nvPr/>
          </p:nvSpPr>
          <p:spPr>
            <a:xfrm>
              <a:off x="0" y="-38100"/>
              <a:ext cx="12395200" cy="1181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9" id="19"/>
          <p:cNvSpPr txBox="true"/>
          <p:nvPr/>
        </p:nvSpPr>
        <p:spPr>
          <a:xfrm rot="0">
            <a:off x="9334500" y="9696450"/>
            <a:ext cx="8572500" cy="2419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350">
                <a:solidFill>
                  <a:srgbClr val="F5F7FA"/>
                </a:solidFill>
                <a:latin typeface="Arimo"/>
                <a:ea typeface="Arimo"/>
                <a:cs typeface="Arimo"/>
                <a:sym typeface="Arimo"/>
              </a:rPr>
              <a:t>Imagen: elaboración propia a partir de 03_Datos/secuencia_ejemplo.json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666750" y="9772650"/>
            <a:ext cx="5905500" cy="224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84"/>
              </a:lnSpc>
            </a:pPr>
            <a:r>
              <a:rPr lang="en-US" sz="1275" b="true">
                <a:solidFill>
                  <a:srgbClr val="53697A"/>
                </a:solidFill>
                <a:latin typeface="Arimo Bold"/>
                <a:ea typeface="Arimo Bold"/>
                <a:cs typeface="Arimo Bold"/>
                <a:sym typeface="Arimo Bold"/>
              </a:rPr>
              <a:t>HELIODATA ACADEMY 2026  ·  ESCUELA DE ASTROFÍSICA SOLAR</a:t>
            </a:r>
          </a:p>
        </p:txBody>
      </p:sp>
      <p:sp>
        <p:nvSpPr>
          <p:cNvPr name="Freeform 21" id="21" descr="Logo GoSA"/>
          <p:cNvSpPr/>
          <p:nvPr/>
        </p:nvSpPr>
        <p:spPr>
          <a:xfrm flipH="false" flipV="false" rot="0">
            <a:off x="6858000" y="9734550"/>
            <a:ext cx="819150" cy="381000"/>
          </a:xfrm>
          <a:custGeom>
            <a:avLst/>
            <a:gdLst/>
            <a:ahLst/>
            <a:cxnLst/>
            <a:rect r="r" b="b" t="t" l="l"/>
            <a:pathLst>
              <a:path h="381000" w="819150">
                <a:moveTo>
                  <a:pt x="0" y="0"/>
                </a:moveTo>
                <a:lnTo>
                  <a:pt x="819150" y="0"/>
                </a:lnTo>
                <a:lnTo>
                  <a:pt x="819150" y="381000"/>
                </a:lnTo>
                <a:lnTo>
                  <a:pt x="0" y="381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-307" r="0" b="-307"/>
            </a:stretch>
          </a:blipFill>
        </p:spPr>
      </p:sp>
      <p:sp>
        <p:nvSpPr>
          <p:cNvPr name="Freeform 22" id="22" descr="Logo Observatorio Astronómico Nacional"/>
          <p:cNvSpPr/>
          <p:nvPr/>
        </p:nvSpPr>
        <p:spPr>
          <a:xfrm flipH="false" flipV="false" rot="0">
            <a:off x="7829550" y="9715500"/>
            <a:ext cx="457200" cy="428625"/>
          </a:xfrm>
          <a:custGeom>
            <a:avLst/>
            <a:gdLst/>
            <a:ahLst/>
            <a:cxnLst/>
            <a:rect r="r" b="b" t="t" l="l"/>
            <a:pathLst>
              <a:path h="428625" w="457200">
                <a:moveTo>
                  <a:pt x="0" y="0"/>
                </a:moveTo>
                <a:lnTo>
                  <a:pt x="457200" y="0"/>
                </a:lnTo>
                <a:lnTo>
                  <a:pt x="45720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-328" t="0" r="-328" b="0"/>
            </a:stretch>
          </a:blipFill>
        </p:spPr>
      </p:sp>
      <p:pic>
        <p:nvPicPr>
          <p:cNvPr id="23" name="Picture 22" descr="secuenci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32000" y="504000"/>
            <a:ext cx="8424000" cy="8424000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/>
      <p:sp>
        <p:nvSpPr>
          <p:cNvPr name="TextBox 2" id="2"/>
          <p:cNvSpPr txBox="true"/>
          <p:nvPr/>
        </p:nvSpPr>
        <p:spPr>
          <a:xfrm rot="0">
            <a:off x="666750" y="1190625"/>
            <a:ext cx="6886575" cy="8667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4840"/>
              </a:lnSpc>
              <a:spcBef>
                <a:spcPct val="0"/>
              </a:spcBef>
            </a:pPr>
            <a:r>
              <a:rPr lang="en-US" sz="4400" strike="noStrike" u="none">
                <a:solidFill>
                  <a:srgbClr val="071D30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Práctica 2: el proyector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666750" y="3771900"/>
            <a:ext cx="6886575" cy="12890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499"/>
              </a:lnSpc>
              <a:spcBef>
                <a:spcPct val="0"/>
              </a:spcBef>
            </a:pPr>
            <a:r>
              <a:rPr lang="en-US" sz="2499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1.  Corre las secciones 6 y 7 del cuaderno</a:t>
            </a:r>
          </a:p>
          <a:p>
            <a:pPr algn="l" marL="0" indent="0" lvl="0">
              <a:lnSpc>
                <a:spcPts val="3499"/>
              </a:lnSpc>
              <a:spcBef>
                <a:spcPct val="0"/>
              </a:spcBef>
            </a:pPr>
            <a:r>
              <a:rPr lang="en-US" sz="2499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2.  Cuenta los parámetros del proyector</a:t>
            </a:r>
          </a:p>
          <a:p>
            <a:pPr algn="l" marL="0" indent="0" lvl="0">
              <a:lnSpc>
                <a:spcPts val="3499"/>
              </a:lnSpc>
              <a:spcBef>
                <a:spcPct val="0"/>
              </a:spcBef>
            </a:pPr>
            <a:r>
              <a:rPr lang="en-US" sz="2499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3.  Mira qué posiciones entran en la pérdida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685800" y="657225"/>
            <a:ext cx="66675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>
                <a:solidFill>
                  <a:srgbClr val="087F8C"/>
                </a:solidFill>
                <a:latin typeface="Arimo Bold"/>
                <a:ea typeface="Arimo Bold"/>
                <a:cs typeface="Arimo Bold"/>
                <a:sym typeface="Arimo Bold"/>
              </a:rPr>
              <a:t>CÓDIGO  ·  PRÁCTICA</a:t>
            </a:r>
          </a:p>
        </p:txBody>
      </p:sp>
      <p:grpSp>
        <p:nvGrpSpPr>
          <p:cNvPr name="Group 5" id="5"/>
          <p:cNvGrpSpPr/>
          <p:nvPr/>
        </p:nvGrpSpPr>
        <p:grpSpPr>
          <a:xfrm rot="0">
            <a:off x="8382000" y="762000"/>
            <a:ext cx="9239250" cy="8382000"/>
            <a:chOff x="0" y="0"/>
            <a:chExt cx="12319000" cy="1117600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2319000" cy="11176000"/>
            </a:xfrm>
            <a:custGeom>
              <a:avLst/>
              <a:gdLst/>
              <a:ahLst/>
              <a:cxnLst/>
              <a:rect r="r" b="b" t="t" l="l"/>
              <a:pathLst>
                <a:path h="11176000" w="12319000">
                  <a:moveTo>
                    <a:pt x="279400" y="0"/>
                  </a:moveTo>
                  <a:lnTo>
                    <a:pt x="12039600" y="0"/>
                  </a:lnTo>
                  <a:cubicBezTo>
                    <a:pt x="12193908" y="0"/>
                    <a:pt x="12319000" y="125092"/>
                    <a:pt x="12319000" y="279400"/>
                  </a:cubicBezTo>
                  <a:lnTo>
                    <a:pt x="12319000" y="10896600"/>
                  </a:lnTo>
                  <a:cubicBezTo>
                    <a:pt x="12319000" y="11050908"/>
                    <a:pt x="12193908" y="11176000"/>
                    <a:pt x="12039600" y="11176000"/>
                  </a:cubicBezTo>
                  <a:lnTo>
                    <a:pt x="279400" y="11176000"/>
                  </a:lnTo>
                  <a:cubicBezTo>
                    <a:pt x="125092" y="11176000"/>
                    <a:pt x="0" y="11050908"/>
                    <a:pt x="0" y="10896600"/>
                  </a:cubicBezTo>
                  <a:lnTo>
                    <a:pt x="0" y="279400"/>
                  </a:lnTo>
                  <a:cubicBezTo>
                    <a:pt x="0" y="125092"/>
                    <a:pt x="125092" y="0"/>
                    <a:pt x="279400" y="0"/>
                  </a:cubicBezTo>
                  <a:close/>
                </a:path>
              </a:pathLst>
            </a:custGeom>
            <a:solidFill>
              <a:srgbClr val="0B1622"/>
            </a:solidFill>
          </p:spPr>
        </p:sp>
        <p:sp>
          <p:nvSpPr>
            <p:cNvPr name="TextBox 7" id="7"/>
            <p:cNvSpPr txBox="true"/>
            <p:nvPr/>
          </p:nvSpPr>
          <p:spPr>
            <a:xfrm>
              <a:off x="0" y="-38100"/>
              <a:ext cx="12319000" cy="11214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8382000" y="762000"/>
            <a:ext cx="9239250" cy="666750"/>
            <a:chOff x="0" y="0"/>
            <a:chExt cx="12319000" cy="88900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12319000" cy="889000"/>
            </a:xfrm>
            <a:custGeom>
              <a:avLst/>
              <a:gdLst/>
              <a:ahLst/>
              <a:cxnLst/>
              <a:rect r="r" b="b" t="t" l="l"/>
              <a:pathLst>
                <a:path h="889000" w="12319000">
                  <a:moveTo>
                    <a:pt x="279400" y="0"/>
                  </a:moveTo>
                  <a:lnTo>
                    <a:pt x="12039600" y="0"/>
                  </a:lnTo>
                  <a:cubicBezTo>
                    <a:pt x="12193908" y="0"/>
                    <a:pt x="12319000" y="125092"/>
                    <a:pt x="12319000" y="279400"/>
                  </a:cubicBezTo>
                  <a:lnTo>
                    <a:pt x="12319000" y="609600"/>
                  </a:lnTo>
                  <a:cubicBezTo>
                    <a:pt x="12319000" y="763908"/>
                    <a:pt x="12193908" y="889000"/>
                    <a:pt x="12039600" y="889000"/>
                  </a:cubicBezTo>
                  <a:lnTo>
                    <a:pt x="279400" y="889000"/>
                  </a:lnTo>
                  <a:cubicBezTo>
                    <a:pt x="125092" y="889000"/>
                    <a:pt x="0" y="763908"/>
                    <a:pt x="0" y="609600"/>
                  </a:cubicBezTo>
                  <a:lnTo>
                    <a:pt x="0" y="279400"/>
                  </a:lnTo>
                  <a:cubicBezTo>
                    <a:pt x="0" y="125092"/>
                    <a:pt x="125092" y="0"/>
                    <a:pt x="279400" y="0"/>
                  </a:cubicBezTo>
                  <a:close/>
                </a:path>
              </a:pathLst>
            </a:custGeom>
            <a:solidFill>
              <a:srgbClr val="102C43"/>
            </a:solidFill>
          </p:spPr>
        </p:sp>
        <p:sp>
          <p:nvSpPr>
            <p:cNvPr name="TextBox 10" id="10"/>
            <p:cNvSpPr txBox="true"/>
            <p:nvPr/>
          </p:nvSpPr>
          <p:spPr>
            <a:xfrm>
              <a:off x="0" y="-38100"/>
              <a:ext cx="12319000" cy="927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1" id="11"/>
          <p:cNvGrpSpPr/>
          <p:nvPr/>
        </p:nvGrpSpPr>
        <p:grpSpPr>
          <a:xfrm rot="0">
            <a:off x="8667750" y="1009650"/>
            <a:ext cx="171450" cy="171450"/>
            <a:chOff x="0" y="0"/>
            <a:chExt cx="228600" cy="228600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228600" cy="228600"/>
            </a:xfrm>
            <a:custGeom>
              <a:avLst/>
              <a:gdLst/>
              <a:ahLst/>
              <a:cxnLst/>
              <a:rect r="r" b="b" t="t" l="l"/>
              <a:pathLst>
                <a:path h="228600" w="228600">
                  <a:moveTo>
                    <a:pt x="114300" y="0"/>
                  </a:moveTo>
                  <a:cubicBezTo>
                    <a:pt x="51174" y="0"/>
                    <a:pt x="0" y="51174"/>
                    <a:pt x="0" y="114300"/>
                  </a:cubicBezTo>
                  <a:cubicBezTo>
                    <a:pt x="0" y="177426"/>
                    <a:pt x="51174" y="228600"/>
                    <a:pt x="114300" y="228600"/>
                  </a:cubicBezTo>
                  <a:cubicBezTo>
                    <a:pt x="177426" y="228600"/>
                    <a:pt x="228600" y="177426"/>
                    <a:pt x="228600" y="114300"/>
                  </a:cubicBezTo>
                  <a:cubicBezTo>
                    <a:pt x="228600" y="51174"/>
                    <a:pt x="177426" y="0"/>
                    <a:pt x="114300" y="0"/>
                  </a:cubicBezTo>
                  <a:close/>
                </a:path>
              </a:pathLst>
            </a:custGeom>
            <a:solidFill>
              <a:srgbClr val="FF5F57"/>
            </a:solidFill>
          </p:spPr>
        </p:sp>
        <p:sp>
          <p:nvSpPr>
            <p:cNvPr name="TextBox 13" id="13"/>
            <p:cNvSpPr txBox="true"/>
            <p:nvPr/>
          </p:nvSpPr>
          <p:spPr>
            <a:xfrm>
              <a:off x="0" y="-38100"/>
              <a:ext cx="228600" cy="2667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4" id="14"/>
          <p:cNvGrpSpPr/>
          <p:nvPr/>
        </p:nvGrpSpPr>
        <p:grpSpPr>
          <a:xfrm rot="0">
            <a:off x="8953500" y="1009650"/>
            <a:ext cx="171450" cy="171450"/>
            <a:chOff x="0" y="0"/>
            <a:chExt cx="228600" cy="228600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228600" cy="228600"/>
            </a:xfrm>
            <a:custGeom>
              <a:avLst/>
              <a:gdLst/>
              <a:ahLst/>
              <a:cxnLst/>
              <a:rect r="r" b="b" t="t" l="l"/>
              <a:pathLst>
                <a:path h="228600" w="228600">
                  <a:moveTo>
                    <a:pt x="114300" y="0"/>
                  </a:moveTo>
                  <a:cubicBezTo>
                    <a:pt x="51174" y="0"/>
                    <a:pt x="0" y="51174"/>
                    <a:pt x="0" y="114300"/>
                  </a:cubicBezTo>
                  <a:cubicBezTo>
                    <a:pt x="0" y="177426"/>
                    <a:pt x="51174" y="228600"/>
                    <a:pt x="114300" y="228600"/>
                  </a:cubicBezTo>
                  <a:cubicBezTo>
                    <a:pt x="177426" y="228600"/>
                    <a:pt x="228600" y="177426"/>
                    <a:pt x="228600" y="114300"/>
                  </a:cubicBezTo>
                  <a:cubicBezTo>
                    <a:pt x="228600" y="51174"/>
                    <a:pt x="177426" y="0"/>
                    <a:pt x="114300" y="0"/>
                  </a:cubicBezTo>
                  <a:close/>
                </a:path>
              </a:pathLst>
            </a:custGeom>
            <a:solidFill>
              <a:srgbClr val="F5B82E"/>
            </a:solidFill>
          </p:spPr>
        </p:sp>
        <p:sp>
          <p:nvSpPr>
            <p:cNvPr name="TextBox 16" id="16"/>
            <p:cNvSpPr txBox="true"/>
            <p:nvPr/>
          </p:nvSpPr>
          <p:spPr>
            <a:xfrm>
              <a:off x="0" y="-38100"/>
              <a:ext cx="228600" cy="2667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7" id="17"/>
          <p:cNvGrpSpPr/>
          <p:nvPr/>
        </p:nvGrpSpPr>
        <p:grpSpPr>
          <a:xfrm rot="0">
            <a:off x="9239250" y="1009650"/>
            <a:ext cx="171450" cy="171450"/>
            <a:chOff x="0" y="0"/>
            <a:chExt cx="228600" cy="228600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228600" cy="228600"/>
            </a:xfrm>
            <a:custGeom>
              <a:avLst/>
              <a:gdLst/>
              <a:ahLst/>
              <a:cxnLst/>
              <a:rect r="r" b="b" t="t" l="l"/>
              <a:pathLst>
                <a:path h="228600" w="228600">
                  <a:moveTo>
                    <a:pt x="114300" y="0"/>
                  </a:moveTo>
                  <a:cubicBezTo>
                    <a:pt x="51174" y="0"/>
                    <a:pt x="0" y="51174"/>
                    <a:pt x="0" y="114300"/>
                  </a:cubicBezTo>
                  <a:cubicBezTo>
                    <a:pt x="0" y="177426"/>
                    <a:pt x="51174" y="228600"/>
                    <a:pt x="114300" y="228600"/>
                  </a:cubicBezTo>
                  <a:cubicBezTo>
                    <a:pt x="177426" y="228600"/>
                    <a:pt x="228600" y="177426"/>
                    <a:pt x="228600" y="114300"/>
                  </a:cubicBezTo>
                  <a:cubicBezTo>
                    <a:pt x="228600" y="51174"/>
                    <a:pt x="177426" y="0"/>
                    <a:pt x="114300" y="0"/>
                  </a:cubicBezTo>
                  <a:close/>
                </a:path>
              </a:pathLst>
            </a:custGeom>
            <a:solidFill>
              <a:srgbClr val="28C840"/>
            </a:solidFill>
          </p:spPr>
        </p:sp>
        <p:sp>
          <p:nvSpPr>
            <p:cNvPr name="TextBox 19" id="19"/>
            <p:cNvSpPr txBox="true"/>
            <p:nvPr/>
          </p:nvSpPr>
          <p:spPr>
            <a:xfrm>
              <a:off x="0" y="-38100"/>
              <a:ext cx="228600" cy="2667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20" id="20"/>
          <p:cNvSpPr txBox="true"/>
          <p:nvPr/>
        </p:nvSpPr>
        <p:spPr>
          <a:xfrm rot="0">
            <a:off x="9715500" y="904875"/>
            <a:ext cx="57150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>
                <a:solidFill>
                  <a:srgbClr val="9FB3C8"/>
                </a:solidFill>
                <a:latin typeface="Arimo"/>
                <a:ea typeface="Arimo"/>
                <a:cs typeface="Arimo"/>
                <a:sym typeface="Arimo"/>
              </a:rPr>
              <a:t>01_Del_dato_solar_al_caption.ipynb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8620125" y="1657350"/>
            <a:ext cx="476250" cy="51206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3720"/>
              </a:lnSpc>
            </a:pPr>
            <a:r>
              <a:rPr lang="en-US" sz="2325">
                <a:solidFill>
                  <a:srgbClr val="53697A"/>
                </a:solidFill>
                <a:latin typeface="Arimo"/>
                <a:ea typeface="Arimo"/>
                <a:cs typeface="Arimo"/>
                <a:sym typeface="Arimo"/>
              </a:rPr>
              <a:t>1</a:t>
            </a:r>
          </a:p>
          <a:p>
            <a:pPr algn="r">
              <a:lnSpc>
                <a:spcPts val="3720"/>
              </a:lnSpc>
            </a:pPr>
            <a:r>
              <a:rPr lang="en-US" sz="2325">
                <a:solidFill>
                  <a:srgbClr val="53697A"/>
                </a:solidFill>
                <a:latin typeface="Arimo"/>
                <a:ea typeface="Arimo"/>
                <a:cs typeface="Arimo"/>
                <a:sym typeface="Arimo"/>
              </a:rPr>
              <a:t>2</a:t>
            </a:r>
          </a:p>
          <a:p>
            <a:pPr algn="r">
              <a:lnSpc>
                <a:spcPts val="3720"/>
              </a:lnSpc>
            </a:pPr>
            <a:r>
              <a:rPr lang="en-US" sz="2325">
                <a:solidFill>
                  <a:srgbClr val="53697A"/>
                </a:solidFill>
                <a:latin typeface="Arimo"/>
                <a:ea typeface="Arimo"/>
                <a:cs typeface="Arimo"/>
                <a:sym typeface="Arimo"/>
              </a:rPr>
              <a:t>3</a:t>
            </a:r>
          </a:p>
          <a:p>
            <a:pPr algn="r">
              <a:lnSpc>
                <a:spcPts val="3720"/>
              </a:lnSpc>
            </a:pPr>
            <a:r>
              <a:rPr lang="en-US" sz="2325">
                <a:solidFill>
                  <a:srgbClr val="53697A"/>
                </a:solidFill>
                <a:latin typeface="Arimo"/>
                <a:ea typeface="Arimo"/>
                <a:cs typeface="Arimo"/>
                <a:sym typeface="Arimo"/>
              </a:rPr>
              <a:t>4</a:t>
            </a:r>
          </a:p>
          <a:p>
            <a:pPr algn="r">
              <a:lnSpc>
                <a:spcPts val="3720"/>
              </a:lnSpc>
            </a:pPr>
            <a:r>
              <a:rPr lang="en-US" sz="2325">
                <a:solidFill>
                  <a:srgbClr val="53697A"/>
                </a:solidFill>
                <a:latin typeface="Arimo"/>
                <a:ea typeface="Arimo"/>
                <a:cs typeface="Arimo"/>
                <a:sym typeface="Arimo"/>
              </a:rPr>
              <a:t>5</a:t>
            </a:r>
          </a:p>
          <a:p>
            <a:pPr algn="r">
              <a:lnSpc>
                <a:spcPts val="3720"/>
              </a:lnSpc>
            </a:pPr>
            <a:r>
              <a:rPr lang="en-US" sz="2325">
                <a:solidFill>
                  <a:srgbClr val="53697A"/>
                </a:solidFill>
                <a:latin typeface="Arimo"/>
                <a:ea typeface="Arimo"/>
                <a:cs typeface="Arimo"/>
                <a:sym typeface="Arimo"/>
              </a:rPr>
              <a:t>6</a:t>
            </a:r>
          </a:p>
          <a:p>
            <a:pPr algn="r">
              <a:lnSpc>
                <a:spcPts val="3720"/>
              </a:lnSpc>
            </a:pPr>
            <a:r>
              <a:rPr lang="en-US" sz="2325">
                <a:solidFill>
                  <a:srgbClr val="53697A"/>
                </a:solidFill>
                <a:latin typeface="Arimo"/>
                <a:ea typeface="Arimo"/>
                <a:cs typeface="Arimo"/>
                <a:sym typeface="Arimo"/>
              </a:rPr>
              <a:t>7</a:t>
            </a:r>
          </a:p>
          <a:p>
            <a:pPr algn="r">
              <a:lnSpc>
                <a:spcPts val="3720"/>
              </a:lnSpc>
            </a:pPr>
            <a:r>
              <a:rPr lang="en-US" sz="2325">
                <a:solidFill>
                  <a:srgbClr val="53697A"/>
                </a:solidFill>
                <a:latin typeface="Arimo"/>
                <a:ea typeface="Arimo"/>
                <a:cs typeface="Arimo"/>
                <a:sym typeface="Arimo"/>
              </a:rPr>
              <a:t>8</a:t>
            </a:r>
          </a:p>
          <a:p>
            <a:pPr algn="r">
              <a:lnSpc>
                <a:spcPts val="3720"/>
              </a:lnSpc>
            </a:pPr>
            <a:r>
              <a:rPr lang="en-US" sz="2325">
                <a:solidFill>
                  <a:srgbClr val="53697A"/>
                </a:solidFill>
                <a:latin typeface="Arimo"/>
                <a:ea typeface="Arimo"/>
                <a:cs typeface="Arimo"/>
                <a:sym typeface="Arimo"/>
              </a:rPr>
              <a:t>9</a:t>
            </a:r>
          </a:p>
          <a:p>
            <a:pPr algn="r">
              <a:lnSpc>
                <a:spcPts val="3720"/>
              </a:lnSpc>
            </a:pPr>
            <a:r>
              <a:rPr lang="en-US" sz="2325">
                <a:solidFill>
                  <a:srgbClr val="53697A"/>
                </a:solidFill>
                <a:latin typeface="Arimo"/>
                <a:ea typeface="Arimo"/>
                <a:cs typeface="Arimo"/>
                <a:sym typeface="Arimo"/>
              </a:rPr>
              <a:t>10</a:t>
            </a:r>
          </a:p>
          <a:p>
            <a:pPr algn="r">
              <a:lnSpc>
                <a:spcPts val="3720"/>
              </a:lnSpc>
            </a:pPr>
            <a:r>
              <a:rPr lang="en-US" sz="2325">
                <a:solidFill>
                  <a:srgbClr val="53697A"/>
                </a:solidFill>
                <a:latin typeface="Arimo"/>
                <a:ea typeface="Arimo"/>
                <a:cs typeface="Arimo"/>
                <a:sym typeface="Arimo"/>
              </a:rPr>
              <a:t>11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9286875" y="1657350"/>
            <a:ext cx="8096250" cy="51206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720"/>
              </a:lnSpc>
            </a:pPr>
            <a:r>
              <a:rPr lang="en-US" sz="1700">
                <a:solidFill>
                  <a:srgbClr val="E6EDF3"/>
                </a:solidFill>
                <a:latin typeface="Arimo"/>
                <a:ea typeface="Arimo"/>
                <a:cs typeface="Arimo"/>
                <a:sym typeface="Arimo"/>
              </a:rPr>
              <a:t>def gelu(x):</a:t>
            </a:r>
          </a:p>
          <a:p>
            <a:pPr algn="l">
              <a:lnSpc>
                <a:spcPts val="3720"/>
              </a:lnSpc>
            </a:pPr>
            <a:r>
              <a:rPr lang="en-US" sz="1700">
                <a:solidFill>
                  <a:srgbClr val="E6EDF3"/>
                </a:solidFill>
                <a:latin typeface="Arimo"/>
                <a:ea typeface="Arimo"/>
                <a:cs typeface="Arimo"/>
                <a:sym typeface="Arimo"/>
              </a:rPr>
              <a:t>    return 0.5 * x * (1.0 + erf(x / np.sqrt(2.0)))</a:t>
            </a:r>
          </a:p>
          <a:p>
            <a:pPr algn="l">
              <a:lnSpc>
                <a:spcPts val="3720"/>
              </a:lnSpc>
            </a:pPr>
          </a:p>
          <a:p>
            <a:pPr algn="l">
              <a:lnSpc>
                <a:spcPts val="3720"/>
              </a:lnSpc>
            </a:pPr>
            <a:r>
              <a:rPr lang="en-US" sz="1700">
                <a:solidFill>
                  <a:srgbClr val="E6EDF3"/>
                </a:solidFill>
                <a:latin typeface="Arimo"/>
                <a:ea typeface="Arimo"/>
                <a:cs typeface="Arimo"/>
                <a:sym typeface="Arimo"/>
              </a:rPr>
              <a:t>class Proyector:</a:t>
            </a:r>
          </a:p>
          <a:p>
            <a:pPr algn="l">
              <a:lnSpc>
                <a:spcPts val="3720"/>
              </a:lnSpc>
            </a:pPr>
            <a:r>
              <a:rPr lang="en-US" sz="1700">
                <a:solidFill>
                  <a:srgbClr val="E6EDF3"/>
                </a:solidFill>
                <a:latin typeface="Arimo"/>
                <a:ea typeface="Arimo"/>
                <a:cs typeface="Arimo"/>
                <a:sym typeface="Arimo"/>
              </a:rPr>
              <a:t>    def __call__(self, x):</a:t>
            </a:r>
          </a:p>
          <a:p>
            <a:pPr algn="l">
              <a:lnSpc>
                <a:spcPts val="3720"/>
              </a:lnSpc>
            </a:pPr>
            <a:r>
              <a:rPr lang="en-US" sz="1700">
                <a:solidFill>
                  <a:srgbClr val="E6EDF3"/>
                </a:solidFill>
                <a:latin typeface="Arimo"/>
                <a:ea typeface="Arimo"/>
                <a:cs typeface="Arimo"/>
                <a:sym typeface="Arimo"/>
              </a:rPr>
              <a:t>        return gelu(x @ self.w1 + self.b1) @ self.w2 + self.b2</a:t>
            </a:r>
          </a:p>
          <a:p>
            <a:pPr algn="l">
              <a:lnSpc>
                <a:spcPts val="3720"/>
              </a:lnSpc>
            </a:pPr>
          </a:p>
          <a:p>
            <a:pPr algn="l">
              <a:lnSpc>
                <a:spcPts val="3720"/>
              </a:lnSpc>
            </a:pPr>
            <a:r>
              <a:rPr lang="en-US" sz="1700">
                <a:solidFill>
                  <a:srgbClr val="E6EDF3"/>
                </a:solidFill>
                <a:latin typeface="Arimo"/>
                <a:ea typeface="Arimo"/>
                <a:cs typeface="Arimo"/>
                <a:sym typeface="Arimo"/>
              </a:rPr>
              <a:t>proyector = Proyector()</a:t>
            </a:r>
          </a:p>
          <a:p>
            <a:pPr algn="l">
              <a:lnSpc>
                <a:spcPts val="3720"/>
              </a:lnSpc>
            </a:pPr>
            <a:r>
              <a:rPr lang="en-US" sz="1700">
                <a:solidFill>
                  <a:srgbClr val="E6EDF3"/>
                </a:solidFill>
                <a:latin typeface="Arimo"/>
                <a:ea typeface="Arimo"/>
                <a:cs typeface="Arimo"/>
                <a:sym typeface="Arimo"/>
              </a:rPr>
              <a:t>visuales = proyector(agrupados.reshape(256, 1280))</a:t>
            </a:r>
          </a:p>
        </p:txBody>
      </p:sp>
      <p:grpSp>
        <p:nvGrpSpPr>
          <p:cNvPr name="Group 23" id="23"/>
          <p:cNvGrpSpPr/>
          <p:nvPr/>
        </p:nvGrpSpPr>
        <p:grpSpPr>
          <a:xfrm rot="0">
            <a:off x="8620125" y="8001000"/>
            <a:ext cx="8763000" cy="857250"/>
            <a:chOff x="0" y="0"/>
            <a:chExt cx="11684000" cy="1143000"/>
          </a:xfrm>
        </p:grpSpPr>
        <p:sp>
          <p:nvSpPr>
            <p:cNvPr name="Freeform 24" id="24"/>
            <p:cNvSpPr/>
            <p:nvPr/>
          </p:nvSpPr>
          <p:spPr>
            <a:xfrm flipH="false" flipV="false" rot="0">
              <a:off x="0" y="0"/>
              <a:ext cx="11684000" cy="1143000"/>
            </a:xfrm>
            <a:custGeom>
              <a:avLst/>
              <a:gdLst/>
              <a:ahLst/>
              <a:cxnLst/>
              <a:rect r="r" b="b" t="t" l="l"/>
              <a:pathLst>
                <a:path h="1143000" w="11684000">
                  <a:moveTo>
                    <a:pt x="152400" y="0"/>
                  </a:moveTo>
                  <a:lnTo>
                    <a:pt x="11531600" y="0"/>
                  </a:lnTo>
                  <a:cubicBezTo>
                    <a:pt x="11615769" y="0"/>
                    <a:pt x="11684000" y="68232"/>
                    <a:pt x="11684000" y="152400"/>
                  </a:cubicBezTo>
                  <a:lnTo>
                    <a:pt x="11684000" y="990600"/>
                  </a:lnTo>
                  <a:cubicBezTo>
                    <a:pt x="11684000" y="1074768"/>
                    <a:pt x="11615769" y="1143000"/>
                    <a:pt x="11531600" y="1143000"/>
                  </a:cubicBezTo>
                  <a:lnTo>
                    <a:pt x="152400" y="1143000"/>
                  </a:lnTo>
                  <a:cubicBezTo>
                    <a:pt x="68232" y="1143000"/>
                    <a:pt x="0" y="1074768"/>
                    <a:pt x="0" y="990600"/>
                  </a:cubicBezTo>
                  <a:lnTo>
                    <a:pt x="0" y="152400"/>
                  </a:lnTo>
                  <a:cubicBezTo>
                    <a:pt x="0" y="68232"/>
                    <a:pt x="68232" y="0"/>
                    <a:pt x="152400" y="0"/>
                  </a:cubicBezTo>
                  <a:close/>
                </a:path>
              </a:pathLst>
            </a:custGeom>
            <a:solidFill>
              <a:srgbClr val="102C43"/>
            </a:solidFill>
          </p:spPr>
        </p:sp>
        <p:sp>
          <p:nvSpPr>
            <p:cNvPr name="TextBox 25" id="25"/>
            <p:cNvSpPr txBox="true"/>
            <p:nvPr/>
          </p:nvSpPr>
          <p:spPr>
            <a:xfrm>
              <a:off x="0" y="-38100"/>
              <a:ext cx="11684000" cy="1181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26" id="26"/>
          <p:cNvSpPr txBox="true"/>
          <p:nvPr/>
        </p:nvSpPr>
        <p:spPr>
          <a:xfrm rot="0">
            <a:off x="8905875" y="8210550"/>
            <a:ext cx="8382000" cy="3505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29"/>
              </a:lnSpc>
            </a:pPr>
            <a:r>
              <a:rPr lang="en-US" sz="1950" b="true">
                <a:solidFill>
                  <a:srgbClr val="F5B82E"/>
                </a:solidFill>
                <a:latin typeface="Arimo Bold"/>
                <a:ea typeface="Arimo Bold"/>
                <a:cs typeface="Arimo Bold"/>
                <a:sym typeface="Arimo Bold"/>
              </a:rPr>
              <a:t>SALIDA  ›  (256, 4096) · 22.028.288 parámetros entrenables</a:t>
            </a:r>
          </a:p>
        </p:txBody>
      </p:sp>
      <p:sp>
        <p:nvSpPr>
          <p:cNvPr name="TextBox 27" id="27"/>
          <p:cNvSpPr txBox="true"/>
          <p:nvPr/>
        </p:nvSpPr>
        <p:spPr>
          <a:xfrm rot="0">
            <a:off x="666750" y="9772650"/>
            <a:ext cx="9525000" cy="224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84"/>
              </a:lnSpc>
            </a:pPr>
            <a:r>
              <a:rPr lang="en-US" sz="1275" b="true">
                <a:solidFill>
                  <a:srgbClr val="53697A"/>
                </a:solidFill>
                <a:latin typeface="Arimo Bold"/>
                <a:ea typeface="Arimo Bold"/>
                <a:cs typeface="Arimo Bold"/>
                <a:sym typeface="Arimo Bold"/>
              </a:rPr>
              <a:t>HELIODATA ACADEMY 2026  ·  ESCUELA DE ASTROFÍSICA SOLAR</a:t>
            </a:r>
          </a:p>
        </p:txBody>
      </p:sp>
      <p:grpSp>
        <p:nvGrpSpPr>
          <p:cNvPr name="Group 28" id="28"/>
          <p:cNvGrpSpPr/>
          <p:nvPr/>
        </p:nvGrpSpPr>
        <p:grpSpPr>
          <a:xfrm rot="0">
            <a:off x="666750" y="9639300"/>
            <a:ext cx="16954500" cy="19050"/>
            <a:chOff x="0" y="0"/>
            <a:chExt cx="22606000" cy="25400"/>
          </a:xfrm>
        </p:grpSpPr>
        <p:sp>
          <p:nvSpPr>
            <p:cNvPr name="Freeform 29" id="29"/>
            <p:cNvSpPr/>
            <p:nvPr/>
          </p:nvSpPr>
          <p:spPr>
            <a:xfrm flipH="false" flipV="false" rot="0">
              <a:off x="0" y="0"/>
              <a:ext cx="22606000" cy="25400"/>
            </a:xfrm>
            <a:custGeom>
              <a:avLst/>
              <a:gdLst/>
              <a:ahLst/>
              <a:cxnLst/>
              <a:rect r="r" b="b" t="t" l="l"/>
              <a:pathLst>
                <a:path h="25400" w="22606000">
                  <a:moveTo>
                    <a:pt x="0" y="0"/>
                  </a:moveTo>
                  <a:lnTo>
                    <a:pt x="22606000" y="0"/>
                  </a:lnTo>
                  <a:lnTo>
                    <a:pt x="22606000" y="25400"/>
                  </a:lnTo>
                  <a:lnTo>
                    <a:pt x="0" y="25400"/>
                  </a:lnTo>
                  <a:close/>
                </a:path>
              </a:pathLst>
            </a:custGeom>
            <a:solidFill>
              <a:srgbClr val="C9D3DD"/>
            </a:solidFill>
          </p:spPr>
        </p:sp>
        <p:sp>
          <p:nvSpPr>
            <p:cNvPr name="TextBox 30" id="30"/>
            <p:cNvSpPr txBox="true"/>
            <p:nvPr/>
          </p:nvSpPr>
          <p:spPr>
            <a:xfrm>
              <a:off x="0" y="-38100"/>
              <a:ext cx="22606000" cy="635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Freeform 31" id="31" descr="Logo GoSA"/>
          <p:cNvSpPr/>
          <p:nvPr/>
        </p:nvSpPr>
        <p:spPr>
          <a:xfrm flipH="false" flipV="false" rot="0">
            <a:off x="16192500" y="9734550"/>
            <a:ext cx="819150" cy="381000"/>
          </a:xfrm>
          <a:custGeom>
            <a:avLst/>
            <a:gdLst/>
            <a:ahLst/>
            <a:cxnLst/>
            <a:rect r="r" b="b" t="t" l="l"/>
            <a:pathLst>
              <a:path h="381000" w="819150">
                <a:moveTo>
                  <a:pt x="0" y="0"/>
                </a:moveTo>
                <a:lnTo>
                  <a:pt x="819150" y="0"/>
                </a:lnTo>
                <a:lnTo>
                  <a:pt x="819150" y="381000"/>
                </a:lnTo>
                <a:lnTo>
                  <a:pt x="0" y="381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07" r="0" b="-307"/>
            </a:stretch>
          </a:blipFill>
        </p:spPr>
      </p:sp>
      <p:sp>
        <p:nvSpPr>
          <p:cNvPr name="Freeform 32" id="32" descr="Logo Observatorio Astronómico Nacional"/>
          <p:cNvSpPr/>
          <p:nvPr/>
        </p:nvSpPr>
        <p:spPr>
          <a:xfrm flipH="false" flipV="false" rot="0">
            <a:off x="17145000" y="9715500"/>
            <a:ext cx="457200" cy="428625"/>
          </a:xfrm>
          <a:custGeom>
            <a:avLst/>
            <a:gdLst/>
            <a:ahLst/>
            <a:cxnLst/>
            <a:rect r="r" b="b" t="t" l="l"/>
            <a:pathLst>
              <a:path h="428625" w="457200">
                <a:moveTo>
                  <a:pt x="0" y="0"/>
                </a:moveTo>
                <a:lnTo>
                  <a:pt x="457200" y="0"/>
                </a:lnTo>
                <a:lnTo>
                  <a:pt x="45720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328" t="0" r="-328" b="0"/>
            </a:stretch>
          </a:blipFill>
        </p:spPr>
      </p:sp>
      <p:grpSp>
        <p:nvGrpSpPr>
          <p:cNvPr name="Group 33" id="33"/>
          <p:cNvGrpSpPr/>
          <p:nvPr/>
        </p:nvGrpSpPr>
        <p:grpSpPr>
          <a:xfrm rot="0">
            <a:off x="666750" y="7048500"/>
            <a:ext cx="7048500" cy="1809750"/>
            <a:chOff x="0" y="0"/>
            <a:chExt cx="9398000" cy="2413000"/>
          </a:xfrm>
        </p:grpSpPr>
        <p:sp>
          <p:nvSpPr>
            <p:cNvPr name="Freeform 34" id="34"/>
            <p:cNvSpPr/>
            <p:nvPr/>
          </p:nvSpPr>
          <p:spPr>
            <a:xfrm flipH="false" flipV="false" rot="0">
              <a:off x="0" y="0"/>
              <a:ext cx="9398000" cy="2413000"/>
            </a:xfrm>
            <a:custGeom>
              <a:avLst/>
              <a:gdLst/>
              <a:ahLst/>
              <a:cxnLst/>
              <a:rect r="r" b="b" t="t" l="l"/>
              <a:pathLst>
                <a:path h="2413000" w="9398000">
                  <a:moveTo>
                    <a:pt x="228600" y="0"/>
                  </a:moveTo>
                  <a:lnTo>
                    <a:pt x="9169400" y="0"/>
                  </a:lnTo>
                  <a:cubicBezTo>
                    <a:pt x="9295652" y="0"/>
                    <a:pt x="9398000" y="102348"/>
                    <a:pt x="9398000" y="228600"/>
                  </a:cubicBezTo>
                  <a:lnTo>
                    <a:pt x="9398000" y="2184400"/>
                  </a:lnTo>
                  <a:cubicBezTo>
                    <a:pt x="9398000" y="2310652"/>
                    <a:pt x="9295652" y="2413000"/>
                    <a:pt x="9169400" y="2413000"/>
                  </a:cubicBezTo>
                  <a:lnTo>
                    <a:pt x="228600" y="2413000"/>
                  </a:lnTo>
                  <a:cubicBezTo>
                    <a:pt x="102348" y="2413000"/>
                    <a:pt x="0" y="2310652"/>
                    <a:pt x="0" y="2184400"/>
                  </a:cubicBezTo>
                  <a:lnTo>
                    <a:pt x="0" y="228600"/>
                  </a:lnTo>
                  <a:cubicBezTo>
                    <a:pt x="0" y="102348"/>
                    <a:pt x="102348" y="0"/>
                    <a:pt x="228600" y="0"/>
                  </a:cubicBezTo>
                  <a:close/>
                </a:path>
              </a:pathLst>
            </a:custGeom>
            <a:solidFill>
              <a:srgbClr val="E3EEF0"/>
            </a:solidFill>
          </p:spPr>
        </p:sp>
        <p:sp>
          <p:nvSpPr>
            <p:cNvPr name="TextBox 35" id="35"/>
            <p:cNvSpPr txBox="true"/>
            <p:nvPr/>
          </p:nvSpPr>
          <p:spPr>
            <a:xfrm>
              <a:off x="0" y="-38100"/>
              <a:ext cx="9398000" cy="2451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36" id="36"/>
          <p:cNvGrpSpPr/>
          <p:nvPr/>
        </p:nvGrpSpPr>
        <p:grpSpPr>
          <a:xfrm rot="0">
            <a:off x="666750" y="7239000"/>
            <a:ext cx="95250" cy="1428750"/>
            <a:chOff x="0" y="0"/>
            <a:chExt cx="127000" cy="1905000"/>
          </a:xfrm>
        </p:grpSpPr>
        <p:sp>
          <p:nvSpPr>
            <p:cNvPr name="Freeform 37" id="37"/>
            <p:cNvSpPr/>
            <p:nvPr/>
          </p:nvSpPr>
          <p:spPr>
            <a:xfrm flipH="false" flipV="false" rot="0">
              <a:off x="0" y="0"/>
              <a:ext cx="127000" cy="1905000"/>
            </a:xfrm>
            <a:custGeom>
              <a:avLst/>
              <a:gdLst/>
              <a:ahLst/>
              <a:cxnLst/>
              <a:rect r="r" b="b" t="t" l="l"/>
              <a:pathLst>
                <a:path h="1905000" w="127000">
                  <a:moveTo>
                    <a:pt x="0" y="0"/>
                  </a:moveTo>
                  <a:lnTo>
                    <a:pt x="127000" y="0"/>
                  </a:lnTo>
                  <a:lnTo>
                    <a:pt x="127000" y="1905000"/>
                  </a:lnTo>
                  <a:lnTo>
                    <a:pt x="0" y="1905000"/>
                  </a:lnTo>
                  <a:close/>
                </a:path>
              </a:pathLst>
            </a:custGeom>
            <a:solidFill>
              <a:srgbClr val="087F8C"/>
            </a:solidFill>
          </p:spPr>
        </p:sp>
        <p:sp>
          <p:nvSpPr>
            <p:cNvPr name="TextBox 38" id="38"/>
            <p:cNvSpPr txBox="true"/>
            <p:nvPr/>
          </p:nvSpPr>
          <p:spPr>
            <a:xfrm>
              <a:off x="0" y="-38100"/>
              <a:ext cx="127000" cy="1943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39" id="39"/>
          <p:cNvSpPr txBox="true"/>
          <p:nvPr/>
        </p:nvSpPr>
        <p:spPr>
          <a:xfrm rot="0">
            <a:off x="1047750" y="7277100"/>
            <a:ext cx="57150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>
                <a:solidFill>
                  <a:srgbClr val="087F8C"/>
                </a:solidFill>
                <a:latin typeface="Arimo Bold"/>
                <a:ea typeface="Arimo Bold"/>
                <a:cs typeface="Arimo Bold"/>
                <a:sym typeface="Arimo Bold"/>
              </a:rPr>
              <a:t>OBJETIVO</a:t>
            </a:r>
          </a:p>
        </p:txBody>
      </p:sp>
      <p:sp>
        <p:nvSpPr>
          <p:cNvPr name="TextBox 40" id="40"/>
          <p:cNvSpPr txBox="true"/>
          <p:nvPr/>
        </p:nvSpPr>
        <p:spPr>
          <a:xfrm rot="0">
            <a:off x="1047750" y="7724775"/>
            <a:ext cx="6477000" cy="3981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120"/>
              </a:lnSpc>
            </a:pPr>
            <a:r>
              <a:rPr lang="en-US" sz="2400">
                <a:solidFill>
                  <a:srgbClr val="071D30"/>
                </a:solidFill>
                <a:latin typeface="Arimo"/>
                <a:ea typeface="Arimo"/>
                <a:cs typeface="Arimo"/>
                <a:sym typeface="Arimo"/>
              </a:rPr>
              <a:t>Ver cómo los 256 tokens de Surya se vuelven vectores que el LLM puede leer.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D30"/>
        </a:solidFill>
      </p:bgPr>
    </p:bg>
    <p:spTree>
      <p:nvGrpSpPr>
        <p:cNvPr id="1" name=""/>
        <p:cNvGrpSpPr/>
        <p:nvPr/>
      </p:nvGrpSpPr>
      <p:grpSpPr/>
      <p:grpSp>
        <p:nvGrpSpPr>
          <p:cNvPr name="Group 2" id="2"/>
          <p:cNvGrpSpPr/>
          <p:nvPr/>
        </p:nvGrpSpPr>
        <p:grpSpPr>
          <a:xfrm rot="0">
            <a:off x="9048750" y="6524625"/>
            <a:ext cx="8858250" cy="2381250"/>
            <a:chOff x="0" y="0"/>
            <a:chExt cx="11811000" cy="31750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1811000" cy="3175000"/>
            </a:xfrm>
            <a:custGeom>
              <a:avLst/>
              <a:gdLst/>
              <a:ahLst/>
              <a:cxnLst/>
              <a:rect r="r" b="b" t="t" l="l"/>
              <a:pathLst>
                <a:path h="3175000" w="11811000">
                  <a:moveTo>
                    <a:pt x="254000" y="0"/>
                  </a:moveTo>
                  <a:lnTo>
                    <a:pt x="11557000" y="0"/>
                  </a:lnTo>
                  <a:cubicBezTo>
                    <a:pt x="11697281" y="0"/>
                    <a:pt x="11811000" y="113720"/>
                    <a:pt x="11811000" y="254000"/>
                  </a:cubicBezTo>
                  <a:lnTo>
                    <a:pt x="11811000" y="2921000"/>
                  </a:lnTo>
                  <a:cubicBezTo>
                    <a:pt x="11811000" y="3061280"/>
                    <a:pt x="11697281" y="3175000"/>
                    <a:pt x="11557000" y="3175000"/>
                  </a:cubicBezTo>
                  <a:lnTo>
                    <a:pt x="254000" y="3175000"/>
                  </a:lnTo>
                  <a:cubicBezTo>
                    <a:pt x="113720" y="3175000"/>
                    <a:pt x="0" y="3061280"/>
                    <a:pt x="0" y="2921000"/>
                  </a:cubicBezTo>
                  <a:lnTo>
                    <a:pt x="0" y="254000"/>
                  </a:lnTo>
                  <a:cubicBezTo>
                    <a:pt x="0" y="113720"/>
                    <a:pt x="113720" y="0"/>
                    <a:pt x="254000" y="0"/>
                  </a:cubicBezTo>
                  <a:close/>
                </a:path>
              </a:pathLst>
            </a:custGeom>
            <a:solidFill>
              <a:srgbClr val="102C43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11811000" cy="3213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381000" y="6524625"/>
            <a:ext cx="8477250" cy="2381250"/>
            <a:chOff x="0" y="0"/>
            <a:chExt cx="11303000" cy="317500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1303000" cy="3175000"/>
            </a:xfrm>
            <a:custGeom>
              <a:avLst/>
              <a:gdLst/>
              <a:ahLst/>
              <a:cxnLst/>
              <a:rect r="r" b="b" t="t" l="l"/>
              <a:pathLst>
                <a:path h="3175000" w="11303000">
                  <a:moveTo>
                    <a:pt x="254000" y="0"/>
                  </a:moveTo>
                  <a:lnTo>
                    <a:pt x="11049000" y="0"/>
                  </a:lnTo>
                  <a:cubicBezTo>
                    <a:pt x="11189281" y="0"/>
                    <a:pt x="11303000" y="113720"/>
                    <a:pt x="11303000" y="254000"/>
                  </a:cubicBezTo>
                  <a:lnTo>
                    <a:pt x="11303000" y="2921000"/>
                  </a:lnTo>
                  <a:cubicBezTo>
                    <a:pt x="11303000" y="3061280"/>
                    <a:pt x="11189281" y="3175000"/>
                    <a:pt x="11049000" y="3175000"/>
                  </a:cubicBezTo>
                  <a:lnTo>
                    <a:pt x="254000" y="3175000"/>
                  </a:lnTo>
                  <a:cubicBezTo>
                    <a:pt x="113720" y="3175000"/>
                    <a:pt x="0" y="3061280"/>
                    <a:pt x="0" y="2921000"/>
                  </a:cubicBezTo>
                  <a:lnTo>
                    <a:pt x="0" y="254000"/>
                  </a:lnTo>
                  <a:cubicBezTo>
                    <a:pt x="0" y="113720"/>
                    <a:pt x="113720" y="0"/>
                    <a:pt x="254000" y="0"/>
                  </a:cubicBezTo>
                  <a:close/>
                </a:path>
              </a:pathLst>
            </a:custGeom>
            <a:solidFill>
              <a:srgbClr val="102C43"/>
            </a:solidFill>
          </p:spPr>
        </p:sp>
        <p:sp>
          <p:nvSpPr>
            <p:cNvPr name="TextBox 7" id="7"/>
            <p:cNvSpPr txBox="true"/>
            <p:nvPr/>
          </p:nvSpPr>
          <p:spPr>
            <a:xfrm>
              <a:off x="0" y="-38100"/>
              <a:ext cx="11303000" cy="3213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9048750" y="3857625"/>
            <a:ext cx="8858250" cy="2190750"/>
            <a:chOff x="0" y="0"/>
            <a:chExt cx="11811000" cy="292100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11811000" cy="2921000"/>
            </a:xfrm>
            <a:custGeom>
              <a:avLst/>
              <a:gdLst/>
              <a:ahLst/>
              <a:cxnLst/>
              <a:rect r="r" b="b" t="t" l="l"/>
              <a:pathLst>
                <a:path h="2921000" w="11811000">
                  <a:moveTo>
                    <a:pt x="254000" y="0"/>
                  </a:moveTo>
                  <a:lnTo>
                    <a:pt x="11557000" y="0"/>
                  </a:lnTo>
                  <a:cubicBezTo>
                    <a:pt x="11697281" y="0"/>
                    <a:pt x="11811000" y="113720"/>
                    <a:pt x="11811000" y="254000"/>
                  </a:cubicBezTo>
                  <a:lnTo>
                    <a:pt x="11811000" y="2667000"/>
                  </a:lnTo>
                  <a:cubicBezTo>
                    <a:pt x="11811000" y="2807280"/>
                    <a:pt x="11697281" y="2921000"/>
                    <a:pt x="11557000" y="2921000"/>
                  </a:cubicBezTo>
                  <a:lnTo>
                    <a:pt x="254000" y="2921000"/>
                  </a:lnTo>
                  <a:cubicBezTo>
                    <a:pt x="113720" y="2921000"/>
                    <a:pt x="0" y="2807280"/>
                    <a:pt x="0" y="2667000"/>
                  </a:cubicBezTo>
                  <a:lnTo>
                    <a:pt x="0" y="254000"/>
                  </a:lnTo>
                  <a:cubicBezTo>
                    <a:pt x="0" y="113720"/>
                    <a:pt x="113720" y="0"/>
                    <a:pt x="254000" y="0"/>
                  </a:cubicBezTo>
                  <a:close/>
                </a:path>
              </a:pathLst>
            </a:custGeom>
            <a:solidFill>
              <a:srgbClr val="102C43"/>
            </a:solidFill>
          </p:spPr>
        </p:sp>
        <p:sp>
          <p:nvSpPr>
            <p:cNvPr name="TextBox 10" id="10"/>
            <p:cNvSpPr txBox="true"/>
            <p:nvPr/>
          </p:nvSpPr>
          <p:spPr>
            <a:xfrm>
              <a:off x="0" y="-38100"/>
              <a:ext cx="11811000" cy="2959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1" id="11"/>
          <p:cNvGrpSpPr/>
          <p:nvPr/>
        </p:nvGrpSpPr>
        <p:grpSpPr>
          <a:xfrm rot="0">
            <a:off x="381000" y="3857625"/>
            <a:ext cx="8477250" cy="2190750"/>
            <a:chOff x="0" y="0"/>
            <a:chExt cx="11303000" cy="2921000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11303000" cy="2921000"/>
            </a:xfrm>
            <a:custGeom>
              <a:avLst/>
              <a:gdLst/>
              <a:ahLst/>
              <a:cxnLst/>
              <a:rect r="r" b="b" t="t" l="l"/>
              <a:pathLst>
                <a:path h="2921000" w="11303000">
                  <a:moveTo>
                    <a:pt x="254000" y="0"/>
                  </a:moveTo>
                  <a:lnTo>
                    <a:pt x="11049000" y="0"/>
                  </a:lnTo>
                  <a:cubicBezTo>
                    <a:pt x="11189281" y="0"/>
                    <a:pt x="11303000" y="113720"/>
                    <a:pt x="11303000" y="254000"/>
                  </a:cubicBezTo>
                  <a:lnTo>
                    <a:pt x="11303000" y="2667000"/>
                  </a:lnTo>
                  <a:cubicBezTo>
                    <a:pt x="11303000" y="2807280"/>
                    <a:pt x="11189281" y="2921000"/>
                    <a:pt x="11049000" y="2921000"/>
                  </a:cubicBezTo>
                  <a:lnTo>
                    <a:pt x="254000" y="2921000"/>
                  </a:lnTo>
                  <a:cubicBezTo>
                    <a:pt x="113720" y="2921000"/>
                    <a:pt x="0" y="2807280"/>
                    <a:pt x="0" y="2667000"/>
                  </a:cubicBezTo>
                  <a:lnTo>
                    <a:pt x="0" y="254000"/>
                  </a:lnTo>
                  <a:cubicBezTo>
                    <a:pt x="0" y="113720"/>
                    <a:pt x="113720" y="0"/>
                    <a:pt x="254000" y="0"/>
                  </a:cubicBezTo>
                  <a:close/>
                </a:path>
              </a:pathLst>
            </a:custGeom>
            <a:solidFill>
              <a:srgbClr val="102C43"/>
            </a:solidFill>
          </p:spPr>
        </p:sp>
        <p:sp>
          <p:nvSpPr>
            <p:cNvPr name="TextBox 13" id="13"/>
            <p:cNvSpPr txBox="true"/>
            <p:nvPr/>
          </p:nvSpPr>
          <p:spPr>
            <a:xfrm>
              <a:off x="0" y="-38100"/>
              <a:ext cx="11303000" cy="2959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4" id="14"/>
          <p:cNvSpPr txBox="true"/>
          <p:nvPr/>
        </p:nvSpPr>
        <p:spPr>
          <a:xfrm rot="0">
            <a:off x="666750" y="809625"/>
            <a:ext cx="16954500" cy="106997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8000"/>
              </a:lnSpc>
              <a:spcBef>
                <a:spcPct val="0"/>
              </a:spcBef>
            </a:pPr>
            <a:r>
              <a:rPr lang="en-US" sz="8000" strike="noStrike" u="none">
                <a:solidFill>
                  <a:srgbClr val="F5B82E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Resultados del prototipo</a:t>
            </a:r>
          </a:p>
        </p:txBody>
      </p:sp>
      <p:grpSp>
        <p:nvGrpSpPr>
          <p:cNvPr name="Group 15" id="15"/>
          <p:cNvGrpSpPr/>
          <p:nvPr/>
        </p:nvGrpSpPr>
        <p:grpSpPr>
          <a:xfrm rot="0">
            <a:off x="2105025" y="4259580"/>
            <a:ext cx="6886575" cy="1570673"/>
            <a:chOff x="0" y="0"/>
            <a:chExt cx="9182100" cy="2094230"/>
          </a:xfrm>
        </p:grpSpPr>
        <p:sp>
          <p:nvSpPr>
            <p:cNvPr name="TextBox 16" id="16"/>
            <p:cNvSpPr txBox="true"/>
            <p:nvPr/>
          </p:nvSpPr>
          <p:spPr>
            <a:xfrm rot="0">
              <a:off x="0" y="0"/>
              <a:ext cx="9182100" cy="9271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5040"/>
                </a:lnSpc>
                <a:spcBef>
                  <a:spcPct val="0"/>
                </a:spcBef>
              </a:pPr>
              <a:r>
                <a:rPr lang="en-US" b="true" sz="4200" spc="-63" strike="noStrike" u="none">
                  <a:solidFill>
                    <a:srgbClr val="F5B82E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0,557</a:t>
              </a:r>
            </a:p>
          </p:txBody>
        </p:sp>
        <p:sp>
          <p:nvSpPr>
            <p:cNvPr name="TextBox 17" id="17"/>
            <p:cNvSpPr txBox="true"/>
            <p:nvPr/>
          </p:nvSpPr>
          <p:spPr>
            <a:xfrm rot="0">
              <a:off x="0" y="1571414"/>
              <a:ext cx="9182100" cy="52281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249"/>
                </a:lnSpc>
                <a:spcBef>
                  <a:spcPct val="0"/>
                </a:spcBef>
              </a:pPr>
              <a:r>
                <a:rPr lang="en-US" sz="2499" spc="-37" strike="noStrike" u="none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mejor pérdida en las regiones apartadas (época 15)</a:t>
              </a:r>
            </a:p>
          </p:txBody>
        </p:sp>
      </p:grpSp>
      <p:grpSp>
        <p:nvGrpSpPr>
          <p:cNvPr name="Group 18" id="18"/>
          <p:cNvGrpSpPr/>
          <p:nvPr/>
        </p:nvGrpSpPr>
        <p:grpSpPr>
          <a:xfrm rot="0">
            <a:off x="10734675" y="6944836"/>
            <a:ext cx="6886575" cy="1570673"/>
            <a:chOff x="0" y="0"/>
            <a:chExt cx="9182100" cy="2094230"/>
          </a:xfrm>
        </p:grpSpPr>
        <p:sp>
          <p:nvSpPr>
            <p:cNvPr name="TextBox 19" id="19"/>
            <p:cNvSpPr txBox="true"/>
            <p:nvPr/>
          </p:nvSpPr>
          <p:spPr>
            <a:xfrm rot="0">
              <a:off x="0" y="0"/>
              <a:ext cx="9182100" cy="9271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5040"/>
                </a:lnSpc>
                <a:spcBef>
                  <a:spcPct val="0"/>
                </a:spcBef>
              </a:pPr>
              <a:r>
                <a:rPr lang="en-US" b="true" sz="4200" spc="-63" strike="noStrike" u="none">
                  <a:solidFill>
                    <a:srgbClr val="F5B82E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29 / 55</a:t>
              </a:r>
            </a:p>
          </p:txBody>
        </p:sp>
        <p:sp>
          <p:nvSpPr>
            <p:cNvPr name="TextBox 20" id="20"/>
            <p:cNvSpPr txBox="true"/>
            <p:nvPr/>
          </p:nvSpPr>
          <p:spPr>
            <a:xfrm rot="0">
              <a:off x="0" y="1571414"/>
              <a:ext cx="9182100" cy="52281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249"/>
                </a:lnSpc>
                <a:spcBef>
                  <a:spcPct val="0"/>
                </a:spcBef>
              </a:pPr>
              <a:r>
                <a:rPr lang="en-US" sz="2499" spc="-37" strike="noStrike" u="none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captions que dicen «sur»; solo 12 regiones lo son</a:t>
              </a:r>
            </a:p>
          </p:txBody>
        </p:sp>
      </p:grpSp>
      <p:grpSp>
        <p:nvGrpSpPr>
          <p:cNvPr name="Group 21" id="21"/>
          <p:cNvGrpSpPr/>
          <p:nvPr/>
        </p:nvGrpSpPr>
        <p:grpSpPr>
          <a:xfrm rot="0">
            <a:off x="2105025" y="6937534"/>
            <a:ext cx="6886575" cy="1616869"/>
            <a:chOff x="0" y="0"/>
            <a:chExt cx="9182100" cy="2155825"/>
          </a:xfrm>
        </p:grpSpPr>
        <p:sp>
          <p:nvSpPr>
            <p:cNvPr name="TextBox 22" id="22"/>
            <p:cNvSpPr txBox="true"/>
            <p:nvPr/>
          </p:nvSpPr>
          <p:spPr>
            <a:xfrm rot="0">
              <a:off x="0" y="0"/>
              <a:ext cx="9182100" cy="9271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5040"/>
                </a:lnSpc>
                <a:spcBef>
                  <a:spcPct val="0"/>
                </a:spcBef>
              </a:pPr>
              <a:r>
                <a:rPr lang="en-US" b="true" sz="4200" spc="-63" strike="noStrike" u="none">
                  <a:solidFill>
                    <a:srgbClr val="F5B82E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+0,18</a:t>
              </a:r>
            </a:p>
          </p:txBody>
        </p:sp>
        <p:sp>
          <p:nvSpPr>
            <p:cNvPr name="TextBox 23" id="23"/>
            <p:cNvSpPr txBox="true"/>
            <p:nvPr/>
          </p:nvSpPr>
          <p:spPr>
            <a:xfrm rot="0">
              <a:off x="0" y="1633008"/>
              <a:ext cx="9182100" cy="52281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249"/>
                </a:lnSpc>
                <a:spcBef>
                  <a:spcPct val="0"/>
                </a:spcBef>
              </a:pPr>
              <a:r>
                <a:rPr lang="en-US" sz="2499" spc="-37" strike="noStrike" u="none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cuánto sube la pérdida si se cambia la imagen</a:t>
              </a:r>
            </a:p>
          </p:txBody>
        </p:sp>
      </p:grpSp>
      <p:sp>
        <p:nvSpPr>
          <p:cNvPr name="TextBox 24" id="24"/>
          <p:cNvSpPr txBox="true"/>
          <p:nvPr/>
        </p:nvSpPr>
        <p:spPr>
          <a:xfrm rot="0">
            <a:off x="666750" y="4244340"/>
            <a:ext cx="864987" cy="4286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359"/>
              </a:lnSpc>
              <a:spcBef>
                <a:spcPct val="0"/>
              </a:spcBef>
            </a:pPr>
            <a:r>
              <a:rPr lang="en-US" sz="2799" u="none">
                <a:solidFill>
                  <a:srgbClr val="F5B82E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01</a:t>
            </a:r>
          </a:p>
        </p:txBody>
      </p:sp>
      <p:sp>
        <p:nvSpPr>
          <p:cNvPr name="TextBox 25" id="25"/>
          <p:cNvSpPr txBox="true"/>
          <p:nvPr/>
        </p:nvSpPr>
        <p:spPr>
          <a:xfrm rot="0">
            <a:off x="9296400" y="4250055"/>
            <a:ext cx="864987" cy="4286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359"/>
              </a:lnSpc>
              <a:spcBef>
                <a:spcPct val="0"/>
              </a:spcBef>
            </a:pPr>
            <a:r>
              <a:rPr lang="en-US" sz="2799" u="none">
                <a:solidFill>
                  <a:srgbClr val="F5B82E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03</a:t>
            </a:r>
          </a:p>
        </p:txBody>
      </p:sp>
      <p:sp>
        <p:nvSpPr>
          <p:cNvPr name="TextBox 26" id="26"/>
          <p:cNvSpPr txBox="true"/>
          <p:nvPr/>
        </p:nvSpPr>
        <p:spPr>
          <a:xfrm rot="0">
            <a:off x="9296400" y="6936105"/>
            <a:ext cx="864987" cy="4286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359"/>
              </a:lnSpc>
              <a:spcBef>
                <a:spcPct val="0"/>
              </a:spcBef>
            </a:pPr>
            <a:r>
              <a:rPr lang="en-US" sz="2799" u="none">
                <a:solidFill>
                  <a:srgbClr val="F5B82E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04</a:t>
            </a:r>
          </a:p>
        </p:txBody>
      </p:sp>
      <p:sp>
        <p:nvSpPr>
          <p:cNvPr name="TextBox 27" id="27"/>
          <p:cNvSpPr txBox="true"/>
          <p:nvPr/>
        </p:nvSpPr>
        <p:spPr>
          <a:xfrm rot="0">
            <a:off x="666750" y="6930390"/>
            <a:ext cx="864987" cy="4286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3359"/>
              </a:lnSpc>
              <a:spcBef>
                <a:spcPct val="0"/>
              </a:spcBef>
            </a:pPr>
            <a:r>
              <a:rPr lang="en-US" sz="2799" u="none">
                <a:solidFill>
                  <a:srgbClr val="F5B82E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02</a:t>
            </a:r>
          </a:p>
        </p:txBody>
      </p:sp>
      <p:grpSp>
        <p:nvGrpSpPr>
          <p:cNvPr name="Group 28" id="28"/>
          <p:cNvGrpSpPr/>
          <p:nvPr/>
        </p:nvGrpSpPr>
        <p:grpSpPr>
          <a:xfrm rot="0">
            <a:off x="10734675" y="4258786"/>
            <a:ext cx="6886575" cy="1570673"/>
            <a:chOff x="0" y="0"/>
            <a:chExt cx="9182100" cy="2094230"/>
          </a:xfrm>
        </p:grpSpPr>
        <p:sp>
          <p:nvSpPr>
            <p:cNvPr name="TextBox 29" id="29"/>
            <p:cNvSpPr txBox="true"/>
            <p:nvPr/>
          </p:nvSpPr>
          <p:spPr>
            <a:xfrm rot="0">
              <a:off x="0" y="0"/>
              <a:ext cx="9182100" cy="9271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5040"/>
                </a:lnSpc>
                <a:spcBef>
                  <a:spcPct val="0"/>
                </a:spcBef>
              </a:pPr>
              <a:r>
                <a:rPr lang="en-US" b="true" sz="4200" spc="-63" strike="noStrike" u="none">
                  <a:solidFill>
                    <a:srgbClr val="F5B82E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17 / 19</a:t>
              </a:r>
            </a:p>
          </p:txBody>
        </p:sp>
        <p:sp>
          <p:nvSpPr>
            <p:cNvPr name="TextBox 30" id="30"/>
            <p:cNvSpPr txBox="true"/>
            <p:nvPr/>
          </p:nvSpPr>
          <p:spPr>
            <a:xfrm rot="0">
              <a:off x="0" y="1571414"/>
              <a:ext cx="9182100" cy="52281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249"/>
                </a:lnSpc>
                <a:spcBef>
                  <a:spcPct val="0"/>
                </a:spcBef>
              </a:pPr>
              <a:r>
                <a:rPr lang="en-US" sz="2499" spc="-37" strike="noStrike" u="none">
                  <a:solidFill>
                    <a:srgbClr val="F5F7FA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hemisferio correcto en días nuevos (línea base: 7)</a:t>
              </a:r>
            </a:p>
          </p:txBody>
        </p:sp>
      </p:grpSp>
      <p:sp>
        <p:nvSpPr>
          <p:cNvPr name="TextBox 31" id="31"/>
          <p:cNvSpPr txBox="true"/>
          <p:nvPr/>
        </p:nvSpPr>
        <p:spPr>
          <a:xfrm rot="0">
            <a:off x="685800" y="2085975"/>
            <a:ext cx="66675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>
                <a:solidFill>
                  <a:srgbClr val="087F8C"/>
                </a:solidFill>
                <a:latin typeface="Arimo Bold"/>
                <a:ea typeface="Arimo Bold"/>
                <a:cs typeface="Arimo Bold"/>
                <a:sym typeface="Arimo Bold"/>
              </a:rPr>
              <a:t>PRUEBA DE QUE EL FLUJO ENTRENA, NO UN RESULTADO CIENTÍFICO</a:t>
            </a:r>
          </a:p>
        </p:txBody>
      </p:sp>
      <p:grpSp>
        <p:nvGrpSpPr>
          <p:cNvPr name="Group 32" id="32"/>
          <p:cNvGrpSpPr/>
          <p:nvPr/>
        </p:nvGrpSpPr>
        <p:grpSpPr>
          <a:xfrm rot="0">
            <a:off x="16383000" y="571500"/>
            <a:ext cx="1238250" cy="1238250"/>
            <a:chOff x="0" y="0"/>
            <a:chExt cx="1651000" cy="1651000"/>
          </a:xfrm>
        </p:grpSpPr>
        <p:sp>
          <p:nvSpPr>
            <p:cNvPr name="Freeform 33" id="33"/>
            <p:cNvSpPr/>
            <p:nvPr/>
          </p:nvSpPr>
          <p:spPr>
            <a:xfrm flipH="false" flipV="false" rot="0">
              <a:off x="185738" y="185738"/>
              <a:ext cx="1279525" cy="1279525"/>
            </a:xfrm>
            <a:custGeom>
              <a:avLst/>
              <a:gdLst/>
              <a:ahLst/>
              <a:cxnLst/>
              <a:rect r="r" b="b" t="t" l="l"/>
              <a:pathLst>
                <a:path h="1279525" w="1279525">
                  <a:moveTo>
                    <a:pt x="275166" y="639762"/>
                  </a:moveTo>
                  <a:cubicBezTo>
                    <a:pt x="275166" y="841123"/>
                    <a:pt x="438401" y="1004358"/>
                    <a:pt x="639762" y="1004358"/>
                  </a:cubicBezTo>
                  <a:cubicBezTo>
                    <a:pt x="841123" y="1004358"/>
                    <a:pt x="1004358" y="841123"/>
                    <a:pt x="1004358" y="639762"/>
                  </a:cubicBezTo>
                  <a:cubicBezTo>
                    <a:pt x="1004358" y="438401"/>
                    <a:pt x="841123" y="275166"/>
                    <a:pt x="639762" y="275166"/>
                  </a:cubicBezTo>
                  <a:cubicBezTo>
                    <a:pt x="438401" y="275166"/>
                    <a:pt x="275166" y="438401"/>
                    <a:pt x="275166" y="639762"/>
                  </a:cubicBezTo>
                  <a:close/>
                  <a:moveTo>
                    <a:pt x="1246505" y="260720"/>
                  </a:moveTo>
                  <a:cubicBezTo>
                    <a:pt x="1203867" y="188286"/>
                    <a:pt x="1047386" y="194142"/>
                    <a:pt x="836581" y="276061"/>
                  </a:cubicBezTo>
                  <a:cubicBezTo>
                    <a:pt x="625775" y="357980"/>
                    <a:pt x="393043" y="503372"/>
                    <a:pt x="226905" y="656936"/>
                  </a:cubicBezTo>
                  <a:cubicBezTo>
                    <a:pt x="60766" y="810500"/>
                    <a:pt x="-13246" y="948637"/>
                    <a:pt x="33020" y="1018804"/>
                  </a:cubicBezTo>
                  <a:cubicBezTo>
                    <a:pt x="75657" y="1091238"/>
                    <a:pt x="232138" y="1085382"/>
                    <a:pt x="442943" y="1003463"/>
                  </a:cubicBezTo>
                  <a:cubicBezTo>
                    <a:pt x="653749" y="921544"/>
                    <a:pt x="886481" y="776152"/>
                    <a:pt x="1052619" y="622588"/>
                  </a:cubicBezTo>
                  <a:cubicBezTo>
                    <a:pt x="1218758" y="469024"/>
                    <a:pt x="1292770" y="330887"/>
                    <a:pt x="1246505" y="260720"/>
                  </a:cubicBezTo>
                  <a:close/>
                  <a:moveTo>
                    <a:pt x="639762" y="110066"/>
                  </a:moveTo>
                  <a:lnTo>
                    <a:pt x="639762" y="0"/>
                  </a:lnTo>
                  <a:moveTo>
                    <a:pt x="639762" y="1279524"/>
                  </a:moveTo>
                  <a:lnTo>
                    <a:pt x="639762" y="1169458"/>
                  </a:lnTo>
                  <a:moveTo>
                    <a:pt x="110066" y="639762"/>
                  </a:moveTo>
                  <a:lnTo>
                    <a:pt x="0" y="639762"/>
                  </a:lnTo>
                  <a:moveTo>
                    <a:pt x="1279524" y="639762"/>
                  </a:moveTo>
                  <a:lnTo>
                    <a:pt x="1169458" y="639762"/>
                  </a:lnTo>
                  <a:moveTo>
                    <a:pt x="268287" y="268287"/>
                  </a:moveTo>
                  <a:lnTo>
                    <a:pt x="192616" y="192616"/>
                  </a:lnTo>
                  <a:moveTo>
                    <a:pt x="1011237" y="1011237"/>
                  </a:moveTo>
                  <a:lnTo>
                    <a:pt x="1086908" y="1086908"/>
                  </a:lnTo>
                  <a:moveTo>
                    <a:pt x="302683" y="687916"/>
                  </a:moveTo>
                  <a:lnTo>
                    <a:pt x="454024" y="687916"/>
                  </a:lnTo>
                  <a:lnTo>
                    <a:pt x="529695" y="529695"/>
                  </a:lnTo>
                  <a:lnTo>
                    <a:pt x="646641" y="804862"/>
                  </a:lnTo>
                  <a:lnTo>
                    <a:pt x="749829" y="598487"/>
                  </a:lnTo>
                  <a:lnTo>
                    <a:pt x="818620" y="687916"/>
                  </a:lnTo>
                  <a:lnTo>
                    <a:pt x="983720" y="687916"/>
                  </a:lnTo>
                </a:path>
              </a:pathLst>
            </a:custGeom>
            <a:ln w="38100" cap="sq">
              <a:solidFill>
                <a:srgbClr val="F5B82E"/>
              </a:solidFill>
              <a:prstDash val="solid"/>
              <a:miter/>
            </a:ln>
          </p:spPr>
        </p:sp>
        <p:sp>
          <p:nvSpPr>
            <p:cNvPr name="TextBox 34" id="34"/>
            <p:cNvSpPr txBox="true"/>
            <p:nvPr/>
          </p:nvSpPr>
          <p:spPr>
            <a:xfrm>
              <a:off x="0" y="-38100"/>
              <a:ext cx="1651000" cy="1689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35" id="35"/>
          <p:cNvGrpSpPr/>
          <p:nvPr/>
        </p:nvGrpSpPr>
        <p:grpSpPr>
          <a:xfrm rot="0">
            <a:off x="16383000" y="571500"/>
            <a:ext cx="1238250" cy="1238250"/>
            <a:chOff x="0" y="0"/>
            <a:chExt cx="1651000" cy="1651000"/>
          </a:xfrm>
        </p:grpSpPr>
        <p:sp>
          <p:nvSpPr>
            <p:cNvPr name="Freeform 36" id="36"/>
            <p:cNvSpPr/>
            <p:nvPr/>
          </p:nvSpPr>
          <p:spPr>
            <a:xfrm flipH="false" flipV="false" rot="0">
              <a:off x="1183217" y="213254"/>
              <a:ext cx="220133" cy="220133"/>
            </a:xfrm>
            <a:custGeom>
              <a:avLst/>
              <a:gdLst/>
              <a:ahLst/>
              <a:cxnLst/>
              <a:rect r="r" b="b" t="t" l="l"/>
              <a:pathLst>
                <a:path h="220133" w="220133">
                  <a:moveTo>
                    <a:pt x="110066" y="0"/>
                  </a:moveTo>
                  <a:lnTo>
                    <a:pt x="137583" y="82550"/>
                  </a:lnTo>
                  <a:lnTo>
                    <a:pt x="220133" y="110067"/>
                  </a:lnTo>
                  <a:lnTo>
                    <a:pt x="137583" y="137584"/>
                  </a:lnTo>
                  <a:lnTo>
                    <a:pt x="110066" y="220134"/>
                  </a:lnTo>
                  <a:lnTo>
                    <a:pt x="82550" y="137584"/>
                  </a:lnTo>
                  <a:lnTo>
                    <a:pt x="0" y="110067"/>
                  </a:lnTo>
                  <a:lnTo>
                    <a:pt x="82550" y="82550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37" id="37"/>
            <p:cNvSpPr txBox="true"/>
            <p:nvPr/>
          </p:nvSpPr>
          <p:spPr>
            <a:xfrm>
              <a:off x="0" y="-38100"/>
              <a:ext cx="1651000" cy="1689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38" id="38"/>
          <p:cNvSpPr txBox="true"/>
          <p:nvPr/>
        </p:nvSpPr>
        <p:spPr>
          <a:xfrm rot="0">
            <a:off x="666750" y="9772650"/>
            <a:ext cx="9525000" cy="224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84"/>
              </a:lnSpc>
            </a:pPr>
            <a:r>
              <a:rPr lang="en-US" sz="1275" b="true">
                <a:solidFill>
                  <a:srgbClr val="9FB3C8"/>
                </a:solidFill>
                <a:latin typeface="Arimo Bold"/>
                <a:ea typeface="Arimo Bold"/>
                <a:cs typeface="Arimo Bold"/>
                <a:sym typeface="Arimo Bold"/>
              </a:rPr>
              <a:t>HELIODATA ACADEMY 2026  ·  ESCUELA DE ASTROFÍSICA SOLAR</a:t>
            </a:r>
          </a:p>
        </p:txBody>
      </p:sp>
      <p:sp>
        <p:nvSpPr>
          <p:cNvPr name="Freeform 39" id="39" descr="Logo GoSA"/>
          <p:cNvSpPr/>
          <p:nvPr/>
        </p:nvSpPr>
        <p:spPr>
          <a:xfrm flipH="false" flipV="false" rot="0">
            <a:off x="16192500" y="9753600"/>
            <a:ext cx="762000" cy="352425"/>
          </a:xfrm>
          <a:custGeom>
            <a:avLst/>
            <a:gdLst/>
            <a:ahLst/>
            <a:cxnLst/>
            <a:rect r="r" b="b" t="t" l="l"/>
            <a:pathLst>
              <a:path h="352425" w="762000">
                <a:moveTo>
                  <a:pt x="0" y="0"/>
                </a:moveTo>
                <a:lnTo>
                  <a:pt x="762000" y="0"/>
                </a:lnTo>
                <a:lnTo>
                  <a:pt x="762000" y="352425"/>
                </a:lnTo>
                <a:lnTo>
                  <a:pt x="0" y="352425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592" r="0" b="-592"/>
            </a:stretch>
          </a:blipFill>
        </p:spPr>
      </p:sp>
      <p:sp>
        <p:nvSpPr>
          <p:cNvPr name="Freeform 40" id="40" descr="Logo Observatorio Astronómico Nacional"/>
          <p:cNvSpPr/>
          <p:nvPr/>
        </p:nvSpPr>
        <p:spPr>
          <a:xfrm flipH="false" flipV="false" rot="0">
            <a:off x="17145000" y="9715500"/>
            <a:ext cx="457200" cy="428625"/>
          </a:xfrm>
          <a:custGeom>
            <a:avLst/>
            <a:gdLst/>
            <a:ahLst/>
            <a:cxnLst/>
            <a:rect r="r" b="b" t="t" l="l"/>
            <a:pathLst>
              <a:path h="428625" w="457200">
                <a:moveTo>
                  <a:pt x="0" y="0"/>
                </a:moveTo>
                <a:lnTo>
                  <a:pt x="457200" y="0"/>
                </a:lnTo>
                <a:lnTo>
                  <a:pt x="45720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328" t="0" r="-328" b="0"/>
            </a:stretch>
          </a:blipFill>
        </p:spPr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/>
      <p:sp>
        <p:nvSpPr>
          <p:cNvPr name="TextBox 2" id="2"/>
          <p:cNvSpPr txBox="true"/>
          <p:nvPr/>
        </p:nvSpPr>
        <p:spPr>
          <a:xfrm rot="0">
            <a:off x="666750" y="3676650"/>
            <a:ext cx="6886575" cy="12890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539748" indent="-269874" lvl="1">
              <a:lnSpc>
                <a:spcPts val="3080"/>
              </a:lnSpc>
              <a:spcBef>
                <a:spcPct val="0"/>
              </a:spcBef>
              <a:buFont typeface="Arial"/>
              <a:buChar char="•"/>
            </a:pPr>
            <a:r>
              <a:rPr lang="en-US" sz="2200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La pérdida baja y </a:t>
            </a:r>
            <a:r>
              <a:rPr lang="en-US" sz="2200" spc="-37" strike="noStrike" u="none" b="1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la imagen importa</a:t>
            </a:r>
            <a:r>
              <a:rPr lang="en-US" sz="2200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: la brecha es positiva</a:t>
            </a:r>
          </a:p>
          <a:p>
            <a:pPr algn="l" marL="539748" indent="-269874" lvl="1">
              <a:lnSpc>
                <a:spcPts val="3080"/>
              </a:lnSpc>
              <a:spcBef>
                <a:spcPct val="0"/>
              </a:spcBef>
              <a:buFont typeface="Arial"/>
              <a:buChar char="•"/>
            </a:pPr>
            <a:r>
              <a:rPr lang="en-US" sz="2200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En las 2 regiones del 7 ene, </a:t>
            </a:r>
            <a:r>
              <a:rPr lang="en-US" sz="2200" spc="-37" strike="noStrike" u="none" b="1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«siempre norte»</a:t>
            </a:r>
            <a:r>
              <a:rPr lang="en-US" sz="2200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gana (36/36 frente a 21/36)</a:t>
            </a:r>
          </a:p>
          <a:p>
            <a:pPr algn="l" marL="539748" indent="-269874" lvl="1">
              <a:lnSpc>
                <a:spcPts val="3080"/>
              </a:lnSpc>
              <a:spcBef>
                <a:spcPct val="0"/>
              </a:spcBef>
              <a:buFont typeface="Arial"/>
              <a:buChar char="•"/>
            </a:pPr>
            <a:r>
              <a:rPr lang="en-US" sz="2200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No aprendió a </a:t>
            </a:r>
            <a:r>
              <a:rPr lang="en-US" sz="2200" spc="-37" strike="noStrike" u="none" b="1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contar manchas</a:t>
            </a:r>
            <a:r>
              <a:rPr lang="en-US" sz="2200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(6 de 19 en días nuevos)</a:t>
            </a:r>
          </a:p>
          <a:p>
            <a:pPr algn="l" marL="539748" indent="-269874" lvl="1">
              <a:lnSpc>
                <a:spcPts val="3080"/>
              </a:lnSpc>
              <a:spcBef>
                <a:spcPct val="0"/>
              </a:spcBef>
              <a:buFont typeface="Arial"/>
              <a:buChar char="•"/>
            </a:pPr>
            <a:r>
              <a:rPr lang="en-US" sz="2200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Datos de pocos días y captions de plantilla: aún no hay generalización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666750" y="1190625"/>
            <a:ext cx="6886575" cy="17049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6600"/>
              </a:lnSpc>
              <a:spcBef>
                <a:spcPct val="0"/>
              </a:spcBef>
            </a:pPr>
            <a:r>
              <a:rPr lang="en-US" sz="6000" spc="-179" strike="noStrike" u="none">
                <a:solidFill>
                  <a:srgbClr val="071D30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Lo que funciona y lo que no</a:t>
            </a:r>
          </a:p>
        </p:txBody>
      </p:sp>
      <p:grpSp>
        <p:nvGrpSpPr>
          <p:cNvPr name="Group 4" id="4"/>
          <p:cNvGrpSpPr/>
          <p:nvPr/>
        </p:nvGrpSpPr>
        <p:grpSpPr>
          <a:xfrm rot="0">
            <a:off x="8991600" y="0"/>
            <a:ext cx="9296400" cy="10287000"/>
            <a:chOff x="0" y="0"/>
            <a:chExt cx="1220873" cy="1350966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1220873" cy="1350966"/>
            </a:xfrm>
            <a:custGeom>
              <a:avLst/>
              <a:gdLst/>
              <a:ahLst/>
              <a:cxnLst/>
              <a:rect r="r" b="b" t="t" l="l"/>
              <a:pathLst>
                <a:path h="1350966" w="1220873">
                  <a:moveTo>
                    <a:pt x="0" y="0"/>
                  </a:moveTo>
                  <a:lnTo>
                    <a:pt x="1220873" y="0"/>
                  </a:lnTo>
                  <a:lnTo>
                    <a:pt x="1220873" y="1350966"/>
                  </a:lnTo>
                  <a:lnTo>
                    <a:pt x="0" y="1350966"/>
                  </a:lnTo>
                  <a:close/>
                </a:path>
              </a:pathLst>
            </a:custGeom>
            <a:solidFill>
              <a:srgbClr val="071D30"/>
            </a:solidFill>
          </p:spPr>
        </p:sp>
      </p:grpSp>
      <p:sp>
        <p:nvSpPr>
          <p:cNvPr name="TextBox 6" id="6"/>
          <p:cNvSpPr txBox="true"/>
          <p:nvPr/>
        </p:nvSpPr>
        <p:spPr>
          <a:xfrm rot="0">
            <a:off x="685800" y="657225"/>
            <a:ext cx="57150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>
                <a:solidFill>
                  <a:srgbClr val="087F8C"/>
                </a:solidFill>
                <a:latin typeface="Arimo Bold"/>
                <a:ea typeface="Arimo Bold"/>
                <a:cs typeface="Arimo Bold"/>
                <a:sym typeface="Arimo Bold"/>
              </a:rPr>
              <a:t>RESULTADOS</a:t>
            </a:r>
          </a:p>
        </p:txBody>
      </p:sp>
      <p:grpSp>
        <p:nvGrpSpPr>
          <p:cNvPr name="Group 7" id="7"/>
          <p:cNvGrpSpPr/>
          <p:nvPr/>
        </p:nvGrpSpPr>
        <p:grpSpPr>
          <a:xfrm rot="0">
            <a:off x="666750" y="7048500"/>
            <a:ext cx="7620000" cy="1905000"/>
            <a:chOff x="0" y="0"/>
            <a:chExt cx="10160000" cy="254000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10160000" cy="2540000"/>
            </a:xfrm>
            <a:custGeom>
              <a:avLst/>
              <a:gdLst/>
              <a:ahLst/>
              <a:cxnLst/>
              <a:rect r="r" b="b" t="t" l="l"/>
              <a:pathLst>
                <a:path h="2540000" w="10160000">
                  <a:moveTo>
                    <a:pt x="254000" y="0"/>
                  </a:moveTo>
                  <a:lnTo>
                    <a:pt x="9906000" y="0"/>
                  </a:lnTo>
                  <a:cubicBezTo>
                    <a:pt x="10046281" y="0"/>
                    <a:pt x="10160000" y="113720"/>
                    <a:pt x="10160000" y="254000"/>
                  </a:cubicBezTo>
                  <a:lnTo>
                    <a:pt x="10160000" y="2286000"/>
                  </a:lnTo>
                  <a:cubicBezTo>
                    <a:pt x="10160000" y="2426280"/>
                    <a:pt x="10046281" y="2540000"/>
                    <a:pt x="9906000" y="2540000"/>
                  </a:cubicBezTo>
                  <a:lnTo>
                    <a:pt x="254000" y="2540000"/>
                  </a:lnTo>
                  <a:cubicBezTo>
                    <a:pt x="113720" y="2540000"/>
                    <a:pt x="0" y="2426280"/>
                    <a:pt x="0" y="2286000"/>
                  </a:cubicBezTo>
                  <a:lnTo>
                    <a:pt x="0" y="254000"/>
                  </a:lnTo>
                  <a:cubicBezTo>
                    <a:pt x="0" y="113720"/>
                    <a:pt x="113720" y="0"/>
                    <a:pt x="254000" y="0"/>
                  </a:cubicBezTo>
                  <a:close/>
                </a:path>
              </a:pathLst>
            </a:custGeom>
            <a:solidFill>
              <a:srgbClr val="071D30"/>
            </a:solidFill>
          </p:spPr>
        </p:sp>
        <p:sp>
          <p:nvSpPr>
            <p:cNvPr name="TextBox 9" id="9"/>
            <p:cNvSpPr txBox="true"/>
            <p:nvPr/>
          </p:nvSpPr>
          <p:spPr>
            <a:xfrm>
              <a:off x="0" y="-38100"/>
              <a:ext cx="10160000" cy="2578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666750" y="7239000"/>
            <a:ext cx="114300" cy="1524000"/>
            <a:chOff x="0" y="0"/>
            <a:chExt cx="152400" cy="203200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152400" cy="2032000"/>
            </a:xfrm>
            <a:custGeom>
              <a:avLst/>
              <a:gdLst/>
              <a:ahLst/>
              <a:cxnLst/>
              <a:rect r="r" b="b" t="t" l="l"/>
              <a:pathLst>
                <a:path h="2032000" w="152400">
                  <a:moveTo>
                    <a:pt x="0" y="0"/>
                  </a:moveTo>
                  <a:lnTo>
                    <a:pt x="152400" y="0"/>
                  </a:lnTo>
                  <a:lnTo>
                    <a:pt x="152400" y="2032000"/>
                  </a:lnTo>
                  <a:lnTo>
                    <a:pt x="0" y="2032000"/>
                  </a:lnTo>
                  <a:close/>
                </a:path>
              </a:pathLst>
            </a:custGeom>
            <a:solidFill>
              <a:srgbClr val="F5B82E"/>
            </a:solid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38100"/>
              <a:ext cx="152400" cy="2070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3" id="13"/>
          <p:cNvSpPr txBox="true"/>
          <p:nvPr/>
        </p:nvSpPr>
        <p:spPr>
          <a:xfrm rot="0">
            <a:off x="1095375" y="7277100"/>
            <a:ext cx="66675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>
                <a:solidFill>
                  <a:srgbClr val="F5B82E"/>
                </a:solidFill>
                <a:latin typeface="Arimo Bold"/>
                <a:ea typeface="Arimo Bold"/>
                <a:cs typeface="Arimo Bold"/>
                <a:sym typeface="Arimo Bold"/>
              </a:rPr>
              <a:t>IDEA CLAVE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1095375" y="7772400"/>
            <a:ext cx="6858000" cy="8439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60"/>
              </a:lnSpc>
            </a:pPr>
            <a:r>
              <a:rPr lang="en-US" sz="2200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Un porcentaje global engaña: hay que comparar contra líneas base y desglosar por clase.</a:t>
            </a:r>
          </a:p>
        </p:txBody>
      </p:sp>
      <p:grpSp>
        <p:nvGrpSpPr>
          <p:cNvPr name="Group 15" id="15"/>
          <p:cNvGrpSpPr/>
          <p:nvPr/>
        </p:nvGrpSpPr>
        <p:grpSpPr>
          <a:xfrm rot="0">
            <a:off x="8991600" y="9429750"/>
            <a:ext cx="9296400" cy="857250"/>
            <a:chOff x="0" y="0"/>
            <a:chExt cx="12395200" cy="114300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12395200" cy="1143000"/>
            </a:xfrm>
            <a:custGeom>
              <a:avLst/>
              <a:gdLst/>
              <a:ahLst/>
              <a:cxnLst/>
              <a:rect r="r" b="b" t="t" l="l"/>
              <a:pathLst>
                <a:path h="1143000" w="12395200">
                  <a:moveTo>
                    <a:pt x="0" y="0"/>
                  </a:moveTo>
                  <a:lnTo>
                    <a:pt x="12395200" y="0"/>
                  </a:lnTo>
                  <a:lnTo>
                    <a:pt x="12395200" y="1143000"/>
                  </a:lnTo>
                  <a:lnTo>
                    <a:pt x="0" y="1143000"/>
                  </a:lnTo>
                  <a:close/>
                </a:path>
              </a:pathLst>
            </a:custGeom>
            <a:solidFill>
              <a:srgbClr val="071D30">
                <a:alpha val="74902"/>
              </a:srgbClr>
            </a:solidFill>
          </p:spPr>
        </p:sp>
        <p:sp>
          <p:nvSpPr>
            <p:cNvPr name="TextBox 17" id="17"/>
            <p:cNvSpPr txBox="true"/>
            <p:nvPr/>
          </p:nvSpPr>
          <p:spPr>
            <a:xfrm>
              <a:off x="0" y="-38100"/>
              <a:ext cx="12395200" cy="1181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8" id="18"/>
          <p:cNvSpPr txBox="true"/>
          <p:nvPr/>
        </p:nvSpPr>
        <p:spPr>
          <a:xfrm rot="0">
            <a:off x="9334500" y="9696450"/>
            <a:ext cx="8572500" cy="2419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350">
                <a:solidFill>
                  <a:srgbClr val="F5F7FA"/>
                </a:solidFill>
                <a:latin typeface="Arimo"/>
                <a:ea typeface="Arimo"/>
                <a:cs typeface="Arimo"/>
                <a:sym typeface="Arimo"/>
              </a:rPr>
              <a:t>Imagen: curvas de pérdida del prototipo (corrida 2, 9 oct 2026)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666750" y="9772650"/>
            <a:ext cx="5905500" cy="224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84"/>
              </a:lnSpc>
            </a:pPr>
            <a:r>
              <a:rPr lang="en-US" sz="1275" b="true">
                <a:solidFill>
                  <a:srgbClr val="53697A"/>
                </a:solidFill>
                <a:latin typeface="Arimo Bold"/>
                <a:ea typeface="Arimo Bold"/>
                <a:cs typeface="Arimo Bold"/>
                <a:sym typeface="Arimo Bold"/>
              </a:rPr>
              <a:t>HELIODATA ACADEMY 2026  ·  ESCUELA DE ASTROFÍSICA SOLAR</a:t>
            </a:r>
          </a:p>
        </p:txBody>
      </p:sp>
      <p:sp>
        <p:nvSpPr>
          <p:cNvPr name="Freeform 20" id="20" descr="Logo GoSA"/>
          <p:cNvSpPr/>
          <p:nvPr/>
        </p:nvSpPr>
        <p:spPr>
          <a:xfrm flipH="false" flipV="false" rot="0">
            <a:off x="6858000" y="9734550"/>
            <a:ext cx="819150" cy="381000"/>
          </a:xfrm>
          <a:custGeom>
            <a:avLst/>
            <a:gdLst/>
            <a:ahLst/>
            <a:cxnLst/>
            <a:rect r="r" b="b" t="t" l="l"/>
            <a:pathLst>
              <a:path h="381000" w="819150">
                <a:moveTo>
                  <a:pt x="0" y="0"/>
                </a:moveTo>
                <a:lnTo>
                  <a:pt x="819150" y="0"/>
                </a:lnTo>
                <a:lnTo>
                  <a:pt x="819150" y="381000"/>
                </a:lnTo>
                <a:lnTo>
                  <a:pt x="0" y="381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-307" r="0" b="-307"/>
            </a:stretch>
          </a:blipFill>
        </p:spPr>
      </p:sp>
      <p:sp>
        <p:nvSpPr>
          <p:cNvPr name="Freeform 21" id="21" descr="Logo Observatorio Astronómico Nacional"/>
          <p:cNvSpPr/>
          <p:nvPr/>
        </p:nvSpPr>
        <p:spPr>
          <a:xfrm flipH="false" flipV="false" rot="0">
            <a:off x="7829550" y="9715500"/>
            <a:ext cx="457200" cy="428625"/>
          </a:xfrm>
          <a:custGeom>
            <a:avLst/>
            <a:gdLst/>
            <a:ahLst/>
            <a:cxnLst/>
            <a:rect r="r" b="b" t="t" l="l"/>
            <a:pathLst>
              <a:path h="428625" w="457200">
                <a:moveTo>
                  <a:pt x="0" y="0"/>
                </a:moveTo>
                <a:lnTo>
                  <a:pt x="457200" y="0"/>
                </a:lnTo>
                <a:lnTo>
                  <a:pt x="45720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-328" t="0" r="-328" b="0"/>
            </a:stretch>
          </a:blipFill>
        </p:spPr>
      </p:sp>
      <p:pic>
        <p:nvPicPr>
          <p:cNvPr id="22" name="Picture 21" descr="clase_res_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32000" y="3184364"/>
            <a:ext cx="8424000" cy="3063272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/>
      <p:sp>
        <p:nvSpPr>
          <p:cNvPr name="TextBox 2" id="2"/>
          <p:cNvSpPr txBox="true"/>
          <p:nvPr/>
        </p:nvSpPr>
        <p:spPr>
          <a:xfrm rot="0">
            <a:off x="666750" y="3676650"/>
            <a:ext cx="6886575" cy="12890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539748" indent="-269874" lvl="1">
              <a:lnSpc>
                <a:spcPts val="3080"/>
              </a:lnSpc>
              <a:spcBef>
                <a:spcPct val="0"/>
              </a:spcBef>
              <a:buFont typeface="Arial"/>
              <a:buChar char="•"/>
            </a:pPr>
            <a:r>
              <a:rPr lang="en-US" sz="2200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SUVI es un instrumento </a:t>
            </a:r>
            <a:r>
              <a:rPr lang="en-US" sz="2200" spc="-37" strike="noStrike" u="none" b="1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operativo</a:t>
            </a:r>
            <a:r>
              <a:rPr lang="en-US" sz="2200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de GOES-R: daría datos en vivo</a:t>
            </a:r>
          </a:p>
          <a:p>
            <a:pPr algn="l" marL="539748" indent="-269874" lvl="1">
              <a:lnSpc>
                <a:spcPts val="3080"/>
              </a:lnSpc>
              <a:spcBef>
                <a:spcPct val="0"/>
              </a:spcBef>
              <a:buFont typeface="Arial"/>
              <a:buChar char="•"/>
            </a:pPr>
            <a:r>
              <a:rPr lang="en-US" sz="2200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Solo </a:t>
            </a:r>
            <a:r>
              <a:rPr lang="en-US" sz="2200" spc="-37" strike="noStrike" u="none" b="1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6 de los 13</a:t>
            </a:r>
            <a:r>
              <a:rPr lang="en-US" sz="2200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canales de Surya tienen equivalente en SUVI</a:t>
            </a:r>
          </a:p>
          <a:p>
            <a:pPr algn="l" marL="539748" indent="-269874" lvl="1">
              <a:lnSpc>
                <a:spcPts val="3080"/>
              </a:lnSpc>
              <a:spcBef>
                <a:spcPct val="0"/>
              </a:spcBef>
              <a:buFont typeface="Arial"/>
              <a:buChar char="•"/>
            </a:pPr>
            <a:r>
              <a:rPr lang="en-US" sz="2200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SUVI: 1280² px a 2,5″/px; AIA: 4096² a 0,6″/px</a:t>
            </a:r>
          </a:p>
          <a:p>
            <a:pPr algn="l" marL="539748" indent="-269874" lvl="1">
              <a:lnSpc>
                <a:spcPts val="3080"/>
              </a:lnSpc>
              <a:spcBef>
                <a:spcPct val="0"/>
              </a:spcBef>
              <a:buFont typeface="Arial"/>
              <a:buChar char="•"/>
            </a:pPr>
            <a:r>
              <a:rPr lang="en-US" sz="2200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Hay cuadros de SUVI con ruido anómalo: falta un filtro de calidad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666750" y="1190625"/>
            <a:ext cx="6886575" cy="17049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6600"/>
              </a:lnSpc>
              <a:spcBef>
                <a:spcPct val="0"/>
              </a:spcBef>
            </a:pPr>
            <a:r>
              <a:rPr lang="en-US" sz="6000" spc="-179" strike="noStrike" u="none">
                <a:solidFill>
                  <a:srgbClr val="071D30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¿Ve Surya a través de GOES-SUVI?</a:t>
            </a:r>
          </a:p>
        </p:txBody>
      </p:sp>
      <p:grpSp>
        <p:nvGrpSpPr>
          <p:cNvPr name="Group 4" id="4"/>
          <p:cNvGrpSpPr/>
          <p:nvPr/>
        </p:nvGrpSpPr>
        <p:grpSpPr>
          <a:xfrm rot="0">
            <a:off x="8991600" y="0"/>
            <a:ext cx="9296400" cy="10287000"/>
            <a:chOff x="0" y="0"/>
            <a:chExt cx="1220873" cy="1350966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1220873" cy="1350966"/>
            </a:xfrm>
            <a:custGeom>
              <a:avLst/>
              <a:gdLst/>
              <a:ahLst/>
              <a:cxnLst/>
              <a:rect r="r" b="b" t="t" l="l"/>
              <a:pathLst>
                <a:path h="1350966" w="1220873">
                  <a:moveTo>
                    <a:pt x="0" y="0"/>
                  </a:moveTo>
                  <a:lnTo>
                    <a:pt x="1220873" y="0"/>
                  </a:lnTo>
                  <a:lnTo>
                    <a:pt x="1220873" y="1350966"/>
                  </a:lnTo>
                  <a:lnTo>
                    <a:pt x="0" y="1350966"/>
                  </a:lnTo>
                  <a:close/>
                </a:path>
              </a:pathLst>
            </a:custGeom>
            <a:solidFill>
              <a:srgbClr val="071D30"/>
            </a:solidFill>
          </p:spPr>
        </p:sp>
      </p:grpSp>
      <p:sp>
        <p:nvSpPr>
          <p:cNvPr name="TextBox 6" id="6"/>
          <p:cNvSpPr txBox="true"/>
          <p:nvPr/>
        </p:nvSpPr>
        <p:spPr>
          <a:xfrm rot="0">
            <a:off x="685800" y="657225"/>
            <a:ext cx="57150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>
                <a:solidFill>
                  <a:srgbClr val="087F8C"/>
                </a:solidFill>
                <a:latin typeface="Arimo Bold"/>
                <a:ea typeface="Arimo Bold"/>
                <a:cs typeface="Arimo Bold"/>
                <a:sym typeface="Arimo Bold"/>
              </a:rPr>
              <a:t>MÁS ALLÁ DE SDO</a:t>
            </a:r>
          </a:p>
        </p:txBody>
      </p:sp>
      <p:grpSp>
        <p:nvGrpSpPr>
          <p:cNvPr name="Group 7" id="7"/>
          <p:cNvGrpSpPr/>
          <p:nvPr/>
        </p:nvGrpSpPr>
        <p:grpSpPr>
          <a:xfrm rot="0">
            <a:off x="666750" y="7048500"/>
            <a:ext cx="7620000" cy="1905000"/>
            <a:chOff x="0" y="0"/>
            <a:chExt cx="10160000" cy="254000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10160000" cy="2540000"/>
            </a:xfrm>
            <a:custGeom>
              <a:avLst/>
              <a:gdLst/>
              <a:ahLst/>
              <a:cxnLst/>
              <a:rect r="r" b="b" t="t" l="l"/>
              <a:pathLst>
                <a:path h="2540000" w="10160000">
                  <a:moveTo>
                    <a:pt x="254000" y="0"/>
                  </a:moveTo>
                  <a:lnTo>
                    <a:pt x="9906000" y="0"/>
                  </a:lnTo>
                  <a:cubicBezTo>
                    <a:pt x="10046281" y="0"/>
                    <a:pt x="10160000" y="113720"/>
                    <a:pt x="10160000" y="254000"/>
                  </a:cubicBezTo>
                  <a:lnTo>
                    <a:pt x="10160000" y="2286000"/>
                  </a:lnTo>
                  <a:cubicBezTo>
                    <a:pt x="10160000" y="2426280"/>
                    <a:pt x="10046281" y="2540000"/>
                    <a:pt x="9906000" y="2540000"/>
                  </a:cubicBezTo>
                  <a:lnTo>
                    <a:pt x="254000" y="2540000"/>
                  </a:lnTo>
                  <a:cubicBezTo>
                    <a:pt x="113720" y="2540000"/>
                    <a:pt x="0" y="2426280"/>
                    <a:pt x="0" y="2286000"/>
                  </a:cubicBezTo>
                  <a:lnTo>
                    <a:pt x="0" y="254000"/>
                  </a:lnTo>
                  <a:cubicBezTo>
                    <a:pt x="0" y="113720"/>
                    <a:pt x="113720" y="0"/>
                    <a:pt x="254000" y="0"/>
                  </a:cubicBezTo>
                  <a:close/>
                </a:path>
              </a:pathLst>
            </a:custGeom>
            <a:solidFill>
              <a:srgbClr val="071D30"/>
            </a:solidFill>
          </p:spPr>
        </p:sp>
        <p:sp>
          <p:nvSpPr>
            <p:cNvPr name="TextBox 9" id="9"/>
            <p:cNvSpPr txBox="true"/>
            <p:nvPr/>
          </p:nvSpPr>
          <p:spPr>
            <a:xfrm>
              <a:off x="0" y="-38100"/>
              <a:ext cx="10160000" cy="2578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666750" y="7239000"/>
            <a:ext cx="114300" cy="1524000"/>
            <a:chOff x="0" y="0"/>
            <a:chExt cx="152400" cy="203200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152400" cy="2032000"/>
            </a:xfrm>
            <a:custGeom>
              <a:avLst/>
              <a:gdLst/>
              <a:ahLst/>
              <a:cxnLst/>
              <a:rect r="r" b="b" t="t" l="l"/>
              <a:pathLst>
                <a:path h="2032000" w="152400">
                  <a:moveTo>
                    <a:pt x="0" y="0"/>
                  </a:moveTo>
                  <a:lnTo>
                    <a:pt x="152400" y="0"/>
                  </a:lnTo>
                  <a:lnTo>
                    <a:pt x="152400" y="2032000"/>
                  </a:lnTo>
                  <a:lnTo>
                    <a:pt x="0" y="2032000"/>
                  </a:lnTo>
                  <a:close/>
                </a:path>
              </a:pathLst>
            </a:custGeom>
            <a:solidFill>
              <a:srgbClr val="F5B82E"/>
            </a:solid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38100"/>
              <a:ext cx="152400" cy="2070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3" id="13"/>
          <p:cNvSpPr txBox="true"/>
          <p:nvPr/>
        </p:nvSpPr>
        <p:spPr>
          <a:xfrm rot="0">
            <a:off x="1095375" y="7277100"/>
            <a:ext cx="66675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>
                <a:solidFill>
                  <a:srgbClr val="F5B82E"/>
                </a:solidFill>
                <a:latin typeface="Arimo Bold"/>
                <a:ea typeface="Arimo Bold"/>
                <a:cs typeface="Arimo Bold"/>
                <a:sym typeface="Arimo Bold"/>
              </a:rPr>
              <a:t>IDEA CLAVE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1095375" y="7772400"/>
            <a:ext cx="6858000" cy="8439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60"/>
              </a:lnSpc>
            </a:pPr>
            <a:r>
              <a:rPr lang="en-US" sz="2200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Si Surya transfiere, el copiloto podría trabajar con datos en vivo además de SDO.</a:t>
            </a:r>
          </a:p>
        </p:txBody>
      </p:sp>
      <p:grpSp>
        <p:nvGrpSpPr>
          <p:cNvPr name="Group 15" id="15"/>
          <p:cNvGrpSpPr/>
          <p:nvPr/>
        </p:nvGrpSpPr>
        <p:grpSpPr>
          <a:xfrm rot="0">
            <a:off x="8991600" y="9429750"/>
            <a:ext cx="9296400" cy="857250"/>
            <a:chOff x="0" y="0"/>
            <a:chExt cx="12395200" cy="114300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12395200" cy="1143000"/>
            </a:xfrm>
            <a:custGeom>
              <a:avLst/>
              <a:gdLst/>
              <a:ahLst/>
              <a:cxnLst/>
              <a:rect r="r" b="b" t="t" l="l"/>
              <a:pathLst>
                <a:path h="1143000" w="12395200">
                  <a:moveTo>
                    <a:pt x="0" y="0"/>
                  </a:moveTo>
                  <a:lnTo>
                    <a:pt x="12395200" y="0"/>
                  </a:lnTo>
                  <a:lnTo>
                    <a:pt x="12395200" y="1143000"/>
                  </a:lnTo>
                  <a:lnTo>
                    <a:pt x="0" y="1143000"/>
                  </a:lnTo>
                  <a:close/>
                </a:path>
              </a:pathLst>
            </a:custGeom>
            <a:solidFill>
              <a:srgbClr val="071D30">
                <a:alpha val="74902"/>
              </a:srgbClr>
            </a:solidFill>
          </p:spPr>
        </p:sp>
        <p:sp>
          <p:nvSpPr>
            <p:cNvPr name="TextBox 17" id="17"/>
            <p:cNvSpPr txBox="true"/>
            <p:nvPr/>
          </p:nvSpPr>
          <p:spPr>
            <a:xfrm>
              <a:off x="0" y="-38100"/>
              <a:ext cx="12395200" cy="1181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8" id="18"/>
          <p:cNvSpPr txBox="true"/>
          <p:nvPr/>
        </p:nvSpPr>
        <p:spPr>
          <a:xfrm rot="0">
            <a:off x="9334500" y="9696450"/>
            <a:ext cx="8572500" cy="2419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350">
                <a:solidFill>
                  <a:srgbClr val="F5F7FA"/>
                </a:solidFill>
                <a:latin typeface="Arimo"/>
                <a:ea typeface="Arimo"/>
                <a:cs typeface="Arimo"/>
                <a:sym typeface="Arimo"/>
              </a:rPr>
              <a:t>Imagen: elaboración propia. SUVI 195 Å (GOES-18, NOAA) y AIA 193 Å (SDO, NASA), 15 mar 2023, 09:56 UT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666750" y="9772650"/>
            <a:ext cx="5905500" cy="224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84"/>
              </a:lnSpc>
            </a:pPr>
            <a:r>
              <a:rPr lang="en-US" sz="1275" b="true">
                <a:solidFill>
                  <a:srgbClr val="53697A"/>
                </a:solidFill>
                <a:latin typeface="Arimo Bold"/>
                <a:ea typeface="Arimo Bold"/>
                <a:cs typeface="Arimo Bold"/>
                <a:sym typeface="Arimo Bold"/>
              </a:rPr>
              <a:t>HELIODATA ACADEMY 2026  ·  ESCUELA DE ASTROFÍSICA SOLAR</a:t>
            </a:r>
          </a:p>
        </p:txBody>
      </p:sp>
      <p:sp>
        <p:nvSpPr>
          <p:cNvPr name="Freeform 20" id="20" descr="Logo GoSA"/>
          <p:cNvSpPr/>
          <p:nvPr/>
        </p:nvSpPr>
        <p:spPr>
          <a:xfrm flipH="false" flipV="false" rot="0">
            <a:off x="6858000" y="9734550"/>
            <a:ext cx="819150" cy="381000"/>
          </a:xfrm>
          <a:custGeom>
            <a:avLst/>
            <a:gdLst/>
            <a:ahLst/>
            <a:cxnLst/>
            <a:rect r="r" b="b" t="t" l="l"/>
            <a:pathLst>
              <a:path h="381000" w="819150">
                <a:moveTo>
                  <a:pt x="0" y="0"/>
                </a:moveTo>
                <a:lnTo>
                  <a:pt x="819150" y="0"/>
                </a:lnTo>
                <a:lnTo>
                  <a:pt x="819150" y="381000"/>
                </a:lnTo>
                <a:lnTo>
                  <a:pt x="0" y="381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-307" r="0" b="-307"/>
            </a:stretch>
          </a:blipFill>
        </p:spPr>
      </p:sp>
      <p:sp>
        <p:nvSpPr>
          <p:cNvPr name="Freeform 21" id="21" descr="Logo Observatorio Astronómico Nacional"/>
          <p:cNvSpPr/>
          <p:nvPr/>
        </p:nvSpPr>
        <p:spPr>
          <a:xfrm flipH="false" flipV="false" rot="0">
            <a:off x="7829550" y="9715500"/>
            <a:ext cx="457200" cy="428625"/>
          </a:xfrm>
          <a:custGeom>
            <a:avLst/>
            <a:gdLst/>
            <a:ahLst/>
            <a:cxnLst/>
            <a:rect r="r" b="b" t="t" l="l"/>
            <a:pathLst>
              <a:path h="428625" w="457200">
                <a:moveTo>
                  <a:pt x="0" y="0"/>
                </a:moveTo>
                <a:lnTo>
                  <a:pt x="457200" y="0"/>
                </a:lnTo>
                <a:lnTo>
                  <a:pt x="45720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-328" t="0" r="-328" b="0"/>
            </a:stretch>
          </a:blipFill>
        </p:spPr>
      </p:sp>
      <p:pic>
        <p:nvPicPr>
          <p:cNvPr id="22" name="Picture 21" descr="suvi_ai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32000" y="2357280"/>
            <a:ext cx="8424000" cy="4717440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/>
      <p:sp>
        <p:nvSpPr>
          <p:cNvPr name="TextBox 2" id="2"/>
          <p:cNvSpPr txBox="true"/>
          <p:nvPr/>
        </p:nvSpPr>
        <p:spPr>
          <a:xfrm rot="0">
            <a:off x="17259300" y="9220200"/>
            <a:ext cx="152400" cy="190500"/>
          </a:xfrm>
          <a:prstGeom prst="rect">
            <a:avLst/>
          </a:prstGeom>
        </p:spPr>
        <p:txBody>
          <a:bodyPr anchor="t" rtlCol="false" tIns="0" lIns="0" bIns="0" rIns="0" wrap="none">
            <a:spAutoFit/>
          </a:bodyPr>
          <a:lstStyle/>
          <a:p>
            <a:pPr algn="ctr">
              <a:lnSpc>
                <a:spcPts val="2800"/>
              </a:lnSpc>
              <a:spcBef>
                <a:spcPct val="0"/>
              </a:spcBef>
            </a:pPr>
            <a:r>
              <a:rPr lang="en-US" sz="2000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26</a:t>
            </a:r>
          </a:p>
        </p:txBody>
      </p:sp>
      <p:grpSp>
        <p:nvGrpSpPr>
          <p:cNvPr name="Group 3" id="3"/>
          <p:cNvGrpSpPr/>
          <p:nvPr/>
        </p:nvGrpSpPr>
        <p:grpSpPr>
          <a:xfrm rot="0">
            <a:off x="666750" y="666750"/>
            <a:ext cx="16954500" cy="8953500"/>
            <a:chOff x="0" y="0"/>
            <a:chExt cx="4465383" cy="2358123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4465383" cy="2358124"/>
            </a:xfrm>
            <a:custGeom>
              <a:avLst/>
              <a:gdLst/>
              <a:ahLst/>
              <a:cxnLst/>
              <a:rect r="r" b="b" t="t" l="l"/>
              <a:pathLst>
                <a:path h="2358124" w="4465383">
                  <a:moveTo>
                    <a:pt x="20548" y="0"/>
                  </a:moveTo>
                  <a:lnTo>
                    <a:pt x="4444835" y="0"/>
                  </a:lnTo>
                  <a:cubicBezTo>
                    <a:pt x="4456183" y="0"/>
                    <a:pt x="4465383" y="9200"/>
                    <a:pt x="4465383" y="20548"/>
                  </a:cubicBezTo>
                  <a:lnTo>
                    <a:pt x="4465383" y="2337575"/>
                  </a:lnTo>
                  <a:cubicBezTo>
                    <a:pt x="4465383" y="2348924"/>
                    <a:pt x="4456183" y="2358124"/>
                    <a:pt x="4444835" y="2358124"/>
                  </a:cubicBezTo>
                  <a:lnTo>
                    <a:pt x="20548" y="2358124"/>
                  </a:lnTo>
                  <a:cubicBezTo>
                    <a:pt x="9200" y="2358124"/>
                    <a:pt x="0" y="2348924"/>
                    <a:pt x="0" y="2337575"/>
                  </a:cubicBezTo>
                  <a:lnTo>
                    <a:pt x="0" y="20548"/>
                  </a:lnTo>
                  <a:cubicBezTo>
                    <a:pt x="0" y="9200"/>
                    <a:pt x="9200" y="0"/>
                    <a:pt x="20548" y="0"/>
                  </a:cubicBezTo>
                  <a:close/>
                </a:path>
              </a:pathLst>
            </a:custGeom>
            <a:solidFill>
              <a:srgbClr val="F5B82E"/>
            </a:solidFill>
            <a:ln cap="rnd">
              <a:noFill/>
              <a:prstDash val="solid"/>
              <a:round/>
            </a:ln>
          </p:spPr>
        </p:sp>
        <p:sp>
          <p:nvSpPr>
            <p:cNvPr name="TextBox 5" id="5"/>
            <p:cNvSpPr txBox="true"/>
            <p:nvPr/>
          </p:nvSpPr>
          <p:spPr>
            <a:xfrm>
              <a:off x="0" y="-38100"/>
              <a:ext cx="4465383" cy="239622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3359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6" id="6"/>
          <p:cNvGrpSpPr/>
          <p:nvPr/>
        </p:nvGrpSpPr>
        <p:grpSpPr>
          <a:xfrm rot="0">
            <a:off x="1800225" y="1562100"/>
            <a:ext cx="12944475" cy="4006850"/>
            <a:chOff x="0" y="0"/>
            <a:chExt cx="17259300" cy="5342466"/>
          </a:xfrm>
        </p:grpSpPr>
        <p:sp>
          <p:nvSpPr>
            <p:cNvPr name="TextBox 7" id="7"/>
            <p:cNvSpPr txBox="true"/>
            <p:nvPr/>
          </p:nvSpPr>
          <p:spPr>
            <a:xfrm rot="0">
              <a:off x="0" y="-85725"/>
              <a:ext cx="17259300" cy="1702858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10400"/>
                </a:lnSpc>
              </a:pPr>
              <a:r>
                <a:rPr lang="en-US" sz="8000" spc="-240">
                  <a:solidFill>
                    <a:srgbClr val="071D30"/>
                  </a:solidFill>
                  <a:latin typeface="Georgia Pro Condensed"/>
                  <a:ea typeface="Georgia Pro Condensed"/>
                  <a:cs typeface="Georgia Pro Condensed"/>
                  <a:sym typeface="Georgia Pro Condensed"/>
                </a:rPr>
                <a:t>Conclusiones</a:t>
              </a:r>
            </a:p>
          </p:txBody>
        </p:sp>
        <p:sp>
          <p:nvSpPr>
            <p:cNvPr name="TextBox 8" id="8"/>
            <p:cNvSpPr txBox="true"/>
            <p:nvPr/>
          </p:nvSpPr>
          <p:spPr>
            <a:xfrm rot="0">
              <a:off x="0" y="2197212"/>
              <a:ext cx="17259300" cy="5588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000"/>
                </a:lnSpc>
                <a:spcBef>
                  <a:spcPct val="0"/>
                </a:spcBef>
              </a:pPr>
              <a:r>
                <a:rPr lang="en-US" b="true" sz="2500" spc="-37" strike="noStrike" u="none">
                  <a:solidFill>
                    <a:srgbClr val="071D30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LO QUE NOS LLEVAMOS HOY</a:t>
              </a:r>
            </a:p>
          </p:txBody>
        </p:sp>
        <p:sp>
          <p:nvSpPr>
            <p:cNvPr name="TextBox 9" id="9"/>
            <p:cNvSpPr txBox="true"/>
            <p:nvPr/>
          </p:nvSpPr>
          <p:spPr>
            <a:xfrm rot="0">
              <a:off x="0" y="2992966"/>
              <a:ext cx="13512134" cy="23495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4160"/>
                </a:lnSpc>
                <a:spcBef>
                  <a:spcPct val="0"/>
                </a:spcBef>
              </a:pPr>
              <a:r>
                <a:rPr lang="en-US" sz="2600" spc="-44" strike="noStrike" u="none">
                  <a:solidFill>
                    <a:srgbClr val="071D30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1.  El ML ya resuelve tareas solares: segmentar, enfocar, invertir y predecir</a:t>
              </a:r>
            </a:p>
            <a:p>
              <a:pPr algn="l" marL="0" indent="0" lvl="0">
                <a:lnSpc>
                  <a:spcPts val="4160"/>
                </a:lnSpc>
                <a:spcBef>
                  <a:spcPct val="0"/>
                </a:spcBef>
              </a:pPr>
              <a:r>
                <a:rPr lang="en-US" sz="2600" spc="-44" strike="noStrike" u="none">
                  <a:solidFill>
                    <a:srgbClr val="071D30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2.  Los modelos base como Surya pasan de una tarea a muchas</a:t>
              </a:r>
            </a:p>
            <a:p>
              <a:pPr algn="l" marL="0" indent="0" lvl="0">
                <a:lnSpc>
                  <a:spcPts val="4160"/>
                </a:lnSpc>
                <a:spcBef>
                  <a:spcPct val="0"/>
                </a:spcBef>
              </a:pPr>
              <a:r>
                <a:rPr lang="en-US" sz="2600" spc="-44" strike="noStrike" u="none">
                  <a:solidFill>
                    <a:srgbClr val="071D30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3.  Un proyector pequeño conecta Surya con un LLM; faltan mejores datos</a:t>
              </a: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12668250" y="2381250"/>
            <a:ext cx="4000500" cy="4000500"/>
            <a:chOff x="0" y="0"/>
            <a:chExt cx="5334000" cy="533400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600075" y="600075"/>
              <a:ext cx="4133850" cy="4133850"/>
            </a:xfrm>
            <a:custGeom>
              <a:avLst/>
              <a:gdLst/>
              <a:ahLst/>
              <a:cxnLst/>
              <a:rect r="r" b="b" t="t" l="l"/>
              <a:pathLst>
                <a:path h="4133850" w="4133850">
                  <a:moveTo>
                    <a:pt x="889000" y="2066925"/>
                  </a:moveTo>
                  <a:cubicBezTo>
                    <a:pt x="889000" y="2717475"/>
                    <a:pt x="1416375" y="3244850"/>
                    <a:pt x="2066925" y="3244850"/>
                  </a:cubicBezTo>
                  <a:cubicBezTo>
                    <a:pt x="2717475" y="3244850"/>
                    <a:pt x="3244850" y="2717475"/>
                    <a:pt x="3244850" y="2066925"/>
                  </a:cubicBezTo>
                  <a:cubicBezTo>
                    <a:pt x="3244850" y="1416375"/>
                    <a:pt x="2717475" y="889000"/>
                    <a:pt x="2066925" y="889000"/>
                  </a:cubicBezTo>
                  <a:cubicBezTo>
                    <a:pt x="1416375" y="889000"/>
                    <a:pt x="889000" y="1416375"/>
                    <a:pt x="889000" y="2066925"/>
                  </a:cubicBezTo>
                  <a:close/>
                  <a:moveTo>
                    <a:pt x="4027170" y="842328"/>
                  </a:moveTo>
                  <a:cubicBezTo>
                    <a:pt x="3889416" y="608311"/>
                    <a:pt x="3383864" y="627231"/>
                    <a:pt x="2702801" y="891892"/>
                  </a:cubicBezTo>
                  <a:cubicBezTo>
                    <a:pt x="2021737" y="1156553"/>
                    <a:pt x="1269834" y="1626280"/>
                    <a:pt x="733078" y="2122411"/>
                  </a:cubicBezTo>
                  <a:cubicBezTo>
                    <a:pt x="196322" y="2618542"/>
                    <a:pt x="-42793" y="3064827"/>
                    <a:pt x="106680" y="3291523"/>
                  </a:cubicBezTo>
                  <a:cubicBezTo>
                    <a:pt x="244433" y="3525539"/>
                    <a:pt x="749986" y="3506619"/>
                    <a:pt x="1431049" y="3241958"/>
                  </a:cubicBezTo>
                  <a:cubicBezTo>
                    <a:pt x="2112113" y="2977297"/>
                    <a:pt x="2864016" y="2507571"/>
                    <a:pt x="3400772" y="2011439"/>
                  </a:cubicBezTo>
                  <a:cubicBezTo>
                    <a:pt x="3937528" y="1515308"/>
                    <a:pt x="4176643" y="1069023"/>
                    <a:pt x="4027170" y="842328"/>
                  </a:cubicBezTo>
                  <a:close/>
                  <a:moveTo>
                    <a:pt x="2066925" y="355600"/>
                  </a:moveTo>
                  <a:lnTo>
                    <a:pt x="2066925" y="0"/>
                  </a:lnTo>
                  <a:moveTo>
                    <a:pt x="2066925" y="4133850"/>
                  </a:moveTo>
                  <a:lnTo>
                    <a:pt x="2066925" y="3778250"/>
                  </a:lnTo>
                  <a:moveTo>
                    <a:pt x="355600" y="2066925"/>
                  </a:moveTo>
                  <a:lnTo>
                    <a:pt x="0" y="2066925"/>
                  </a:lnTo>
                  <a:moveTo>
                    <a:pt x="4133850" y="2066925"/>
                  </a:moveTo>
                  <a:lnTo>
                    <a:pt x="3778250" y="2066925"/>
                  </a:lnTo>
                  <a:moveTo>
                    <a:pt x="866775" y="866775"/>
                  </a:moveTo>
                  <a:lnTo>
                    <a:pt x="622300" y="622300"/>
                  </a:lnTo>
                  <a:moveTo>
                    <a:pt x="3267075" y="3267075"/>
                  </a:moveTo>
                  <a:lnTo>
                    <a:pt x="3511550" y="3511550"/>
                  </a:lnTo>
                  <a:moveTo>
                    <a:pt x="977900" y="2222500"/>
                  </a:moveTo>
                  <a:lnTo>
                    <a:pt x="1466850" y="2222500"/>
                  </a:lnTo>
                  <a:lnTo>
                    <a:pt x="1711325" y="1711325"/>
                  </a:lnTo>
                  <a:lnTo>
                    <a:pt x="2089150" y="2600325"/>
                  </a:lnTo>
                  <a:lnTo>
                    <a:pt x="2422525" y="1933575"/>
                  </a:lnTo>
                  <a:lnTo>
                    <a:pt x="2644775" y="2222500"/>
                  </a:lnTo>
                  <a:lnTo>
                    <a:pt x="3178175" y="2222500"/>
                  </a:lnTo>
                </a:path>
              </a:pathLst>
            </a:custGeom>
            <a:ln w="66675" cap="sq">
              <a:solidFill>
                <a:srgbClr val="071D30"/>
              </a:solidFill>
              <a:prstDash val="solid"/>
              <a:miter/>
            </a:ln>
          </p:spPr>
        </p:sp>
        <p:sp>
          <p:nvSpPr>
            <p:cNvPr name="TextBox 12" id="12"/>
            <p:cNvSpPr txBox="true"/>
            <p:nvPr/>
          </p:nvSpPr>
          <p:spPr>
            <a:xfrm>
              <a:off x="0" y="-38100"/>
              <a:ext cx="5334000" cy="5372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3" id="13"/>
          <p:cNvGrpSpPr/>
          <p:nvPr/>
        </p:nvGrpSpPr>
        <p:grpSpPr>
          <a:xfrm rot="0">
            <a:off x="12668250" y="2381250"/>
            <a:ext cx="4000500" cy="4000500"/>
            <a:chOff x="0" y="0"/>
            <a:chExt cx="5334000" cy="5334000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3822700" y="688975"/>
              <a:ext cx="711200" cy="711200"/>
            </a:xfrm>
            <a:custGeom>
              <a:avLst/>
              <a:gdLst/>
              <a:ahLst/>
              <a:cxnLst/>
              <a:rect r="r" b="b" t="t" l="l"/>
              <a:pathLst>
                <a:path h="711200" w="711200">
                  <a:moveTo>
                    <a:pt x="355600" y="0"/>
                  </a:moveTo>
                  <a:lnTo>
                    <a:pt x="444500" y="266700"/>
                  </a:lnTo>
                  <a:lnTo>
                    <a:pt x="711200" y="355600"/>
                  </a:lnTo>
                  <a:lnTo>
                    <a:pt x="444500" y="444500"/>
                  </a:lnTo>
                  <a:lnTo>
                    <a:pt x="355600" y="711200"/>
                  </a:lnTo>
                  <a:lnTo>
                    <a:pt x="266700" y="444500"/>
                  </a:lnTo>
                  <a:lnTo>
                    <a:pt x="0" y="355600"/>
                  </a:lnTo>
                  <a:lnTo>
                    <a:pt x="266700" y="266700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15" id="15"/>
            <p:cNvSpPr txBox="true"/>
            <p:nvPr/>
          </p:nvSpPr>
          <p:spPr>
            <a:xfrm>
              <a:off x="0" y="-38100"/>
              <a:ext cx="5334000" cy="5372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6" id="16"/>
          <p:cNvGrpSpPr/>
          <p:nvPr/>
        </p:nvGrpSpPr>
        <p:grpSpPr>
          <a:xfrm rot="0">
            <a:off x="1800225" y="7810500"/>
            <a:ext cx="14668500" cy="1047750"/>
            <a:chOff x="0" y="0"/>
            <a:chExt cx="19558000" cy="1397000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19558000" cy="1397000"/>
            </a:xfrm>
            <a:custGeom>
              <a:avLst/>
              <a:gdLst/>
              <a:ahLst/>
              <a:cxnLst/>
              <a:rect r="r" b="b" t="t" l="l"/>
              <a:pathLst>
                <a:path h="1397000" w="19558000">
                  <a:moveTo>
                    <a:pt x="228600" y="0"/>
                  </a:moveTo>
                  <a:lnTo>
                    <a:pt x="19329400" y="0"/>
                  </a:lnTo>
                  <a:cubicBezTo>
                    <a:pt x="19455653" y="0"/>
                    <a:pt x="19558000" y="102348"/>
                    <a:pt x="19558000" y="228600"/>
                  </a:cubicBezTo>
                  <a:lnTo>
                    <a:pt x="19558000" y="1168400"/>
                  </a:lnTo>
                  <a:cubicBezTo>
                    <a:pt x="19558000" y="1294652"/>
                    <a:pt x="19455653" y="1397000"/>
                    <a:pt x="19329400" y="1397000"/>
                  </a:cubicBezTo>
                  <a:lnTo>
                    <a:pt x="228600" y="1397000"/>
                  </a:lnTo>
                  <a:cubicBezTo>
                    <a:pt x="102348" y="1397000"/>
                    <a:pt x="0" y="1294652"/>
                    <a:pt x="0" y="1168400"/>
                  </a:cubicBezTo>
                  <a:lnTo>
                    <a:pt x="0" y="228600"/>
                  </a:lnTo>
                  <a:cubicBezTo>
                    <a:pt x="0" y="102348"/>
                    <a:pt x="102348" y="0"/>
                    <a:pt x="228600" y="0"/>
                  </a:cubicBezTo>
                  <a:close/>
                </a:path>
              </a:pathLst>
            </a:custGeom>
            <a:solidFill>
              <a:srgbClr val="071D30"/>
            </a:solidFill>
          </p:spPr>
        </p:sp>
        <p:sp>
          <p:nvSpPr>
            <p:cNvPr name="TextBox 18" id="18"/>
            <p:cNvSpPr txBox="true"/>
            <p:nvPr/>
          </p:nvSpPr>
          <p:spPr>
            <a:xfrm>
              <a:off x="0" y="-38100"/>
              <a:ext cx="19558000" cy="1435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9" id="19"/>
          <p:cNvSpPr txBox="true"/>
          <p:nvPr/>
        </p:nvSpPr>
        <p:spPr>
          <a:xfrm rot="0">
            <a:off x="2190750" y="8086725"/>
            <a:ext cx="14097000" cy="4152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sz="2400" b="true">
                <a:solidFill>
                  <a:srgbClr val="F5B82E"/>
                </a:solidFill>
                <a:latin typeface="Arimo Bold"/>
                <a:ea typeface="Arimo Bold"/>
                <a:cs typeface="Arimo Bold"/>
                <a:sym typeface="Arimo Bold"/>
              </a:rPr>
              <a:t>PARA SEGUIR  ›  HelioML (helioml.org) y Asensio Ramos et al. (2023)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666750" y="9772650"/>
            <a:ext cx="9525000" cy="224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84"/>
              </a:lnSpc>
            </a:pPr>
            <a:r>
              <a:rPr lang="en-US" sz="1275" b="true">
                <a:solidFill>
                  <a:srgbClr val="53697A"/>
                </a:solidFill>
                <a:latin typeface="Arimo Bold"/>
                <a:ea typeface="Arimo Bold"/>
                <a:cs typeface="Arimo Bold"/>
                <a:sym typeface="Arimo Bold"/>
              </a:rPr>
              <a:t>HELIODATA ACADEMY 2026  ·  ESCUELA DE ASTROFÍSICA SOLAR</a:t>
            </a:r>
          </a:p>
        </p:txBody>
      </p:sp>
      <p:sp>
        <p:nvSpPr>
          <p:cNvPr name="Freeform 21" id="21" descr="Logo GoSA"/>
          <p:cNvSpPr/>
          <p:nvPr/>
        </p:nvSpPr>
        <p:spPr>
          <a:xfrm flipH="false" flipV="false" rot="0">
            <a:off x="16192500" y="9753600"/>
            <a:ext cx="762000" cy="352425"/>
          </a:xfrm>
          <a:custGeom>
            <a:avLst/>
            <a:gdLst/>
            <a:ahLst/>
            <a:cxnLst/>
            <a:rect r="r" b="b" t="t" l="l"/>
            <a:pathLst>
              <a:path h="352425" w="762000">
                <a:moveTo>
                  <a:pt x="0" y="0"/>
                </a:moveTo>
                <a:lnTo>
                  <a:pt x="762000" y="0"/>
                </a:lnTo>
                <a:lnTo>
                  <a:pt x="762000" y="352425"/>
                </a:lnTo>
                <a:lnTo>
                  <a:pt x="0" y="352425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592" r="0" b="-592"/>
            </a:stretch>
          </a:blipFill>
        </p:spPr>
      </p:sp>
      <p:sp>
        <p:nvSpPr>
          <p:cNvPr name="Freeform 22" id="22" descr="Logo Observatorio Astronómico Nacional"/>
          <p:cNvSpPr/>
          <p:nvPr/>
        </p:nvSpPr>
        <p:spPr>
          <a:xfrm flipH="false" flipV="false" rot="0">
            <a:off x="17145000" y="9715500"/>
            <a:ext cx="457200" cy="428625"/>
          </a:xfrm>
          <a:custGeom>
            <a:avLst/>
            <a:gdLst/>
            <a:ahLst/>
            <a:cxnLst/>
            <a:rect r="r" b="b" t="t" l="l"/>
            <a:pathLst>
              <a:path h="428625" w="457200">
                <a:moveTo>
                  <a:pt x="0" y="0"/>
                </a:moveTo>
                <a:lnTo>
                  <a:pt x="457200" y="0"/>
                </a:lnTo>
                <a:lnTo>
                  <a:pt x="45720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328" t="0" r="-328" b="0"/>
            </a:stretch>
          </a:blipFill>
        </p:spPr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/>
      <p:sp>
        <p:nvSpPr>
          <p:cNvPr name="TextBox 2" id="2"/>
          <p:cNvSpPr txBox="true"/>
          <p:nvPr/>
        </p:nvSpPr>
        <p:spPr>
          <a:xfrm rot="0">
            <a:off x="17259300" y="9220200"/>
            <a:ext cx="152400" cy="190500"/>
          </a:xfrm>
          <a:prstGeom prst="rect">
            <a:avLst/>
          </a:prstGeom>
        </p:spPr>
        <p:txBody>
          <a:bodyPr anchor="t" rtlCol="false" tIns="0" lIns="0" bIns="0" rIns="0" wrap="none">
            <a:spAutoFit/>
          </a:bodyPr>
          <a:lstStyle/>
          <a:p>
            <a:pPr algn="ctr">
              <a:lnSpc>
                <a:spcPts val="2800"/>
              </a:lnSpc>
              <a:spcBef>
                <a:spcPct val="0"/>
              </a:spcBef>
            </a:pPr>
            <a:r>
              <a:rPr lang="en-US" sz="2000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27</a:t>
            </a:r>
          </a:p>
        </p:txBody>
      </p:sp>
      <p:grpSp>
        <p:nvGrpSpPr>
          <p:cNvPr name="Group 3" id="3"/>
          <p:cNvGrpSpPr/>
          <p:nvPr/>
        </p:nvGrpSpPr>
        <p:grpSpPr>
          <a:xfrm rot="0">
            <a:off x="666750" y="666750"/>
            <a:ext cx="16954500" cy="8953500"/>
            <a:chOff x="0" y="0"/>
            <a:chExt cx="4465383" cy="2358123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4465383" cy="2358124"/>
            </a:xfrm>
            <a:custGeom>
              <a:avLst/>
              <a:gdLst/>
              <a:ahLst/>
              <a:cxnLst/>
              <a:rect r="r" b="b" t="t" l="l"/>
              <a:pathLst>
                <a:path h="2358124" w="4465383">
                  <a:moveTo>
                    <a:pt x="20548" y="0"/>
                  </a:moveTo>
                  <a:lnTo>
                    <a:pt x="4444835" y="0"/>
                  </a:lnTo>
                  <a:cubicBezTo>
                    <a:pt x="4456183" y="0"/>
                    <a:pt x="4465383" y="9200"/>
                    <a:pt x="4465383" y="20548"/>
                  </a:cubicBezTo>
                  <a:lnTo>
                    <a:pt x="4465383" y="2337575"/>
                  </a:lnTo>
                  <a:cubicBezTo>
                    <a:pt x="4465383" y="2348924"/>
                    <a:pt x="4456183" y="2358124"/>
                    <a:pt x="4444835" y="2358124"/>
                  </a:cubicBezTo>
                  <a:lnTo>
                    <a:pt x="20548" y="2358124"/>
                  </a:lnTo>
                  <a:cubicBezTo>
                    <a:pt x="9200" y="2358124"/>
                    <a:pt x="0" y="2348924"/>
                    <a:pt x="0" y="2337575"/>
                  </a:cubicBezTo>
                  <a:lnTo>
                    <a:pt x="0" y="20548"/>
                  </a:lnTo>
                  <a:cubicBezTo>
                    <a:pt x="0" y="9200"/>
                    <a:pt x="9200" y="0"/>
                    <a:pt x="20548" y="0"/>
                  </a:cubicBezTo>
                  <a:close/>
                </a:path>
              </a:pathLst>
            </a:custGeom>
            <a:solidFill>
              <a:srgbClr val="F5B82E"/>
            </a:solidFill>
            <a:ln cap="rnd">
              <a:noFill/>
              <a:prstDash val="solid"/>
              <a:round/>
            </a:ln>
          </p:spPr>
        </p:sp>
        <p:sp>
          <p:nvSpPr>
            <p:cNvPr name="TextBox 5" id="5"/>
            <p:cNvSpPr txBox="true"/>
            <p:nvPr/>
          </p:nvSpPr>
          <p:spPr>
            <a:xfrm>
              <a:off x="0" y="-38100"/>
              <a:ext cx="4465383" cy="239622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3359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6" id="6"/>
          <p:cNvGrpSpPr/>
          <p:nvPr/>
        </p:nvGrpSpPr>
        <p:grpSpPr>
          <a:xfrm rot="0">
            <a:off x="1800225" y="1562100"/>
            <a:ext cx="12944475" cy="4006850"/>
            <a:chOff x="0" y="0"/>
            <a:chExt cx="17259300" cy="5342466"/>
          </a:xfrm>
        </p:grpSpPr>
        <p:sp>
          <p:nvSpPr>
            <p:cNvPr name="TextBox 7" id="7"/>
            <p:cNvSpPr txBox="true"/>
            <p:nvPr/>
          </p:nvSpPr>
          <p:spPr>
            <a:xfrm rot="0">
              <a:off x="0" y="-85725"/>
              <a:ext cx="17259300" cy="1702858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10400"/>
                </a:lnSpc>
              </a:pPr>
              <a:r>
                <a:rPr lang="en-US" sz="8000" spc="-240">
                  <a:solidFill>
                    <a:srgbClr val="071D30"/>
                  </a:solidFill>
                  <a:latin typeface="Georgia Pro Condensed"/>
                  <a:ea typeface="Georgia Pro Condensed"/>
                  <a:cs typeface="Georgia Pro Condensed"/>
                  <a:sym typeface="Georgia Pro Condensed"/>
                </a:rPr>
                <a:t>Referencias</a:t>
              </a:r>
            </a:p>
          </p:txBody>
        </p:sp>
        <p:sp>
          <p:nvSpPr>
            <p:cNvPr name="TextBox 8" id="8"/>
            <p:cNvSpPr txBox="true"/>
            <p:nvPr/>
          </p:nvSpPr>
          <p:spPr>
            <a:xfrm rot="0">
              <a:off x="0" y="2197212"/>
              <a:ext cx="17259300" cy="5588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000"/>
                </a:lnSpc>
                <a:spcBef>
                  <a:spcPct val="0"/>
                </a:spcBef>
              </a:pPr>
              <a:r>
                <a:rPr lang="en-US" b="true" sz="2500" spc="-37" strike="noStrike" u="none">
                  <a:solidFill>
                    <a:srgbClr val="071D30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LECTURAS</a:t>
              </a:r>
            </a:p>
          </p:txBody>
        </p:sp>
        <p:sp>
          <p:nvSpPr>
            <p:cNvPr name="TextBox 9" id="9"/>
            <p:cNvSpPr txBox="true"/>
            <p:nvPr/>
          </p:nvSpPr>
          <p:spPr>
            <a:xfrm rot="0">
              <a:off x="0" y="2992966"/>
              <a:ext cx="13512134" cy="23495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2880"/>
                </a:lnSpc>
                <a:spcBef>
                  <a:spcPct val="0"/>
                </a:spcBef>
              </a:pPr>
              <a:r>
                <a:rPr lang="en-US" sz="1800" spc="-44" strike="noStrike" u="none">
                  <a:solidFill>
                    <a:srgbClr val="071D30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Asensio Ramos, Cheung, Chifu y Gafeira (2023). Machine learning in solar physics. Living Rev. Sol. Phys. 20, 1</a:t>
              </a:r>
            </a:p>
            <a:p>
              <a:pPr algn="l" marL="0" indent="0" lvl="0">
                <a:lnSpc>
                  <a:spcPts val="2880"/>
                </a:lnSpc>
                <a:spcBef>
                  <a:spcPct val="0"/>
                </a:spcBef>
              </a:pPr>
              <a:r>
                <a:rPr lang="en-US" sz="1800" spc="-44" strike="noStrike" u="none">
                  <a:solidFill>
                    <a:srgbClr val="071D30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Bobra y Mason. HelioML, v0.4.0 (helioml.org)</a:t>
              </a:r>
            </a:p>
            <a:p>
              <a:pPr algn="l" marL="0" indent="0" lvl="0">
                <a:lnSpc>
                  <a:spcPts val="2880"/>
                </a:lnSpc>
                <a:spcBef>
                  <a:spcPct val="0"/>
                </a:spcBef>
              </a:pPr>
              <a:r>
                <a:rPr lang="en-US" sz="1800" spc="-44" strike="noStrike" u="none">
                  <a:solidFill>
                    <a:srgbClr val="071D30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Roy et al. (2025). Surya: Foundation Model for Heliophysics. arXiv:2508.14112</a:t>
              </a:r>
            </a:p>
            <a:p>
              <a:pPr algn="l" marL="0" indent="0" lvl="0">
                <a:lnSpc>
                  <a:spcPts val="2880"/>
                </a:lnSpc>
                <a:spcBef>
                  <a:spcPct val="0"/>
                </a:spcBef>
              </a:pPr>
              <a:r>
                <a:rPr lang="en-US" sz="1800" spc="-44" strike="noStrike" u="none">
                  <a:solidFill>
                    <a:srgbClr val="071D30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Liu et al. (2023). Visual Instruction Tuning (LLaVA). arXiv:2304.08485</a:t>
              </a:r>
            </a:p>
            <a:p>
              <a:pPr algn="l" marL="0" indent="0" lvl="0">
                <a:lnSpc>
                  <a:spcPts val="2880"/>
                </a:lnSpc>
                <a:spcBef>
                  <a:spcPct val="0"/>
                </a:spcBef>
              </a:pPr>
              <a:r>
                <a:rPr lang="en-US" sz="1800" spc="-44" strike="noStrike" u="none">
                  <a:solidFill>
                    <a:srgbClr val="071D30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Díaz Baso y Asensio Ramos (2018). Enhance. A&amp;A 614, A5</a:t>
              </a:r>
            </a:p>
            <a:p>
              <a:pPr algn="l" marL="0" indent="0" lvl="0">
                <a:lnSpc>
                  <a:spcPts val="2880"/>
                </a:lnSpc>
                <a:spcBef>
                  <a:spcPct val="0"/>
                </a:spcBef>
              </a:pPr>
              <a:r>
                <a:rPr lang="en-US" sz="1800" spc="-44" strike="noStrike" u="none">
                  <a:solidFill>
                    <a:srgbClr val="071D30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Bobra e Ilonidis (2016). Predicting CMEs. ApJ 821, 127</a:t>
              </a: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12668250" y="2381250"/>
            <a:ext cx="4000500" cy="4000500"/>
            <a:chOff x="0" y="0"/>
            <a:chExt cx="5334000" cy="533400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600075" y="600075"/>
              <a:ext cx="4133850" cy="4133850"/>
            </a:xfrm>
            <a:custGeom>
              <a:avLst/>
              <a:gdLst/>
              <a:ahLst/>
              <a:cxnLst/>
              <a:rect r="r" b="b" t="t" l="l"/>
              <a:pathLst>
                <a:path h="4133850" w="4133850">
                  <a:moveTo>
                    <a:pt x="889000" y="2066925"/>
                  </a:moveTo>
                  <a:cubicBezTo>
                    <a:pt x="889000" y="2717475"/>
                    <a:pt x="1416375" y="3244850"/>
                    <a:pt x="2066925" y="3244850"/>
                  </a:cubicBezTo>
                  <a:cubicBezTo>
                    <a:pt x="2717475" y="3244850"/>
                    <a:pt x="3244850" y="2717475"/>
                    <a:pt x="3244850" y="2066925"/>
                  </a:cubicBezTo>
                  <a:cubicBezTo>
                    <a:pt x="3244850" y="1416375"/>
                    <a:pt x="2717475" y="889000"/>
                    <a:pt x="2066925" y="889000"/>
                  </a:cubicBezTo>
                  <a:cubicBezTo>
                    <a:pt x="1416375" y="889000"/>
                    <a:pt x="889000" y="1416375"/>
                    <a:pt x="889000" y="2066925"/>
                  </a:cubicBezTo>
                  <a:close/>
                  <a:moveTo>
                    <a:pt x="4027170" y="842328"/>
                  </a:moveTo>
                  <a:cubicBezTo>
                    <a:pt x="3889416" y="608311"/>
                    <a:pt x="3383864" y="627231"/>
                    <a:pt x="2702801" y="891892"/>
                  </a:cubicBezTo>
                  <a:cubicBezTo>
                    <a:pt x="2021737" y="1156553"/>
                    <a:pt x="1269834" y="1626280"/>
                    <a:pt x="733078" y="2122411"/>
                  </a:cubicBezTo>
                  <a:cubicBezTo>
                    <a:pt x="196322" y="2618542"/>
                    <a:pt x="-42793" y="3064827"/>
                    <a:pt x="106680" y="3291523"/>
                  </a:cubicBezTo>
                  <a:cubicBezTo>
                    <a:pt x="244433" y="3525539"/>
                    <a:pt x="749986" y="3506619"/>
                    <a:pt x="1431049" y="3241958"/>
                  </a:cubicBezTo>
                  <a:cubicBezTo>
                    <a:pt x="2112113" y="2977297"/>
                    <a:pt x="2864016" y="2507571"/>
                    <a:pt x="3400772" y="2011439"/>
                  </a:cubicBezTo>
                  <a:cubicBezTo>
                    <a:pt x="3937528" y="1515308"/>
                    <a:pt x="4176643" y="1069023"/>
                    <a:pt x="4027170" y="842328"/>
                  </a:cubicBezTo>
                  <a:close/>
                  <a:moveTo>
                    <a:pt x="2066925" y="355600"/>
                  </a:moveTo>
                  <a:lnTo>
                    <a:pt x="2066925" y="0"/>
                  </a:lnTo>
                  <a:moveTo>
                    <a:pt x="2066925" y="4133850"/>
                  </a:moveTo>
                  <a:lnTo>
                    <a:pt x="2066925" y="3778250"/>
                  </a:lnTo>
                  <a:moveTo>
                    <a:pt x="355600" y="2066925"/>
                  </a:moveTo>
                  <a:lnTo>
                    <a:pt x="0" y="2066925"/>
                  </a:lnTo>
                  <a:moveTo>
                    <a:pt x="4133850" y="2066925"/>
                  </a:moveTo>
                  <a:lnTo>
                    <a:pt x="3778250" y="2066925"/>
                  </a:lnTo>
                  <a:moveTo>
                    <a:pt x="866775" y="866775"/>
                  </a:moveTo>
                  <a:lnTo>
                    <a:pt x="622300" y="622300"/>
                  </a:lnTo>
                  <a:moveTo>
                    <a:pt x="3267075" y="3267075"/>
                  </a:moveTo>
                  <a:lnTo>
                    <a:pt x="3511550" y="3511550"/>
                  </a:lnTo>
                  <a:moveTo>
                    <a:pt x="977900" y="2222500"/>
                  </a:moveTo>
                  <a:lnTo>
                    <a:pt x="1466850" y="2222500"/>
                  </a:lnTo>
                  <a:lnTo>
                    <a:pt x="1711325" y="1711325"/>
                  </a:lnTo>
                  <a:lnTo>
                    <a:pt x="2089150" y="2600325"/>
                  </a:lnTo>
                  <a:lnTo>
                    <a:pt x="2422525" y="1933575"/>
                  </a:lnTo>
                  <a:lnTo>
                    <a:pt x="2644775" y="2222500"/>
                  </a:lnTo>
                  <a:lnTo>
                    <a:pt x="3178175" y="2222500"/>
                  </a:lnTo>
                </a:path>
              </a:pathLst>
            </a:custGeom>
            <a:ln w="66675" cap="sq">
              <a:solidFill>
                <a:srgbClr val="071D30"/>
              </a:solidFill>
              <a:prstDash val="solid"/>
              <a:miter/>
            </a:ln>
          </p:spPr>
        </p:sp>
        <p:sp>
          <p:nvSpPr>
            <p:cNvPr name="TextBox 12" id="12"/>
            <p:cNvSpPr txBox="true"/>
            <p:nvPr/>
          </p:nvSpPr>
          <p:spPr>
            <a:xfrm>
              <a:off x="0" y="-38100"/>
              <a:ext cx="5334000" cy="5372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3" id="13"/>
          <p:cNvGrpSpPr/>
          <p:nvPr/>
        </p:nvGrpSpPr>
        <p:grpSpPr>
          <a:xfrm rot="0">
            <a:off x="12668250" y="2381250"/>
            <a:ext cx="4000500" cy="4000500"/>
            <a:chOff x="0" y="0"/>
            <a:chExt cx="5334000" cy="5334000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3822700" y="688975"/>
              <a:ext cx="711200" cy="711200"/>
            </a:xfrm>
            <a:custGeom>
              <a:avLst/>
              <a:gdLst/>
              <a:ahLst/>
              <a:cxnLst/>
              <a:rect r="r" b="b" t="t" l="l"/>
              <a:pathLst>
                <a:path h="711200" w="711200">
                  <a:moveTo>
                    <a:pt x="355600" y="0"/>
                  </a:moveTo>
                  <a:lnTo>
                    <a:pt x="444500" y="266700"/>
                  </a:lnTo>
                  <a:lnTo>
                    <a:pt x="711200" y="355600"/>
                  </a:lnTo>
                  <a:lnTo>
                    <a:pt x="444500" y="444500"/>
                  </a:lnTo>
                  <a:lnTo>
                    <a:pt x="355600" y="711200"/>
                  </a:lnTo>
                  <a:lnTo>
                    <a:pt x="266700" y="444500"/>
                  </a:lnTo>
                  <a:lnTo>
                    <a:pt x="0" y="355600"/>
                  </a:lnTo>
                  <a:lnTo>
                    <a:pt x="266700" y="266700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15" id="15"/>
            <p:cNvSpPr txBox="true"/>
            <p:nvPr/>
          </p:nvSpPr>
          <p:spPr>
            <a:xfrm>
              <a:off x="0" y="-38100"/>
              <a:ext cx="5334000" cy="5372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6" id="16"/>
          <p:cNvGrpSpPr/>
          <p:nvPr/>
        </p:nvGrpSpPr>
        <p:grpSpPr>
          <a:xfrm rot="0">
            <a:off x="1800225" y="7810500"/>
            <a:ext cx="14668500" cy="1047750"/>
            <a:chOff x="0" y="0"/>
            <a:chExt cx="19558000" cy="1397000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19558000" cy="1397000"/>
            </a:xfrm>
            <a:custGeom>
              <a:avLst/>
              <a:gdLst/>
              <a:ahLst/>
              <a:cxnLst/>
              <a:rect r="r" b="b" t="t" l="l"/>
              <a:pathLst>
                <a:path h="1397000" w="19558000">
                  <a:moveTo>
                    <a:pt x="228600" y="0"/>
                  </a:moveTo>
                  <a:lnTo>
                    <a:pt x="19329400" y="0"/>
                  </a:lnTo>
                  <a:cubicBezTo>
                    <a:pt x="19455653" y="0"/>
                    <a:pt x="19558000" y="102348"/>
                    <a:pt x="19558000" y="228600"/>
                  </a:cubicBezTo>
                  <a:lnTo>
                    <a:pt x="19558000" y="1168400"/>
                  </a:lnTo>
                  <a:cubicBezTo>
                    <a:pt x="19558000" y="1294652"/>
                    <a:pt x="19455653" y="1397000"/>
                    <a:pt x="19329400" y="1397000"/>
                  </a:cubicBezTo>
                  <a:lnTo>
                    <a:pt x="228600" y="1397000"/>
                  </a:lnTo>
                  <a:cubicBezTo>
                    <a:pt x="102348" y="1397000"/>
                    <a:pt x="0" y="1294652"/>
                    <a:pt x="0" y="1168400"/>
                  </a:cubicBezTo>
                  <a:lnTo>
                    <a:pt x="0" y="228600"/>
                  </a:lnTo>
                  <a:cubicBezTo>
                    <a:pt x="0" y="102348"/>
                    <a:pt x="102348" y="0"/>
                    <a:pt x="228600" y="0"/>
                  </a:cubicBezTo>
                  <a:close/>
                </a:path>
              </a:pathLst>
            </a:custGeom>
            <a:solidFill>
              <a:srgbClr val="071D30"/>
            </a:solidFill>
          </p:spPr>
        </p:sp>
        <p:sp>
          <p:nvSpPr>
            <p:cNvPr name="TextBox 18" id="18"/>
            <p:cNvSpPr txBox="true"/>
            <p:nvPr/>
          </p:nvSpPr>
          <p:spPr>
            <a:xfrm>
              <a:off x="0" y="-38100"/>
              <a:ext cx="19558000" cy="1435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9" id="19"/>
          <p:cNvSpPr txBox="true"/>
          <p:nvPr/>
        </p:nvSpPr>
        <p:spPr>
          <a:xfrm rot="0">
            <a:off x="2190750" y="8086725"/>
            <a:ext cx="14097000" cy="4152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59"/>
              </a:lnSpc>
            </a:pPr>
            <a:r>
              <a:rPr lang="en-US" sz="2400" b="true">
                <a:solidFill>
                  <a:srgbClr val="F5B82E"/>
                </a:solidFill>
                <a:latin typeface="Arimo Bold"/>
                <a:ea typeface="Arimo Bold"/>
                <a:cs typeface="Arimo Bold"/>
                <a:sym typeface="Arimo Bold"/>
              </a:rPr>
              <a:t>MÁS LECTURAS  ›  04_Lecturas en el repositorio de la escuela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666750" y="9772650"/>
            <a:ext cx="9525000" cy="224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84"/>
              </a:lnSpc>
            </a:pPr>
            <a:r>
              <a:rPr lang="en-US" sz="1275" b="true">
                <a:solidFill>
                  <a:srgbClr val="53697A"/>
                </a:solidFill>
                <a:latin typeface="Arimo Bold"/>
                <a:ea typeface="Arimo Bold"/>
                <a:cs typeface="Arimo Bold"/>
                <a:sym typeface="Arimo Bold"/>
              </a:rPr>
              <a:t>HELIODATA ACADEMY 2026  ·  ESCUELA DE ASTROFÍSICA SOLAR</a:t>
            </a:r>
          </a:p>
        </p:txBody>
      </p:sp>
      <p:sp>
        <p:nvSpPr>
          <p:cNvPr name="Freeform 21" id="21" descr="Logo GoSA"/>
          <p:cNvSpPr/>
          <p:nvPr/>
        </p:nvSpPr>
        <p:spPr>
          <a:xfrm flipH="false" flipV="false" rot="0">
            <a:off x="16192500" y="9753600"/>
            <a:ext cx="762000" cy="352425"/>
          </a:xfrm>
          <a:custGeom>
            <a:avLst/>
            <a:gdLst/>
            <a:ahLst/>
            <a:cxnLst/>
            <a:rect r="r" b="b" t="t" l="l"/>
            <a:pathLst>
              <a:path h="352425" w="762000">
                <a:moveTo>
                  <a:pt x="0" y="0"/>
                </a:moveTo>
                <a:lnTo>
                  <a:pt x="762000" y="0"/>
                </a:lnTo>
                <a:lnTo>
                  <a:pt x="762000" y="352425"/>
                </a:lnTo>
                <a:lnTo>
                  <a:pt x="0" y="352425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592" r="0" b="-592"/>
            </a:stretch>
          </a:blipFill>
        </p:spPr>
      </p:sp>
      <p:sp>
        <p:nvSpPr>
          <p:cNvPr name="Freeform 22" id="22" descr="Logo Observatorio Astronómico Nacional"/>
          <p:cNvSpPr/>
          <p:nvPr/>
        </p:nvSpPr>
        <p:spPr>
          <a:xfrm flipH="false" flipV="false" rot="0">
            <a:off x="17145000" y="9715500"/>
            <a:ext cx="457200" cy="428625"/>
          </a:xfrm>
          <a:custGeom>
            <a:avLst/>
            <a:gdLst/>
            <a:ahLst/>
            <a:cxnLst/>
            <a:rect r="r" b="b" t="t" l="l"/>
            <a:pathLst>
              <a:path h="428625" w="457200">
                <a:moveTo>
                  <a:pt x="0" y="0"/>
                </a:moveTo>
                <a:lnTo>
                  <a:pt x="457200" y="0"/>
                </a:lnTo>
                <a:lnTo>
                  <a:pt x="457200" y="428625"/>
                </a:lnTo>
                <a:lnTo>
                  <a:pt x="0" y="42862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328" t="0" r="-328" b="0"/>
            </a:stretch>
          </a:blipFill>
        </p:spPr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/>
      <p:sp>
        <p:nvSpPr>
          <p:cNvPr name="TextBox 2" id="2"/>
          <p:cNvSpPr txBox="true"/>
          <p:nvPr/>
        </p:nvSpPr>
        <p:spPr>
          <a:xfrm rot="0">
            <a:off x="666750" y="3676650"/>
            <a:ext cx="6886575" cy="12890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539748" indent="-269874" lvl="1">
              <a:lnSpc>
                <a:spcPts val="2660"/>
              </a:lnSpc>
              <a:spcBef>
                <a:spcPct val="0"/>
              </a:spcBef>
              <a:buFont typeface="Arial"/>
              <a:buChar char="•"/>
            </a:pPr>
            <a:r>
              <a:rPr lang="en-US" sz="1900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Python desde cero para </a:t>
            </a:r>
            <a:r>
              <a:rPr lang="en-US" sz="1900" spc="-37" strike="noStrike" u="none" b="1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Ciencia de Datos, ML e IA</a:t>
            </a:r>
          </a:p>
          <a:p>
            <a:pPr algn="l" marL="539748" indent="-269874" lvl="1">
              <a:lnSpc>
                <a:spcPts val="2660"/>
              </a:lnSpc>
              <a:spcBef>
                <a:spcPct val="0"/>
              </a:spcBef>
              <a:buFont typeface="Arial"/>
              <a:buChar char="•"/>
            </a:pPr>
            <a:r>
              <a:rPr lang="en-US" sz="1900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NumPy con datos reales de </a:t>
            </a:r>
            <a:r>
              <a:rPr lang="en-US" sz="1900" spc="-37" strike="noStrike" u="none" b="1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TESS</a:t>
            </a:r>
            <a:r>
              <a:rPr lang="en-US" sz="1900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: el tránsito de WASP-18 b</a:t>
            </a:r>
          </a:p>
          <a:p>
            <a:pPr algn="l" marL="539748" indent="-269874" lvl="1">
              <a:lnSpc>
                <a:spcPts val="2660"/>
              </a:lnSpc>
              <a:spcBef>
                <a:spcPct val="0"/>
              </a:spcBef>
              <a:buFont typeface="Arial"/>
              <a:buChar char="•"/>
            </a:pPr>
            <a:r>
              <a:rPr lang="en-US" sz="1900" spc="-37" strike="noStrike" u="none" b="1">
                <a:solidFill>
                  <a:srgbClr val="071D30"/>
                </a:solidFill>
                <a:latin typeface="Helvetica World Bold"/>
                <a:ea typeface="Helvetica World Bold"/>
                <a:cs typeface="Helvetica World Bold"/>
                <a:sym typeface="Helvetica World"/>
              </a:rPr>
              <a:t>Juan Esteban Agudelo Ortiz</a:t>
            </a:r>
            <a:r>
              <a:rPr lang="en-US" sz="1900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 (líder y guion); Thomas Gonzales, Milena Barrios y Claudia Cuellar (presentación); Santiago Pinilla y Daniel Rodríguez (edición)</a:t>
            </a:r>
          </a:p>
          <a:p>
            <a:pPr algn="l" marL="539748" indent="-269874" lvl="1">
              <a:lnSpc>
                <a:spcPts val="2660"/>
              </a:lnSpc>
              <a:spcBef>
                <a:spcPct val="0"/>
              </a:spcBef>
              <a:buFont typeface="Arial"/>
              <a:buChar char="•"/>
            </a:pPr>
            <a:r>
              <a:rPr lang="en-US" sz="1900" spc="-37" strike="noStrike" u="none">
                <a:solidFill>
                  <a:srgbClr val="071D30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En colaboración con miembros del GoSA del OAN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666750" y="1190625"/>
            <a:ext cx="6886575" cy="17049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6600"/>
              </a:lnSpc>
              <a:spcBef>
                <a:spcPct val="0"/>
              </a:spcBef>
            </a:pPr>
            <a:r>
              <a:rPr lang="en-US" sz="6000" spc="-179" strike="noStrike" u="none">
                <a:solidFill>
                  <a:srgbClr val="071D30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Datos de Ciencia en YouTube</a:t>
            </a:r>
          </a:p>
        </p:txBody>
      </p:sp>
      <p:grpSp>
        <p:nvGrpSpPr>
          <p:cNvPr name="Group 4" id="4"/>
          <p:cNvGrpSpPr/>
          <p:nvPr/>
        </p:nvGrpSpPr>
        <p:grpSpPr>
          <a:xfrm rot="0">
            <a:off x="8991600" y="0"/>
            <a:ext cx="9296400" cy="10287000"/>
            <a:chOff x="0" y="0"/>
            <a:chExt cx="1220873" cy="1350966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1220873" cy="1350966"/>
            </a:xfrm>
            <a:custGeom>
              <a:avLst/>
              <a:gdLst/>
              <a:ahLst/>
              <a:cxnLst/>
              <a:rect r="r" b="b" t="t" l="l"/>
              <a:pathLst>
                <a:path h="1350966" w="1220873">
                  <a:moveTo>
                    <a:pt x="0" y="0"/>
                  </a:moveTo>
                  <a:lnTo>
                    <a:pt x="1220873" y="0"/>
                  </a:lnTo>
                  <a:lnTo>
                    <a:pt x="1220873" y="1350966"/>
                  </a:lnTo>
                  <a:lnTo>
                    <a:pt x="0" y="1350966"/>
                  </a:lnTo>
                  <a:close/>
                </a:path>
              </a:pathLst>
            </a:custGeom>
            <a:solidFill>
              <a:srgbClr val="071D30"/>
            </a:solidFill>
          </p:spPr>
        </p:sp>
      </p:grpSp>
      <p:sp>
        <p:nvSpPr>
          <p:cNvPr name="TextBox 6" id="6"/>
          <p:cNvSpPr txBox="true"/>
          <p:nvPr/>
        </p:nvSpPr>
        <p:spPr>
          <a:xfrm rot="0">
            <a:off x="685800" y="657225"/>
            <a:ext cx="57150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>
                <a:solidFill>
                  <a:srgbClr val="087F8C"/>
                </a:solidFill>
                <a:latin typeface="Arimo Bold"/>
                <a:ea typeface="Arimo Bold"/>
                <a:cs typeface="Arimo Bold"/>
                <a:sym typeface="Arimo Bold"/>
              </a:rPr>
              <a:t>DATOS DE CIENCIA</a:t>
            </a:r>
          </a:p>
        </p:txBody>
      </p:sp>
      <p:grpSp>
        <p:nvGrpSpPr>
          <p:cNvPr name="Group 7" id="7"/>
          <p:cNvGrpSpPr/>
          <p:nvPr/>
        </p:nvGrpSpPr>
        <p:grpSpPr>
          <a:xfrm rot="0">
            <a:off x="666750" y="7048500"/>
            <a:ext cx="7620000" cy="1905000"/>
            <a:chOff x="0" y="0"/>
            <a:chExt cx="10160000" cy="254000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10160000" cy="2540000"/>
            </a:xfrm>
            <a:custGeom>
              <a:avLst/>
              <a:gdLst/>
              <a:ahLst/>
              <a:cxnLst/>
              <a:rect r="r" b="b" t="t" l="l"/>
              <a:pathLst>
                <a:path h="2540000" w="10160000">
                  <a:moveTo>
                    <a:pt x="254000" y="0"/>
                  </a:moveTo>
                  <a:lnTo>
                    <a:pt x="9906000" y="0"/>
                  </a:lnTo>
                  <a:cubicBezTo>
                    <a:pt x="10046281" y="0"/>
                    <a:pt x="10160000" y="113720"/>
                    <a:pt x="10160000" y="254000"/>
                  </a:cubicBezTo>
                  <a:lnTo>
                    <a:pt x="10160000" y="2286000"/>
                  </a:lnTo>
                  <a:cubicBezTo>
                    <a:pt x="10160000" y="2426280"/>
                    <a:pt x="10046281" y="2540000"/>
                    <a:pt x="9906000" y="2540000"/>
                  </a:cubicBezTo>
                  <a:lnTo>
                    <a:pt x="254000" y="2540000"/>
                  </a:lnTo>
                  <a:cubicBezTo>
                    <a:pt x="113720" y="2540000"/>
                    <a:pt x="0" y="2426280"/>
                    <a:pt x="0" y="2286000"/>
                  </a:cubicBezTo>
                  <a:lnTo>
                    <a:pt x="0" y="254000"/>
                  </a:lnTo>
                  <a:cubicBezTo>
                    <a:pt x="0" y="113720"/>
                    <a:pt x="113720" y="0"/>
                    <a:pt x="254000" y="0"/>
                  </a:cubicBezTo>
                  <a:close/>
                </a:path>
              </a:pathLst>
            </a:custGeom>
            <a:solidFill>
              <a:srgbClr val="071D30"/>
            </a:solidFill>
          </p:spPr>
        </p:sp>
        <p:sp>
          <p:nvSpPr>
            <p:cNvPr name="TextBox 9" id="9"/>
            <p:cNvSpPr txBox="true"/>
            <p:nvPr/>
          </p:nvSpPr>
          <p:spPr>
            <a:xfrm>
              <a:off x="0" y="-38100"/>
              <a:ext cx="10160000" cy="2578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666750" y="7239000"/>
            <a:ext cx="114300" cy="1524000"/>
            <a:chOff x="0" y="0"/>
            <a:chExt cx="152400" cy="203200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152400" cy="2032000"/>
            </a:xfrm>
            <a:custGeom>
              <a:avLst/>
              <a:gdLst/>
              <a:ahLst/>
              <a:cxnLst/>
              <a:rect r="r" b="b" t="t" l="l"/>
              <a:pathLst>
                <a:path h="2032000" w="152400">
                  <a:moveTo>
                    <a:pt x="0" y="0"/>
                  </a:moveTo>
                  <a:lnTo>
                    <a:pt x="152400" y="0"/>
                  </a:lnTo>
                  <a:lnTo>
                    <a:pt x="152400" y="2032000"/>
                  </a:lnTo>
                  <a:lnTo>
                    <a:pt x="0" y="2032000"/>
                  </a:lnTo>
                  <a:close/>
                </a:path>
              </a:pathLst>
            </a:custGeom>
            <a:solidFill>
              <a:srgbClr val="F5B82E"/>
            </a:solid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38100"/>
              <a:ext cx="152400" cy="2070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3" id="13"/>
          <p:cNvSpPr txBox="true"/>
          <p:nvPr/>
        </p:nvSpPr>
        <p:spPr>
          <a:xfrm rot="0">
            <a:off x="1095375" y="7277100"/>
            <a:ext cx="66675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>
                <a:solidFill>
                  <a:srgbClr val="F5B82E"/>
                </a:solidFill>
                <a:latin typeface="Arimo Bold"/>
                <a:ea typeface="Arimo Bold"/>
                <a:cs typeface="Arimo Bold"/>
                <a:sym typeface="Arimo Bold"/>
              </a:rPr>
              <a:t>IDEA CLAVE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1095375" y="7772400"/>
            <a:ext cx="6858000" cy="8439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60"/>
              </a:lnSpc>
            </a:pPr>
            <a:r>
              <a:rPr lang="en-US" sz="2200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Lo de hoy (arrays, normalización, imshow) está en la serie de NumPy.</a:t>
            </a:r>
          </a:p>
        </p:txBody>
      </p:sp>
      <p:grpSp>
        <p:nvGrpSpPr>
          <p:cNvPr name="Group 15" id="15"/>
          <p:cNvGrpSpPr/>
          <p:nvPr/>
        </p:nvGrpSpPr>
        <p:grpSpPr>
          <a:xfrm rot="0">
            <a:off x="8991600" y="9429750"/>
            <a:ext cx="9296400" cy="857250"/>
            <a:chOff x="0" y="0"/>
            <a:chExt cx="12395200" cy="114300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12395200" cy="1143000"/>
            </a:xfrm>
            <a:custGeom>
              <a:avLst/>
              <a:gdLst/>
              <a:ahLst/>
              <a:cxnLst/>
              <a:rect r="r" b="b" t="t" l="l"/>
              <a:pathLst>
                <a:path h="1143000" w="12395200">
                  <a:moveTo>
                    <a:pt x="0" y="0"/>
                  </a:moveTo>
                  <a:lnTo>
                    <a:pt x="12395200" y="0"/>
                  </a:lnTo>
                  <a:lnTo>
                    <a:pt x="12395200" y="1143000"/>
                  </a:lnTo>
                  <a:lnTo>
                    <a:pt x="0" y="1143000"/>
                  </a:lnTo>
                  <a:close/>
                </a:path>
              </a:pathLst>
            </a:custGeom>
            <a:solidFill>
              <a:srgbClr val="071D30">
                <a:alpha val="74902"/>
              </a:srgbClr>
            </a:solidFill>
          </p:spPr>
        </p:sp>
        <p:sp>
          <p:nvSpPr>
            <p:cNvPr name="TextBox 17" id="17"/>
            <p:cNvSpPr txBox="true"/>
            <p:nvPr/>
          </p:nvSpPr>
          <p:spPr>
            <a:xfrm>
              <a:off x="0" y="-38100"/>
              <a:ext cx="12395200" cy="1181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8" id="18"/>
          <p:cNvSpPr txBox="true"/>
          <p:nvPr/>
        </p:nvSpPr>
        <p:spPr>
          <a:xfrm rot="0">
            <a:off x="9334500" y="9696450"/>
            <a:ext cx="8572500" cy="2419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350">
                <a:solidFill>
                  <a:srgbClr val="F5F7FA"/>
                </a:solidFill>
                <a:latin typeface="Arimo"/>
                <a:ea typeface="Arimo"/>
                <a:cs typeface="Arimo"/>
                <a:sym typeface="Arimo"/>
              </a:rPr>
              <a:t>Videos de @Datos.deCiencia: 1 a 3 publicados; 4 en producción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666750" y="9772650"/>
            <a:ext cx="5905500" cy="224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84"/>
              </a:lnSpc>
            </a:pPr>
            <a:r>
              <a:rPr lang="en-US" sz="1275" b="true">
                <a:solidFill>
                  <a:srgbClr val="53697A"/>
                </a:solidFill>
                <a:latin typeface="Arimo Bold"/>
                <a:ea typeface="Arimo Bold"/>
                <a:cs typeface="Arimo Bold"/>
                <a:sym typeface="Arimo Bold"/>
              </a:rPr>
              <a:t>HELIODATA ACADEMY 2026  ·  ESCUELA DE ASTROFÍSICA SOLAR</a:t>
            </a:r>
          </a:p>
        </p:txBody>
      </p:sp>
      <p:pic>
        <p:nvPicPr>
          <p:cNvPr id="22" name="Picture 21" descr="canal_video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32000" y="2093690"/>
            <a:ext cx="8424000" cy="5244619"/>
          </a:xfrm>
          <a:prstGeom prst="rect">
            <a:avLst/>
          </a:prstGeom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/>
      <p:grpSp>
        <p:nvGrpSpPr>
          <p:cNvPr name="Group 2" id="2"/>
          <p:cNvGrpSpPr/>
          <p:nvPr/>
        </p:nvGrpSpPr>
        <p:grpSpPr>
          <a:xfrm rot="0">
            <a:off x="9296400" y="0"/>
            <a:ext cx="8991600" cy="3352800"/>
            <a:chOff x="0" y="0"/>
            <a:chExt cx="2368158" cy="883042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368158" cy="883042"/>
            </a:xfrm>
            <a:custGeom>
              <a:avLst/>
              <a:gdLst/>
              <a:ahLst/>
              <a:cxnLst/>
              <a:rect r="r" b="b" t="t" l="l"/>
              <a:pathLst>
                <a:path h="883042" w="2368158">
                  <a:moveTo>
                    <a:pt x="0" y="0"/>
                  </a:moveTo>
                  <a:lnTo>
                    <a:pt x="2368158" y="0"/>
                  </a:lnTo>
                  <a:lnTo>
                    <a:pt x="2368158" y="883042"/>
                  </a:lnTo>
                  <a:lnTo>
                    <a:pt x="0" y="883042"/>
                  </a:lnTo>
                  <a:close/>
                </a:path>
              </a:pathLst>
            </a:custGeom>
            <a:solidFill>
              <a:srgbClr val="F5F7FA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2368158" cy="92114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00"/>
                </a:lnSpc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8991600" y="0"/>
            <a:ext cx="9296400" cy="10287000"/>
            <a:chOff x="0" y="0"/>
            <a:chExt cx="1220873" cy="1350966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220873" cy="1350966"/>
            </a:xfrm>
            <a:custGeom>
              <a:avLst/>
              <a:gdLst/>
              <a:ahLst/>
              <a:cxnLst/>
              <a:rect r="r" b="b" t="t" l="l"/>
              <a:pathLst>
                <a:path h="1350966" w="1220873">
                  <a:moveTo>
                    <a:pt x="0" y="0"/>
                  </a:moveTo>
                  <a:lnTo>
                    <a:pt x="1220873" y="0"/>
                  </a:lnTo>
                  <a:lnTo>
                    <a:pt x="1220873" y="1350966"/>
                  </a:lnTo>
                  <a:lnTo>
                    <a:pt x="0" y="1350966"/>
                  </a:lnTo>
                  <a:close/>
                </a:path>
              </a:pathLst>
            </a:custGeom>
            <a:solidFill>
              <a:srgbClr val="071D30"/>
            </a:solidFill>
          </p:spPr>
        </p:sp>
      </p:grpSp>
      <p:sp>
        <p:nvSpPr>
          <p:cNvPr name="TextBox 7" id="7"/>
          <p:cNvSpPr txBox="true"/>
          <p:nvPr/>
        </p:nvSpPr>
        <p:spPr>
          <a:xfrm rot="0">
            <a:off x="666750" y="2362200"/>
            <a:ext cx="6886575" cy="11811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4840"/>
              </a:lnSpc>
              <a:spcBef>
                <a:spcPct val="0"/>
              </a:spcBef>
            </a:pPr>
            <a:r>
              <a:rPr lang="en-US" sz="4400" spc="-247" strike="noStrike" u="none">
                <a:solidFill>
                  <a:srgbClr val="071D30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@Datos.deCiencia</a:t>
            </a:r>
          </a:p>
        </p:txBody>
      </p:sp>
      <p:grpSp>
        <p:nvGrpSpPr>
          <p:cNvPr name="Group 8" id="8"/>
          <p:cNvGrpSpPr/>
          <p:nvPr/>
        </p:nvGrpSpPr>
        <p:grpSpPr>
          <a:xfrm rot="0">
            <a:off x="666750" y="5334000"/>
            <a:ext cx="6886575" cy="1898650"/>
            <a:chOff x="0" y="0"/>
            <a:chExt cx="9182100" cy="2531534"/>
          </a:xfrm>
        </p:grpSpPr>
        <p:sp>
          <p:nvSpPr>
            <p:cNvPr name="TextBox 9" id="9"/>
            <p:cNvSpPr txBox="true"/>
            <p:nvPr/>
          </p:nvSpPr>
          <p:spPr>
            <a:xfrm rot="0">
              <a:off x="0" y="0"/>
              <a:ext cx="9182100" cy="5588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000"/>
                </a:lnSpc>
                <a:spcBef>
                  <a:spcPct val="0"/>
                </a:spcBef>
              </a:pPr>
              <a:r>
                <a:rPr lang="en-US" b="true" sz="2500" spc="-37" strike="noStrike" u="none">
                  <a:solidFill>
                    <a:srgbClr val="071D30"/>
                  </a:solidFill>
                  <a:latin typeface="Helvetica World Bold"/>
                  <a:ea typeface="Helvetica World Bold"/>
                  <a:cs typeface="Helvetica World Bold"/>
                  <a:sym typeface="Helvetica World Bold"/>
                </a:rPr>
                <a:t>¡Suscríbete!</a:t>
              </a:r>
            </a:p>
          </p:txBody>
        </p:sp>
        <p:sp>
          <p:nvSpPr>
            <p:cNvPr name="TextBox 10" id="10"/>
            <p:cNvSpPr txBox="true"/>
            <p:nvPr/>
          </p:nvSpPr>
          <p:spPr>
            <a:xfrm rot="0">
              <a:off x="0" y="825500"/>
              <a:ext cx="9182100" cy="1706034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3499"/>
                </a:lnSpc>
                <a:spcBef>
                  <a:spcPct val="0"/>
                </a:spcBef>
              </a:pPr>
              <a:r>
                <a:rPr lang="en-US" sz="2499" spc="-37" strike="noStrike" u="none">
                  <a:solidFill>
                    <a:srgbClr val="071D30"/>
                  </a:solidFill>
                  <a:latin typeface="Helvetica World"/>
                  <a:ea typeface="Helvetica World"/>
                  <a:cs typeface="Helvetica World"/>
                  <a:sym typeface="Helvetica World"/>
                </a:rPr>
                <a:t>Escanea el código o busca el canal en YouTube. Los cuadernos de la serie de NumPy están en github.com/Datos-De-Ciencia.</a:t>
              </a:r>
            </a:p>
          </p:txBody>
        </p:sp>
      </p:grpSp>
      <p:sp>
        <p:nvSpPr>
          <p:cNvPr name="TextBox 11" id="11"/>
          <p:cNvSpPr txBox="true"/>
          <p:nvPr/>
        </p:nvSpPr>
        <p:spPr>
          <a:xfrm rot="0">
            <a:off x="685800" y="657225"/>
            <a:ext cx="66675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b="true">
                <a:solidFill>
                  <a:srgbClr val="087F8C"/>
                </a:solidFill>
                <a:latin typeface="Arimo Bold"/>
                <a:ea typeface="Arimo Bold"/>
                <a:cs typeface="Arimo Bold"/>
                <a:sym typeface="Arimo Bold"/>
              </a:rPr>
              <a:t>DATOS DE CIENCIA</a:t>
            </a:r>
          </a:p>
        </p:txBody>
      </p:sp>
      <p:grpSp>
        <p:nvGrpSpPr>
          <p:cNvPr name="Group 12" id="12"/>
          <p:cNvGrpSpPr/>
          <p:nvPr/>
        </p:nvGrpSpPr>
        <p:grpSpPr>
          <a:xfrm rot="0">
            <a:off x="685800" y="4476750"/>
            <a:ext cx="1428750" cy="57150"/>
            <a:chOff x="0" y="0"/>
            <a:chExt cx="1905000" cy="76200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1905000" cy="76200"/>
            </a:xfrm>
            <a:custGeom>
              <a:avLst/>
              <a:gdLst/>
              <a:ahLst/>
              <a:cxnLst/>
              <a:rect r="r" b="b" t="t" l="l"/>
              <a:pathLst>
                <a:path h="76200" w="1905000">
                  <a:moveTo>
                    <a:pt x="0" y="0"/>
                  </a:moveTo>
                  <a:lnTo>
                    <a:pt x="1905000" y="0"/>
                  </a:lnTo>
                  <a:lnTo>
                    <a:pt x="1905000" y="76200"/>
                  </a:lnTo>
                  <a:lnTo>
                    <a:pt x="0" y="76200"/>
                  </a:lnTo>
                  <a:close/>
                </a:path>
              </a:pathLst>
            </a:custGeom>
            <a:solidFill>
              <a:srgbClr val="F5B82E"/>
            </a:solidFill>
          </p:spPr>
        </p:sp>
        <p:sp>
          <p:nvSpPr>
            <p:cNvPr name="TextBox 14" id="14"/>
            <p:cNvSpPr txBox="true"/>
            <p:nvPr/>
          </p:nvSpPr>
          <p:spPr>
            <a:xfrm>
              <a:off x="0" y="-38100"/>
              <a:ext cx="1905000" cy="1143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5" id="15"/>
          <p:cNvSpPr txBox="true"/>
          <p:nvPr/>
        </p:nvSpPr>
        <p:spPr>
          <a:xfrm rot="0">
            <a:off x="685800" y="8515350"/>
            <a:ext cx="7620000" cy="3009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10"/>
              </a:lnSpc>
            </a:pPr>
            <a:r>
              <a:rPr lang="en-US" sz="1650" i="true">
                <a:solidFill>
                  <a:srgbClr val="53697A"/>
                </a:solidFill>
                <a:latin typeface="Arimo Italics"/>
                <a:ea typeface="Arimo Italics"/>
                <a:cs typeface="Arimo Italics"/>
                <a:sym typeface="Arimo Italics"/>
              </a:rPr>
              <a:t>youtube.com/@Datos.deCiencia</a:t>
            </a:r>
          </a:p>
        </p:txBody>
      </p:sp>
      <p:grpSp>
        <p:nvGrpSpPr>
          <p:cNvPr name="Group 16" id="16"/>
          <p:cNvGrpSpPr/>
          <p:nvPr/>
        </p:nvGrpSpPr>
        <p:grpSpPr>
          <a:xfrm rot="0">
            <a:off x="8991600" y="9429750"/>
            <a:ext cx="9296400" cy="857250"/>
            <a:chOff x="0" y="0"/>
            <a:chExt cx="12395200" cy="1143000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12395200" cy="1143000"/>
            </a:xfrm>
            <a:custGeom>
              <a:avLst/>
              <a:gdLst/>
              <a:ahLst/>
              <a:cxnLst/>
              <a:rect r="r" b="b" t="t" l="l"/>
              <a:pathLst>
                <a:path h="1143000" w="12395200">
                  <a:moveTo>
                    <a:pt x="0" y="0"/>
                  </a:moveTo>
                  <a:lnTo>
                    <a:pt x="12395200" y="0"/>
                  </a:lnTo>
                  <a:lnTo>
                    <a:pt x="12395200" y="1143000"/>
                  </a:lnTo>
                  <a:lnTo>
                    <a:pt x="0" y="1143000"/>
                  </a:lnTo>
                  <a:close/>
                </a:path>
              </a:pathLst>
            </a:custGeom>
            <a:solidFill>
              <a:srgbClr val="071D30">
                <a:alpha val="74902"/>
              </a:srgbClr>
            </a:solidFill>
          </p:spPr>
        </p:sp>
        <p:sp>
          <p:nvSpPr>
            <p:cNvPr name="TextBox 18" id="18"/>
            <p:cNvSpPr txBox="true"/>
            <p:nvPr/>
          </p:nvSpPr>
          <p:spPr>
            <a:xfrm>
              <a:off x="0" y="-38100"/>
              <a:ext cx="12395200" cy="1181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TextBox 19" id="19"/>
          <p:cNvSpPr txBox="true"/>
          <p:nvPr/>
        </p:nvSpPr>
        <p:spPr>
          <a:xfrm rot="0">
            <a:off x="9334500" y="9696450"/>
            <a:ext cx="8572500" cy="2419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89"/>
              </a:lnSpc>
            </a:pPr>
            <a:r>
              <a:rPr lang="en-US" sz="1350">
                <a:solidFill>
                  <a:srgbClr val="F5F7FA"/>
                </a:solidFill>
                <a:latin typeface="Arimo"/>
                <a:ea typeface="Arimo"/>
                <a:cs typeface="Arimo"/>
                <a:sym typeface="Arimo"/>
              </a:rPr>
              <a:t>Logo del canal y código QR al canal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666750" y="9772650"/>
            <a:ext cx="5905500" cy="22479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784"/>
              </a:lnSpc>
            </a:pPr>
            <a:r>
              <a:rPr lang="en-US" sz="1275" b="true">
                <a:solidFill>
                  <a:srgbClr val="53697A"/>
                </a:solidFill>
                <a:latin typeface="Arimo Bold"/>
                <a:ea typeface="Arimo Bold"/>
                <a:cs typeface="Arimo Bold"/>
                <a:sym typeface="Arimo Bold"/>
              </a:rPr>
              <a:t>HELIODATA ACADEMY 2026  ·  ESCUELA DE ASTROFÍSICA SOLAR</a:t>
            </a:r>
          </a:p>
        </p:txBody>
      </p:sp>
      <p:pic>
        <p:nvPicPr>
          <p:cNvPr id="23" name="Picture 22" descr="canal_q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32000" y="2486118"/>
            <a:ext cx="8424000" cy="4459764"/>
          </a:xfrm>
          <a:prstGeom prst="rect">
            <a:avLst/>
          </a:prstGeom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D30"/>
        </a:solidFill>
      </p:bgPr>
    </p:bg>
    <p:spTree>
      <p:nvGrpSpPr>
        <p:cNvPr id="1" name=""/>
        <p:cNvGrpSpPr/>
        <p:nvPr/>
      </p:nvGrpSpPr>
      <p:grpSpPr/>
      <p:grpSp>
        <p:nvGrpSpPr>
          <p:cNvPr name="Group 2" id="2"/>
          <p:cNvGrpSpPr/>
          <p:nvPr/>
        </p:nvGrpSpPr>
        <p:grpSpPr>
          <a:xfrm rot="0">
            <a:off x="0" y="0"/>
            <a:ext cx="7858125" cy="10287000"/>
            <a:chOff x="0" y="0"/>
            <a:chExt cx="1031988" cy="1350966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031988" cy="1350966"/>
            </a:xfrm>
            <a:custGeom>
              <a:avLst/>
              <a:gdLst/>
              <a:ahLst/>
              <a:cxnLst/>
              <a:rect r="r" b="b" t="t" l="l"/>
              <a:pathLst>
                <a:path h="1350966" w="1031988">
                  <a:moveTo>
                    <a:pt x="0" y="0"/>
                  </a:moveTo>
                  <a:lnTo>
                    <a:pt x="1031988" y="0"/>
                  </a:lnTo>
                  <a:lnTo>
                    <a:pt x="1031988" y="1350966"/>
                  </a:lnTo>
                  <a:lnTo>
                    <a:pt x="0" y="1350966"/>
                  </a:lnTo>
                  <a:close/>
                </a:path>
              </a:pathLst>
            </a:custGeom>
            <a:solidFill>
              <a:srgbClr val="F5B82E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1052512" y="666750"/>
            <a:ext cx="5753100" cy="8953500"/>
            <a:chOff x="0" y="0"/>
            <a:chExt cx="814724" cy="1267949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814724" cy="1267949"/>
            </a:xfrm>
            <a:custGeom>
              <a:avLst/>
              <a:gdLst/>
              <a:ahLst/>
              <a:cxnLst/>
              <a:rect r="r" b="b" t="t" l="l"/>
              <a:pathLst>
                <a:path h="1267949" w="814724">
                  <a:moveTo>
                    <a:pt x="26914" y="0"/>
                  </a:moveTo>
                  <a:lnTo>
                    <a:pt x="787810" y="0"/>
                  </a:lnTo>
                  <a:cubicBezTo>
                    <a:pt x="802675" y="0"/>
                    <a:pt x="814724" y="12050"/>
                    <a:pt x="814724" y="26914"/>
                  </a:cubicBezTo>
                  <a:lnTo>
                    <a:pt x="814724" y="1241035"/>
                  </a:lnTo>
                  <a:cubicBezTo>
                    <a:pt x="814724" y="1255899"/>
                    <a:pt x="802675" y="1267949"/>
                    <a:pt x="787810" y="1267949"/>
                  </a:cubicBezTo>
                  <a:lnTo>
                    <a:pt x="26914" y="1267949"/>
                  </a:lnTo>
                  <a:cubicBezTo>
                    <a:pt x="12050" y="1267949"/>
                    <a:pt x="0" y="1255899"/>
                    <a:pt x="0" y="1241035"/>
                  </a:cubicBezTo>
                  <a:lnTo>
                    <a:pt x="0" y="26914"/>
                  </a:lnTo>
                  <a:cubicBezTo>
                    <a:pt x="0" y="12050"/>
                    <a:pt x="12050" y="0"/>
                    <a:pt x="26914" y="0"/>
                  </a:cubicBezTo>
                  <a:close/>
                </a:path>
              </a:pathLst>
            </a:custGeom>
            <a:blipFill>
              <a:blip r:embed="rId2"/>
              <a:stretch>
                <a:fillRect l="0" t="-199" r="0" b="-199"/>
              </a:stretch>
            </a:blipFill>
          </p:spPr>
        </p:sp>
      </p:grpSp>
      <p:sp>
        <p:nvSpPr>
          <p:cNvPr name="TextBox 6" id="6"/>
          <p:cNvSpPr txBox="true"/>
          <p:nvPr/>
        </p:nvSpPr>
        <p:spPr>
          <a:xfrm rot="0">
            <a:off x="9315450" y="2914650"/>
            <a:ext cx="8324850" cy="6089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4940"/>
              </a:lnSpc>
              <a:spcBef>
                <a:spcPct val="0"/>
              </a:spcBef>
            </a:pPr>
            <a:r>
              <a:rPr lang="en-US" sz="3800" spc="-57" strike="noStrike" u="none">
                <a:solidFill>
                  <a:srgbClr val="F5F7FA"/>
                </a:solidFill>
                <a:latin typeface="Helvetica World"/>
                <a:ea typeface="Helvetica World"/>
                <a:cs typeface="Helvetica World"/>
                <a:sym typeface="Helvetica World"/>
              </a:rPr>
              <a:t>¿Preguntas?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9303759" y="942975"/>
            <a:ext cx="8317491" cy="199913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14956"/>
              </a:lnSpc>
            </a:pPr>
            <a:r>
              <a:rPr lang="en-US" sz="14956" spc="-523">
                <a:solidFill>
                  <a:srgbClr val="F5B82E"/>
                </a:solidFill>
                <a:latin typeface="Georgia Pro Condensed"/>
                <a:ea typeface="Georgia Pro Condensed"/>
                <a:cs typeface="Georgia Pro Condensed"/>
                <a:sym typeface="Georgia Pro Condensed"/>
              </a:rPr>
              <a:t>¡Gracias!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9315450" y="3943350"/>
            <a:ext cx="8096250" cy="8877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569"/>
              </a:lnSpc>
            </a:pPr>
            <a:r>
              <a:rPr lang="en-US" sz="2550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Juan Esteban Agudelo Ortiz</a:t>
            </a:r>
          </a:p>
          <a:p>
            <a:pPr algn="l">
              <a:lnSpc>
                <a:spcPts val="3569"/>
              </a:lnSpc>
            </a:pPr>
            <a:r>
              <a:rPr lang="en-US" sz="2550">
                <a:solidFill>
                  <a:srgbClr val="FFFFFF"/>
                </a:solidFill>
                <a:latin typeface="Arimo"/>
                <a:ea typeface="Arimo"/>
                <a:cs typeface="Arimo"/>
                <a:sym typeface="Arimo"/>
              </a:rPr>
              <a:t>juagudeloo@unal.edu.co</a:t>
            </a:r>
          </a:p>
        </p:txBody>
      </p:sp>
      <p:grpSp>
        <p:nvGrpSpPr>
          <p:cNvPr name="Group 9" id="9"/>
          <p:cNvGrpSpPr/>
          <p:nvPr/>
        </p:nvGrpSpPr>
        <p:grpSpPr>
          <a:xfrm rot="0">
            <a:off x="9315450" y="5334000"/>
            <a:ext cx="1428750" cy="57150"/>
            <a:chOff x="0" y="0"/>
            <a:chExt cx="1905000" cy="76200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1905000" cy="76200"/>
            </a:xfrm>
            <a:custGeom>
              <a:avLst/>
              <a:gdLst/>
              <a:ahLst/>
              <a:cxnLst/>
              <a:rect r="r" b="b" t="t" l="l"/>
              <a:pathLst>
                <a:path h="76200" w="1905000">
                  <a:moveTo>
                    <a:pt x="0" y="0"/>
                  </a:moveTo>
                  <a:lnTo>
                    <a:pt x="1905000" y="0"/>
                  </a:lnTo>
                  <a:lnTo>
                    <a:pt x="1905000" y="76200"/>
                  </a:lnTo>
                  <a:lnTo>
                    <a:pt x="0" y="76200"/>
                  </a:lnTo>
                  <a:close/>
                </a:path>
              </a:pathLst>
            </a:custGeom>
            <a:solidFill>
              <a:srgbClr val="F5B82E"/>
            </a:solidFill>
          </p:spPr>
        </p:sp>
        <p:sp>
          <p:nvSpPr>
            <p:cNvPr name="TextBox 11" id="11"/>
            <p:cNvSpPr txBox="true"/>
            <p:nvPr/>
          </p:nvSpPr>
          <p:spPr>
            <a:xfrm>
              <a:off x="0" y="-38100"/>
              <a:ext cx="1905000" cy="1143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2" id="12"/>
          <p:cNvGrpSpPr/>
          <p:nvPr/>
        </p:nvGrpSpPr>
        <p:grpSpPr>
          <a:xfrm rot="0">
            <a:off x="9315450" y="5715000"/>
            <a:ext cx="2000250" cy="2000250"/>
            <a:chOff x="0" y="0"/>
            <a:chExt cx="2667000" cy="2667000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2667000" cy="2667000"/>
            </a:xfrm>
            <a:custGeom>
              <a:avLst/>
              <a:gdLst/>
              <a:ahLst/>
              <a:cxnLst/>
              <a:rect r="r" b="b" t="t" l="l"/>
              <a:pathLst>
                <a:path h="2667000" w="2667000">
                  <a:moveTo>
                    <a:pt x="177800" y="0"/>
                  </a:moveTo>
                  <a:lnTo>
                    <a:pt x="2489200" y="0"/>
                  </a:lnTo>
                  <a:cubicBezTo>
                    <a:pt x="2587396" y="0"/>
                    <a:pt x="2667000" y="79604"/>
                    <a:pt x="2667000" y="177800"/>
                  </a:cubicBezTo>
                  <a:lnTo>
                    <a:pt x="2667000" y="2489200"/>
                  </a:lnTo>
                  <a:cubicBezTo>
                    <a:pt x="2667000" y="2587396"/>
                    <a:pt x="2587396" y="2667000"/>
                    <a:pt x="2489200" y="2667000"/>
                  </a:cubicBezTo>
                  <a:lnTo>
                    <a:pt x="177800" y="2667000"/>
                  </a:lnTo>
                  <a:cubicBezTo>
                    <a:pt x="79604" y="2667000"/>
                    <a:pt x="0" y="2587396"/>
                    <a:pt x="0" y="2489200"/>
                  </a:cubicBezTo>
                  <a:lnTo>
                    <a:pt x="0" y="177800"/>
                  </a:lnTo>
                  <a:cubicBezTo>
                    <a:pt x="0" y="79604"/>
                    <a:pt x="79604" y="0"/>
                    <a:pt x="177800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14" id="14"/>
            <p:cNvSpPr txBox="true"/>
            <p:nvPr/>
          </p:nvSpPr>
          <p:spPr>
            <a:xfrm>
              <a:off x="0" y="-38100"/>
              <a:ext cx="2667000" cy="2705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Freeform 15" id="15" descr="Código QR de registro a la escuela"/>
          <p:cNvSpPr/>
          <p:nvPr/>
        </p:nvSpPr>
        <p:spPr>
          <a:xfrm flipH="false" flipV="false" rot="0">
            <a:off x="9410700" y="5810250"/>
            <a:ext cx="1809750" cy="1809750"/>
          </a:xfrm>
          <a:custGeom>
            <a:avLst/>
            <a:gdLst/>
            <a:ahLst/>
            <a:cxnLst/>
            <a:rect r="r" b="b" t="t" l="l"/>
            <a:pathLst>
              <a:path h="1809750" w="1809750">
                <a:moveTo>
                  <a:pt x="0" y="0"/>
                </a:moveTo>
                <a:lnTo>
                  <a:pt x="1809750" y="0"/>
                </a:lnTo>
                <a:lnTo>
                  <a:pt x="1809750" y="1809750"/>
                </a:lnTo>
                <a:lnTo>
                  <a:pt x="0" y="180975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TextBox 16" id="16"/>
          <p:cNvSpPr txBox="true"/>
          <p:nvPr/>
        </p:nvSpPr>
        <p:spPr>
          <a:xfrm rot="0">
            <a:off x="11668125" y="5772150"/>
            <a:ext cx="6096000" cy="17602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35"/>
              </a:lnSpc>
            </a:pPr>
            <a:r>
              <a:rPr lang="en-US" sz="2100">
                <a:solidFill>
                  <a:srgbClr val="F5F7FA"/>
                </a:solidFill>
                <a:latin typeface="Arimo"/>
                <a:ea typeface="Arimo"/>
                <a:cs typeface="Arimo"/>
                <a:sym typeface="Arimo"/>
              </a:rPr>
              <a:t>Registro</a:t>
            </a:r>
          </a:p>
          <a:p>
            <a:pPr algn="l">
              <a:lnSpc>
                <a:spcPts val="2835"/>
              </a:lnSpc>
            </a:pPr>
            <a:r>
              <a:rPr lang="en-US" sz="2100">
                <a:solidFill>
                  <a:srgbClr val="F5F7FA"/>
                </a:solidFill>
                <a:latin typeface="Arimo"/>
                <a:ea typeface="Arimo"/>
                <a:cs typeface="Arimo"/>
                <a:sym typeface="Arimo"/>
              </a:rPr>
              <a:t>tiny.cc/escuelasolar</a:t>
            </a:r>
          </a:p>
          <a:p>
            <a:pPr algn="l">
              <a:lnSpc>
                <a:spcPts val="2835"/>
              </a:lnSpc>
            </a:pPr>
          </a:p>
          <a:p>
            <a:pPr algn="l">
              <a:lnSpc>
                <a:spcPts val="2835"/>
              </a:lnSpc>
            </a:pPr>
            <a:r>
              <a:rPr lang="en-US" sz="2100">
                <a:solidFill>
                  <a:srgbClr val="F5F7FA"/>
                </a:solidFill>
                <a:latin typeface="Arimo"/>
                <a:ea typeface="Arimo"/>
                <a:cs typeface="Arimo"/>
                <a:sym typeface="Arimo"/>
              </a:rPr>
              <a:t>Más información</a:t>
            </a:r>
          </a:p>
          <a:p>
            <a:pPr algn="l">
              <a:lnSpc>
                <a:spcPts val="2835"/>
              </a:lnSpc>
            </a:pPr>
            <a:r>
              <a:rPr lang="en-US" sz="2100">
                <a:solidFill>
                  <a:srgbClr val="F5F7FA"/>
                </a:solidFill>
                <a:latin typeface="Arimo"/>
                <a:ea typeface="Arimo"/>
                <a:cs typeface="Arimo"/>
                <a:sym typeface="Arimo"/>
              </a:rPr>
              <a:t>astronomiaoan.co/gosa/escuela.html</a:t>
            </a:r>
          </a:p>
        </p:txBody>
      </p:sp>
      <p:grpSp>
        <p:nvGrpSpPr>
          <p:cNvPr name="Group 17" id="17"/>
          <p:cNvGrpSpPr/>
          <p:nvPr/>
        </p:nvGrpSpPr>
        <p:grpSpPr>
          <a:xfrm rot="0">
            <a:off x="9315450" y="8382000"/>
            <a:ext cx="2857500" cy="952500"/>
            <a:chOff x="0" y="0"/>
            <a:chExt cx="3810000" cy="1270000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3810000" cy="1270000"/>
            </a:xfrm>
            <a:custGeom>
              <a:avLst/>
              <a:gdLst/>
              <a:ahLst/>
              <a:cxnLst/>
              <a:rect r="r" b="b" t="t" l="l"/>
              <a:pathLst>
                <a:path h="1270000" w="3810000">
                  <a:moveTo>
                    <a:pt x="203200" y="0"/>
                  </a:moveTo>
                  <a:lnTo>
                    <a:pt x="3606800" y="0"/>
                  </a:lnTo>
                  <a:cubicBezTo>
                    <a:pt x="3719024" y="0"/>
                    <a:pt x="3810000" y="90976"/>
                    <a:pt x="3810000" y="203200"/>
                  </a:cubicBezTo>
                  <a:lnTo>
                    <a:pt x="3810000" y="1066800"/>
                  </a:lnTo>
                  <a:cubicBezTo>
                    <a:pt x="3810000" y="1179024"/>
                    <a:pt x="3719024" y="1270000"/>
                    <a:pt x="3606800" y="1270000"/>
                  </a:cubicBezTo>
                  <a:lnTo>
                    <a:pt x="203200" y="1270000"/>
                  </a:lnTo>
                  <a:cubicBezTo>
                    <a:pt x="90976" y="1270000"/>
                    <a:pt x="0" y="1179024"/>
                    <a:pt x="0" y="1066800"/>
                  </a:cubicBezTo>
                  <a:lnTo>
                    <a:pt x="0" y="203200"/>
                  </a:lnTo>
                  <a:cubicBezTo>
                    <a:pt x="0" y="90976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19" id="19"/>
            <p:cNvSpPr txBox="true"/>
            <p:nvPr/>
          </p:nvSpPr>
          <p:spPr>
            <a:xfrm>
              <a:off x="0" y="-38100"/>
              <a:ext cx="3810000" cy="1308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Freeform 20" id="20" descr="Logo GoSA"/>
          <p:cNvSpPr/>
          <p:nvPr/>
        </p:nvSpPr>
        <p:spPr>
          <a:xfrm flipH="false" flipV="false" rot="0">
            <a:off x="9458325" y="8496300"/>
            <a:ext cx="1524000" cy="714375"/>
          </a:xfrm>
          <a:custGeom>
            <a:avLst/>
            <a:gdLst/>
            <a:ahLst/>
            <a:cxnLst/>
            <a:rect r="r" b="b" t="t" l="l"/>
            <a:pathLst>
              <a:path h="714375" w="1524000">
                <a:moveTo>
                  <a:pt x="0" y="0"/>
                </a:moveTo>
                <a:lnTo>
                  <a:pt x="1524000" y="0"/>
                </a:lnTo>
                <a:lnTo>
                  <a:pt x="1524000" y="714375"/>
                </a:lnTo>
                <a:lnTo>
                  <a:pt x="0" y="71437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-82" t="0" r="-82" b="0"/>
            </a:stretch>
          </a:blipFill>
        </p:spPr>
      </p:sp>
      <p:sp>
        <p:nvSpPr>
          <p:cNvPr name="Freeform 21" id="21" descr="Logo Observatorio Astronómico Nacional"/>
          <p:cNvSpPr/>
          <p:nvPr/>
        </p:nvSpPr>
        <p:spPr>
          <a:xfrm flipH="false" flipV="false" rot="0">
            <a:off x="11163300" y="8477250"/>
            <a:ext cx="819150" cy="762000"/>
          </a:xfrm>
          <a:custGeom>
            <a:avLst/>
            <a:gdLst/>
            <a:ahLst/>
            <a:cxnLst/>
            <a:rect r="r" b="b" t="t" l="l"/>
            <a:pathLst>
              <a:path h="762000" w="819150">
                <a:moveTo>
                  <a:pt x="0" y="0"/>
                </a:moveTo>
                <a:lnTo>
                  <a:pt x="819150" y="0"/>
                </a:lnTo>
                <a:lnTo>
                  <a:pt x="819150" y="762000"/>
                </a:lnTo>
                <a:lnTo>
                  <a:pt x="0" y="76200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-61" r="0" b="-61"/>
            </a:stretch>
          </a:blipFill>
        </p:spPr>
      </p:sp>
      <p:sp>
        <p:nvSpPr>
          <p:cNvPr name="TextBox 22" id="22"/>
          <p:cNvSpPr txBox="true"/>
          <p:nvPr/>
        </p:nvSpPr>
        <p:spPr>
          <a:xfrm rot="0">
            <a:off x="12430125" y="8515350"/>
            <a:ext cx="5334000" cy="58769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62"/>
              </a:lnSpc>
            </a:pPr>
            <a:r>
              <a:rPr lang="en-US" sz="1575">
                <a:solidFill>
                  <a:srgbClr val="9FB3C8"/>
                </a:solidFill>
                <a:latin typeface="Arimo"/>
                <a:ea typeface="Arimo"/>
                <a:cs typeface="Arimo"/>
                <a:sym typeface="Arimo"/>
              </a:rPr>
              <a:t>Organiza: Group of Solar Astrophysics GoSA</a:t>
            </a:r>
          </a:p>
          <a:p>
            <a:pPr algn="l">
              <a:lnSpc>
                <a:spcPts val="2362"/>
              </a:lnSpc>
            </a:pPr>
            <a:r>
              <a:rPr lang="en-US" sz="1575">
                <a:solidFill>
                  <a:srgbClr val="9FB3C8"/>
                </a:solidFill>
                <a:latin typeface="Arimo"/>
                <a:ea typeface="Arimo"/>
                <a:cs typeface="Arimo"/>
                <a:sym typeface="Arimo"/>
              </a:rPr>
              <a:t>Observatorio Astronómico Nacional · UNAL Bogotá</a:t>
            </a:r>
          </a:p>
        </p:txBody>
      </p:sp>
      <p:grpSp>
        <p:nvGrpSpPr>
          <p:cNvPr name="Group 23" id="23"/>
          <p:cNvGrpSpPr/>
          <p:nvPr/>
        </p:nvGrpSpPr>
        <p:grpSpPr>
          <a:xfrm rot="0">
            <a:off x="16287750" y="666750"/>
            <a:ext cx="1333500" cy="1333500"/>
            <a:chOff x="0" y="0"/>
            <a:chExt cx="1778000" cy="1778000"/>
          </a:xfrm>
        </p:grpSpPr>
        <p:sp>
          <p:nvSpPr>
            <p:cNvPr name="Freeform 24" id="24"/>
            <p:cNvSpPr/>
            <p:nvPr/>
          </p:nvSpPr>
          <p:spPr>
            <a:xfrm flipH="false" flipV="false" rot="0">
              <a:off x="200025" y="200025"/>
              <a:ext cx="1377950" cy="1377950"/>
            </a:xfrm>
            <a:custGeom>
              <a:avLst/>
              <a:gdLst/>
              <a:ahLst/>
              <a:cxnLst/>
              <a:rect r="r" b="b" t="t" l="l"/>
              <a:pathLst>
                <a:path h="1377950" w="1377950">
                  <a:moveTo>
                    <a:pt x="296333" y="688975"/>
                  </a:moveTo>
                  <a:cubicBezTo>
                    <a:pt x="296333" y="905825"/>
                    <a:pt x="472125" y="1081617"/>
                    <a:pt x="688975" y="1081617"/>
                  </a:cubicBezTo>
                  <a:cubicBezTo>
                    <a:pt x="905825" y="1081617"/>
                    <a:pt x="1081617" y="905825"/>
                    <a:pt x="1081617" y="688975"/>
                  </a:cubicBezTo>
                  <a:cubicBezTo>
                    <a:pt x="1081617" y="472125"/>
                    <a:pt x="905825" y="296333"/>
                    <a:pt x="688975" y="296333"/>
                  </a:cubicBezTo>
                  <a:cubicBezTo>
                    <a:pt x="472125" y="296333"/>
                    <a:pt x="296333" y="472125"/>
                    <a:pt x="296333" y="688975"/>
                  </a:cubicBezTo>
                  <a:close/>
                  <a:moveTo>
                    <a:pt x="1342390" y="280776"/>
                  </a:moveTo>
                  <a:cubicBezTo>
                    <a:pt x="1296472" y="202770"/>
                    <a:pt x="1127955" y="209077"/>
                    <a:pt x="900934" y="297297"/>
                  </a:cubicBezTo>
                  <a:cubicBezTo>
                    <a:pt x="673912" y="385518"/>
                    <a:pt x="423278" y="542093"/>
                    <a:pt x="244359" y="707470"/>
                  </a:cubicBezTo>
                  <a:cubicBezTo>
                    <a:pt x="65441" y="872847"/>
                    <a:pt x="-14264" y="1021609"/>
                    <a:pt x="35560" y="1097174"/>
                  </a:cubicBezTo>
                  <a:cubicBezTo>
                    <a:pt x="81478" y="1175180"/>
                    <a:pt x="249995" y="1168873"/>
                    <a:pt x="477016" y="1080653"/>
                  </a:cubicBezTo>
                  <a:cubicBezTo>
                    <a:pt x="704038" y="992432"/>
                    <a:pt x="954672" y="835857"/>
                    <a:pt x="1133591" y="670480"/>
                  </a:cubicBezTo>
                  <a:cubicBezTo>
                    <a:pt x="1312509" y="505103"/>
                    <a:pt x="1392214" y="356341"/>
                    <a:pt x="1342390" y="280776"/>
                  </a:cubicBezTo>
                  <a:close/>
                  <a:moveTo>
                    <a:pt x="688975" y="118533"/>
                  </a:moveTo>
                  <a:lnTo>
                    <a:pt x="688975" y="0"/>
                  </a:lnTo>
                  <a:moveTo>
                    <a:pt x="688975" y="1377950"/>
                  </a:moveTo>
                  <a:lnTo>
                    <a:pt x="688975" y="1259417"/>
                  </a:lnTo>
                  <a:moveTo>
                    <a:pt x="118533" y="688975"/>
                  </a:moveTo>
                  <a:lnTo>
                    <a:pt x="0" y="688975"/>
                  </a:lnTo>
                  <a:moveTo>
                    <a:pt x="1377950" y="688975"/>
                  </a:moveTo>
                  <a:lnTo>
                    <a:pt x="1259417" y="688975"/>
                  </a:lnTo>
                  <a:moveTo>
                    <a:pt x="288925" y="288925"/>
                  </a:moveTo>
                  <a:lnTo>
                    <a:pt x="207433" y="207433"/>
                  </a:lnTo>
                  <a:moveTo>
                    <a:pt x="1089025" y="1089025"/>
                  </a:moveTo>
                  <a:lnTo>
                    <a:pt x="1170517" y="1170517"/>
                  </a:lnTo>
                  <a:moveTo>
                    <a:pt x="325967" y="740833"/>
                  </a:moveTo>
                  <a:lnTo>
                    <a:pt x="488950" y="740833"/>
                  </a:lnTo>
                  <a:lnTo>
                    <a:pt x="570442" y="570442"/>
                  </a:lnTo>
                  <a:lnTo>
                    <a:pt x="696383" y="866775"/>
                  </a:lnTo>
                  <a:lnTo>
                    <a:pt x="807508" y="644525"/>
                  </a:lnTo>
                  <a:lnTo>
                    <a:pt x="881592" y="740833"/>
                  </a:lnTo>
                  <a:lnTo>
                    <a:pt x="1059392" y="740833"/>
                  </a:lnTo>
                </a:path>
              </a:pathLst>
            </a:custGeom>
            <a:ln w="38100" cap="sq">
              <a:solidFill>
                <a:srgbClr val="F5B82E"/>
              </a:solidFill>
              <a:prstDash val="solid"/>
              <a:miter/>
            </a:ln>
          </p:spPr>
        </p:sp>
        <p:sp>
          <p:nvSpPr>
            <p:cNvPr name="TextBox 25" id="25"/>
            <p:cNvSpPr txBox="true"/>
            <p:nvPr/>
          </p:nvSpPr>
          <p:spPr>
            <a:xfrm>
              <a:off x="0" y="-38100"/>
              <a:ext cx="1778000" cy="1816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26" id="26"/>
          <p:cNvGrpSpPr/>
          <p:nvPr/>
        </p:nvGrpSpPr>
        <p:grpSpPr>
          <a:xfrm rot="0">
            <a:off x="16287750" y="666750"/>
            <a:ext cx="1333500" cy="1333500"/>
            <a:chOff x="0" y="0"/>
            <a:chExt cx="1778000" cy="1778000"/>
          </a:xfrm>
        </p:grpSpPr>
        <p:sp>
          <p:nvSpPr>
            <p:cNvPr name="Freeform 27" id="27"/>
            <p:cNvSpPr/>
            <p:nvPr/>
          </p:nvSpPr>
          <p:spPr>
            <a:xfrm flipH="false" flipV="false" rot="0">
              <a:off x="1274233" y="229658"/>
              <a:ext cx="237067" cy="237067"/>
            </a:xfrm>
            <a:custGeom>
              <a:avLst/>
              <a:gdLst/>
              <a:ahLst/>
              <a:cxnLst/>
              <a:rect r="r" b="b" t="t" l="l"/>
              <a:pathLst>
                <a:path h="237067" w="237067">
                  <a:moveTo>
                    <a:pt x="118534" y="0"/>
                  </a:moveTo>
                  <a:lnTo>
                    <a:pt x="148167" y="88900"/>
                  </a:lnTo>
                  <a:lnTo>
                    <a:pt x="237067" y="118534"/>
                  </a:lnTo>
                  <a:lnTo>
                    <a:pt x="148167" y="148167"/>
                  </a:lnTo>
                  <a:lnTo>
                    <a:pt x="118534" y="237067"/>
                  </a:lnTo>
                  <a:lnTo>
                    <a:pt x="88900" y="148167"/>
                  </a:lnTo>
                  <a:lnTo>
                    <a:pt x="0" y="118534"/>
                  </a:lnTo>
                  <a:lnTo>
                    <a:pt x="88900" y="88900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name="TextBox 28" id="28"/>
            <p:cNvSpPr txBox="true"/>
            <p:nvPr/>
          </p:nvSpPr>
          <p:spPr>
            <a:xfrm>
              <a:off x="0" y="-38100"/>
              <a:ext cx="1778000" cy="1816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description>Presentación - HelioData Academy 2026</dc:description>
  <dc:identifier>DAHV1papYog</dc:identifier>
  <dcterms:modified xsi:type="dcterms:W3CDTF">2011-08-01T06:04:30Z</dcterms:modified>
  <cp:revision>1</cp:revision>
  <dc:title>Machine Learning aplicado al estudio del Sol</dc:title>
  <dc:creator>Juan Esteban Agudelo Ortiz</dc:creator>
</cp:coreProperties>
</file>