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6" r:id="rId22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Georgia Pro Condensed" charset="1" panose="02040506050405020303"/>
      <p:regular r:id="rId17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Helvetica World Bold" charset="1" panose="020B0800040000020004"/>
      <p:regular r:id="rId20"/>
    </p:embeddedFont>
    <p:embeddedFont>
      <p:font typeface="Arimo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Sesión del jueves 29 de octubre de 2026, dos horas. Tres bloques: conceptos, aplicaciones en física solar y mi investigación, con dos momentos de práctica en el notebook (corre en CPU, sin 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Tiempos propuestos: 20 + 25 + 60 + 15 de discusión = 120 min. Las prácticas son las secciones 1 a 5 y 6 a 7 del notebook 01_Del_dato_solar_al_caption.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Conceptos mínimos, con ejemplos solares tomados de la revisión de Asensio Ramos et al. (2023), Living Reviews in Solar Physics 20,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misma pregunta de flares puede plantearse como clasificación (¿habrá una M o mayor?) o como regresión (flujo máximo de rayos X en 24 h): revisión, sección 1.1.1. El ejemplo unsupervised de la revisión es hacer clustering de perfiles de Stokes por su forma (sección 1.2).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Arquitecturas de la revisión, sección 5.1 (CNN, RNN, atención y transformers). La figura es la arquitectura de Surya: bloques espectrales y de atención de corto y largo alcance; la retomamos en el bloque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cuatro palabras vuelven en toda la sesión: la U-Net de agujeros coronales minimiza una loss (binary cross-entropy), en los flares hay que comparar contra un baseline porque los flares grandes son raros, y los resultados del prototipo se miden en regiones held-out contra baselines. Si el modelo solo mejora en train y no en held-out, memorizó (overfitting).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de la revisión de Asensio Ramos et al. (2023) y del libro HelioML, más MUISCA, nuestro trabajo en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lista completa de la sección 7 de la revisión (Asensio Ramos et al. 2023): 7.1 segmentation, 7.2 classification, 7.3 y 7.4 flare prediction y modelos explicables, 7.5 heliosfera y space weather, 7.6 ciclo solar, 7.7 inversión de Stokes (acelerar y caracterizar la incertidumbre), 7.8 reconstrucción 3D de la corona, 7.9 deconvolution, 7.10 image-to-image: datos sintéticos, velocidades, super-resolution, denoising, desaturación y far-side imaging. HelioML añade otras, como la estimación de DEM (DeepEM). No las vamos a ver todas: elegimos cuatro casos para ver cómo se plantea cada tipo de problema. Cifras para tener a mano: U-Net con 2385 mapas (7.1); Enhance lleva el píxel de HMI de 0,5″ a 0,25″ y puede crear artefactos (7.10.3); SICON invierte un mapa de 512 × 512 de Hinode en ≈ 200 ms (7.7.1); FarNet detecta ≈ 47 % más regiones del far side a iguales falsos positivos (7.10.6).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Revisión, sección 7.1. La U-Net de Illarionov y Tlatov (2018) se entrenó con 2385 mapas binarios de la estación de Kislovodsk y la loss es la binary cross-entropy (ec. 51): L = −Σ [y log ŷ + (1−y) log(1−ŷ)], con y el label del píxel y ŷ la probabilidad predicha. Frente a CHIMERA, la correlación del área fue 0,76. CHRONNOS (Jarolim et al. 2021) usa siete canales EUV más el magnetograma y distingue agujeros de canales de protuberancias. La figura es de Reiss et al. (2021): nueve métodos (entre ellos CNN193 y CHRONNOS) sobre el mismo agujero; coinciden en el centro y difieren en los bordes, lo que cambia el viento solar predicho.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Revisión, secciones 7.3 y 7.3.6; HelioML, capítulo 1 (Bobra e Ilonidis 2016, ApJ 821, 127). La figura es el recorte del notebook: los 13 canales de la AR 11944 a las 18:24 UT, en pleno flare X1.2.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figura sale del notebook del capítulo 1 (helioml.org/02/notebook.html): qué tanto separa cada parámetro SHARP las regiones con y sin CME; la helicidad de corriente media es la que más separa. Nueve capítulos con notebook: CME, Enhance, DEM, centelleo, espectros de regiones con flares, far side, cruces de la magnetopausa, electrones de MeV y regiones fuente del viento solar. Licencia CC BY-NC-ND 4.0. Buen sitio para practicar después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Trabajo en curso; el artículo está en preparación. Todo sale del resumen del borrador: evaluado en un paso de MURaM held-out y en cuatro regiones de Hinode/SOT-SP del catálogo MODEST, comparando con las inversiones 2D de SPINOR. La mancha está fuera del rango de campos del entrenamiento. Arriba, la arquitectura; abajo, B_LOS: verdad de SPINOR, baseline y cada variante, con el error en la fila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Según el resumen de Surya (Roy et al. 2025), se evaluó zero-shot en forecasting de dinámica solar y de flares, y con fine-tuning (LoRA) en viento solar, segmentation de regiones activas, flares y espectros EUV.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Presento el prototipo de vision-language model (VLM) sobre Surya, con dos prácticas 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copiloto es la meta a largo plazo; el VLM que describe una observación es el primer eslabón. Transición: para enseñarle a un modelo a describir, hacen falta pares observación–caption; ¿de dónde salen?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pipeline de artículos busca en NASA ADS, extrae figuras, lee metadatos con un LLM y ubica el evento en HEK; la comparación con plantilla la diseñó e implementó Julio Flórez. Ejemplo de caption de plantilla: «An active region in the southern hemisphere on the east side of the disk (S05 E32) with 1 sunspot. It is a small single unipolar sunspot.» Transición: ya sabemos qué texto queremos; ahora, qué ve el modelo de la imagen.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cuadros de entrada separados 60 min, cadencia de 12 min. Nunca se entrenó para hablar: sus embeddings no están alineados con el lenguaje.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histogramas muestran qué hace cada paso: el signed log comprime la cola larga de valores brillantes; la standardization con constantes globales deja los píxeles del flare a cientos de desviaciones. Las constantes vienen de scalers.yaml. Cifras reales de la imagen del 7 de enero de 2014, 18:24 UT: mínimo −0,526 y máximo 219,601 tras normalizar aia94.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caja viene de los reportes de regiones activas de NOAA (vía HEK). El pooling numpy del notebook coincide con el de torch (diferencia máxima 6e-8). Transición: ahora lo hacen ustedes, del dato crudo a los 256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15 min. Celda de la sección 2 del notebook (sin el bucle de impresión). Después, secciones 3 a 5: región de interés, tokens y pooling. Pregunta de la sección 4 para discutir: ¿qué estructuras de la imagen se ven en el mapa de normas de los tokens? Transición: ya tenemos 256 tokens de 1280 números; el LLM espera vectores de 4096.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Seguir la figura de arriba abajo con las formas de los tensores. Por qué no lineal: Surya se entrenó para pronosticar, no para alinearse con texto. Como Surya está frozen, los embeddings se calculan una vez y se guardan; Surya y el LLM nunca comparten memoria de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real: el caption de plantilla de la AR 11892 (9 nov 2013), 40 tokens con el &lt;|im_end|&gt;; posiciones calculadas con el tokenizer de Qwen3-8B y el mismo código del entrenamiento. Entre el prompt y el caption hay un bloque &lt;think&gt;&lt;/think&gt; vacío: Qwen3 puede razonar antes de responder y aquí ese modo está apagado. Transición: ahora lo ven 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Extracto de la sección 6 (sin docstrings ni __init__). Los pesos son aleatorios: solo sirve para ver las formas. ≈ 10 min. Transición: con el projector entrenado (en GPU, fuera de la clase), ¿qué aprendió?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2: 139 muestras de entrenamiento y 55 held-out. 0,557 y +0,18 salen del log de entrenamiento (la siguiente lámina los muestra en las curvas); el image gap es el promedio de las epochs 5 a 20. 17/19 está en la sección 8 del notebook; 29/55 sale del ejercicio 4. Recordar la lámina de entrenar y evaluar: todo se mide en held-out y contra un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la sección 8 del notebook: seis captions generados y la tabla contra los baselines. La loss en train sigue bajando mientras la held-out se estanca desde la epoch 9: más epochs no ayudan con 139 muestras. Error de longitud grande (31° en días nuevos). La evaluación completa tendrá tres niveles: métricas léxicas, un LLM como juez y revisión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Algunos cuadros de SUVI de ese día salen como ruido (p. ej. el de las 09:21 UT); se muestra uno limpio de las 09:56. Proyecto complementario con un colaborador externo. SUVI: Darnel et al. (2022), Space Weather 20, e2022SW003044. GOES no lleva magnetógrafo, así que los canales de HMI no tienen equivalente.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las tres ideas y dejar la tarea: los ejercicios 1 a 4 del notebook; las soluciones están en 05_Recursos_adicionales/soluciones_ejercicios.ipynb. Luego, discusión.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Enlaces completos en 04_Lecturas/README.md.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Iniciativa independiente; sin logos institucionales en esta lámina. Notebooks de la serie: github.com/Datos-De-Ciencia/series-numpy-curva-de-luz.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Invitar a escanear el QR con el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y discusión.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3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7400925"/>
            <a:ext cx="9525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pc="-33" strike="noStrike" u="none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Juan Esteban Agudelo Ortiz  ·  OAN, Universidad Nacional de Colombia  ·  29 oct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809750"/>
            <a:ext cx="975449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sz="10500" spc="-367" strike="noStrike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HelioData</a:t>
            </a:r>
          </a:p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sz="10500" spc="-367" strike="noStrike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Academy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847725"/>
            <a:ext cx="952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ESCUELA DE ASTROFÍSICA SOLAR  ·  OCTUBRE 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6300" y="4667250"/>
            <a:ext cx="1428750" cy="57150"/>
            <a:chOff x="0" y="0"/>
            <a:chExt cx="19050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7250" y="5076825"/>
            <a:ext cx="9525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 i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aplicado al estudio del Sol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5895975"/>
            <a:ext cx="76200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i="0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Del dato solar al lenguaje: aplicaciones y un copiloto de física solar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63000" y="1047750"/>
            <a:ext cx="2381250" cy="2381250"/>
            <a:chOff x="0" y="0"/>
            <a:chExt cx="3175000" cy="317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57188" y="357188"/>
              <a:ext cx="2460625" cy="2460625"/>
            </a:xfrm>
            <a:custGeom>
              <a:avLst/>
              <a:gdLst/>
              <a:ahLst/>
              <a:cxnLst/>
              <a:rect r="r" b="b" t="t" l="l"/>
              <a:pathLst>
                <a:path h="2460625" w="2460625">
                  <a:moveTo>
                    <a:pt x="529166" y="1230312"/>
                  </a:moveTo>
                  <a:cubicBezTo>
                    <a:pt x="529166" y="1617544"/>
                    <a:pt x="843080" y="1931458"/>
                    <a:pt x="1230312" y="1931458"/>
                  </a:cubicBezTo>
                  <a:cubicBezTo>
                    <a:pt x="1617544" y="1931458"/>
                    <a:pt x="1931458" y="1617544"/>
                    <a:pt x="1931458" y="1230312"/>
                  </a:cubicBezTo>
                  <a:cubicBezTo>
                    <a:pt x="1931458" y="843080"/>
                    <a:pt x="1617544" y="529166"/>
                    <a:pt x="1230312" y="529166"/>
                  </a:cubicBezTo>
                  <a:cubicBezTo>
                    <a:pt x="843080" y="529166"/>
                    <a:pt x="529166" y="843080"/>
                    <a:pt x="529166" y="1230312"/>
                  </a:cubicBezTo>
                  <a:close/>
                  <a:moveTo>
                    <a:pt x="2397124" y="501385"/>
                  </a:moveTo>
                  <a:cubicBezTo>
                    <a:pt x="2315128" y="362089"/>
                    <a:pt x="2014204" y="373351"/>
                    <a:pt x="1608809" y="530888"/>
                  </a:cubicBezTo>
                  <a:cubicBezTo>
                    <a:pt x="1203414" y="688424"/>
                    <a:pt x="755853" y="968023"/>
                    <a:pt x="436355" y="1263339"/>
                  </a:cubicBezTo>
                  <a:cubicBezTo>
                    <a:pt x="116858" y="1558655"/>
                    <a:pt x="-25473" y="1824302"/>
                    <a:pt x="63500" y="1959239"/>
                  </a:cubicBezTo>
                  <a:cubicBezTo>
                    <a:pt x="145496" y="2098535"/>
                    <a:pt x="446420" y="2087273"/>
                    <a:pt x="851815" y="1929736"/>
                  </a:cubicBezTo>
                  <a:cubicBezTo>
                    <a:pt x="1257210" y="1772200"/>
                    <a:pt x="1704771" y="1492601"/>
                    <a:pt x="2024269" y="1197285"/>
                  </a:cubicBezTo>
                  <a:cubicBezTo>
                    <a:pt x="2343766" y="901969"/>
                    <a:pt x="2486097" y="636323"/>
                    <a:pt x="2397124" y="501385"/>
                  </a:cubicBezTo>
                  <a:close/>
                  <a:moveTo>
                    <a:pt x="1230312" y="211666"/>
                  </a:moveTo>
                  <a:lnTo>
                    <a:pt x="1230312" y="0"/>
                  </a:lnTo>
                  <a:moveTo>
                    <a:pt x="1230312" y="2460624"/>
                  </a:moveTo>
                  <a:lnTo>
                    <a:pt x="1230312" y="2248958"/>
                  </a:lnTo>
                  <a:moveTo>
                    <a:pt x="211666" y="1230312"/>
                  </a:moveTo>
                  <a:lnTo>
                    <a:pt x="0" y="1230312"/>
                  </a:lnTo>
                  <a:moveTo>
                    <a:pt x="2460624" y="1230312"/>
                  </a:moveTo>
                  <a:lnTo>
                    <a:pt x="2248958" y="1230312"/>
                  </a:lnTo>
                  <a:moveTo>
                    <a:pt x="515937" y="515937"/>
                  </a:moveTo>
                  <a:lnTo>
                    <a:pt x="370416" y="370416"/>
                  </a:lnTo>
                  <a:moveTo>
                    <a:pt x="1944687" y="1944687"/>
                  </a:moveTo>
                  <a:lnTo>
                    <a:pt x="2090208" y="2090208"/>
                  </a:lnTo>
                  <a:moveTo>
                    <a:pt x="582083" y="1322916"/>
                  </a:moveTo>
                  <a:lnTo>
                    <a:pt x="873124" y="1322916"/>
                  </a:lnTo>
                  <a:lnTo>
                    <a:pt x="1018645" y="1018645"/>
                  </a:lnTo>
                  <a:lnTo>
                    <a:pt x="1243541" y="1547812"/>
                  </a:lnTo>
                  <a:lnTo>
                    <a:pt x="1441979" y="1150937"/>
                  </a:lnTo>
                  <a:lnTo>
                    <a:pt x="1574270" y="1322916"/>
                  </a:lnTo>
                  <a:lnTo>
                    <a:pt x="1891770" y="1322916"/>
                  </a:lnTo>
                </a:path>
              </a:pathLst>
            </a:custGeom>
            <a:ln w="66675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7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63000" y="1047750"/>
            <a:ext cx="2381250" cy="2381250"/>
            <a:chOff x="0" y="0"/>
            <a:chExt cx="3175000" cy="317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275417" y="410104"/>
              <a:ext cx="423333" cy="423333"/>
            </a:xfrm>
            <a:custGeom>
              <a:avLst/>
              <a:gdLst/>
              <a:ahLst/>
              <a:cxnLst/>
              <a:rect r="r" b="b" t="t" l="l"/>
              <a:pathLst>
                <a:path h="423333" w="423333">
                  <a:moveTo>
                    <a:pt x="211666" y="0"/>
                  </a:moveTo>
                  <a:lnTo>
                    <a:pt x="264583" y="158750"/>
                  </a:lnTo>
                  <a:lnTo>
                    <a:pt x="423333" y="211667"/>
                  </a:lnTo>
                  <a:lnTo>
                    <a:pt x="264583" y="264584"/>
                  </a:lnTo>
                  <a:lnTo>
                    <a:pt x="211666" y="423334"/>
                  </a:lnTo>
                  <a:lnTo>
                    <a:pt x="158750" y="264584"/>
                  </a:lnTo>
                  <a:lnTo>
                    <a:pt x="0" y="211667"/>
                  </a:lnTo>
                  <a:lnTo>
                    <a:pt x="158750" y="15875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7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7250" y="8905875"/>
            <a:ext cx="3143250" cy="1000125"/>
            <a:chOff x="0" y="0"/>
            <a:chExt cx="4191000" cy="133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1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191000">
                  <a:moveTo>
                    <a:pt x="228600" y="0"/>
                  </a:moveTo>
                  <a:lnTo>
                    <a:pt x="3962400" y="0"/>
                  </a:lnTo>
                  <a:cubicBezTo>
                    <a:pt x="4088652" y="0"/>
                    <a:pt x="4191000" y="102348"/>
                    <a:pt x="4191000" y="228600"/>
                  </a:cubicBezTo>
                  <a:lnTo>
                    <a:pt x="4191000" y="1104900"/>
                  </a:lnTo>
                  <a:cubicBezTo>
                    <a:pt x="4191000" y="1231152"/>
                    <a:pt x="4088652" y="1333500"/>
                    <a:pt x="3962400" y="1333500"/>
                  </a:cubicBezTo>
                  <a:lnTo>
                    <a:pt x="228600" y="1333500"/>
                  </a:lnTo>
                  <a:cubicBezTo>
                    <a:pt x="102348" y="1333500"/>
                    <a:pt x="0" y="1231152"/>
                    <a:pt x="0" y="1104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91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3" id="23" descr="Logo Group of Solar Astrophysics GoSA"/>
          <p:cNvSpPr/>
          <p:nvPr/>
        </p:nvSpPr>
        <p:spPr>
          <a:xfrm flipH="false" flipV="false" rot="0">
            <a:off x="1028700" y="9029700"/>
            <a:ext cx="1619250" cy="762000"/>
          </a:xfrm>
          <a:custGeom>
            <a:avLst/>
            <a:gdLst/>
            <a:ahLst/>
            <a:cxnLst/>
            <a:rect r="r" b="b" t="t" l="l"/>
            <a:pathLst>
              <a:path h="762000" w="1619250">
                <a:moveTo>
                  <a:pt x="0" y="0"/>
                </a:moveTo>
                <a:lnTo>
                  <a:pt x="1619250" y="0"/>
                </a:lnTo>
                <a:lnTo>
                  <a:pt x="16192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8" t="0" r="-278" b="0"/>
            </a:stretch>
          </a:blipFill>
        </p:spPr>
      </p:sp>
      <p:sp>
        <p:nvSpPr>
          <p:cNvPr name="Freeform 24" id="24" descr="Logo Observatorio Astronómico Nacional"/>
          <p:cNvSpPr/>
          <p:nvPr/>
        </p:nvSpPr>
        <p:spPr>
          <a:xfrm flipH="false" flipV="false" rot="0">
            <a:off x="2857500" y="8991600"/>
            <a:ext cx="895350" cy="838200"/>
          </a:xfrm>
          <a:custGeom>
            <a:avLst/>
            <a:gdLst/>
            <a:ahLst/>
            <a:cxnLst/>
            <a:rect r="r" b="b" t="t" l="l"/>
            <a:pathLst>
              <a:path h="838200" w="895350">
                <a:moveTo>
                  <a:pt x="0" y="0"/>
                </a:moveTo>
                <a:lnTo>
                  <a:pt x="895350" y="0"/>
                </a:lnTo>
                <a:lnTo>
                  <a:pt x="8953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7" t="0" r="-257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286250" y="8982075"/>
            <a:ext cx="66675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Group of Solar Astrophysics GoSA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Observatorio Astronómico Nacional · UNAL Bogotá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 strike="noStrike" u="none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Conceptos de 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pc="-30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Supervised y unsupervised, deep learning, y cómo se entrena y se evalúa un modelo. (≈ 20 min)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 strike="noStrike" u="none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Aplicaciones en física solar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pc="-30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Segmentation, super-resolution, inversión y forecasting; HelioML y MUISCA. (≈ 25 min)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3367087"/>
            <a:ext cx="54483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 strike="noStrike" u="none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 investigación: un copiloto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pc="-30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Surya, pares imagen–texto, projector y resultados, con dos prácticas. (≈ 60 min + 15 de discusión)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5B8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5B8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5B82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Agenda de la sesión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371725"/>
            <a:ext cx="1905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9850" y="2371725"/>
            <a:ext cx="1905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72950" y="2371725"/>
            <a:ext cx="1905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800" y="194310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RUTA DE LA SESIÓN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85738" y="185738"/>
              <a:ext cx="1279525" cy="1279525"/>
            </a:xfrm>
            <a:custGeom>
              <a:avLst/>
              <a:gdLst/>
              <a:ahLst/>
              <a:cxnLst/>
              <a:rect r="r" b="b" t="t" l="l"/>
              <a:pathLst>
                <a:path h="1279525" w="1279525">
                  <a:moveTo>
                    <a:pt x="275166" y="639762"/>
                  </a:moveTo>
                  <a:cubicBezTo>
                    <a:pt x="275166" y="841123"/>
                    <a:pt x="438401" y="1004358"/>
                    <a:pt x="639762" y="1004358"/>
                  </a:cubicBezTo>
                  <a:cubicBezTo>
                    <a:pt x="841123" y="1004358"/>
                    <a:pt x="1004358" y="841123"/>
                    <a:pt x="1004358" y="639762"/>
                  </a:cubicBezTo>
                  <a:cubicBezTo>
                    <a:pt x="1004358" y="438401"/>
                    <a:pt x="841123" y="275166"/>
                    <a:pt x="639762" y="275166"/>
                  </a:cubicBezTo>
                  <a:cubicBezTo>
                    <a:pt x="438401" y="275166"/>
                    <a:pt x="275166" y="438401"/>
                    <a:pt x="275166" y="639762"/>
                  </a:cubicBezTo>
                  <a:close/>
                  <a:moveTo>
                    <a:pt x="1246505" y="260720"/>
                  </a:moveTo>
                  <a:cubicBezTo>
                    <a:pt x="1203867" y="188286"/>
                    <a:pt x="1047386" y="194142"/>
                    <a:pt x="836581" y="276061"/>
                  </a:cubicBezTo>
                  <a:cubicBezTo>
                    <a:pt x="625775" y="357980"/>
                    <a:pt x="393043" y="503372"/>
                    <a:pt x="226905" y="656936"/>
                  </a:cubicBezTo>
                  <a:cubicBezTo>
                    <a:pt x="60766" y="810500"/>
                    <a:pt x="-13246" y="948637"/>
                    <a:pt x="33020" y="1018804"/>
                  </a:cubicBezTo>
                  <a:cubicBezTo>
                    <a:pt x="75657" y="1091238"/>
                    <a:pt x="232138" y="1085382"/>
                    <a:pt x="442943" y="1003463"/>
                  </a:cubicBezTo>
                  <a:cubicBezTo>
                    <a:pt x="653749" y="921544"/>
                    <a:pt x="886481" y="776152"/>
                    <a:pt x="1052619" y="622588"/>
                  </a:cubicBezTo>
                  <a:cubicBezTo>
                    <a:pt x="1218758" y="469024"/>
                    <a:pt x="1292770" y="330887"/>
                    <a:pt x="1246505" y="260720"/>
                  </a:cubicBezTo>
                  <a:close/>
                  <a:moveTo>
                    <a:pt x="639762" y="110066"/>
                  </a:moveTo>
                  <a:lnTo>
                    <a:pt x="639762" y="0"/>
                  </a:lnTo>
                  <a:moveTo>
                    <a:pt x="639762" y="1279524"/>
                  </a:moveTo>
                  <a:lnTo>
                    <a:pt x="639762" y="1169458"/>
                  </a:lnTo>
                  <a:moveTo>
                    <a:pt x="110066" y="639762"/>
                  </a:moveTo>
                  <a:lnTo>
                    <a:pt x="0" y="639762"/>
                  </a:lnTo>
                  <a:moveTo>
                    <a:pt x="1279524" y="639762"/>
                  </a:moveTo>
                  <a:lnTo>
                    <a:pt x="1169458" y="639762"/>
                  </a:lnTo>
                  <a:moveTo>
                    <a:pt x="268287" y="268287"/>
                  </a:moveTo>
                  <a:lnTo>
                    <a:pt x="192616" y="192616"/>
                  </a:lnTo>
                  <a:moveTo>
                    <a:pt x="1011237" y="1011237"/>
                  </a:moveTo>
                  <a:lnTo>
                    <a:pt x="1086908" y="1086908"/>
                  </a:lnTo>
                  <a:moveTo>
                    <a:pt x="302683" y="687916"/>
                  </a:moveTo>
                  <a:lnTo>
                    <a:pt x="454024" y="687916"/>
                  </a:lnTo>
                  <a:lnTo>
                    <a:pt x="529695" y="529695"/>
                  </a:lnTo>
                  <a:lnTo>
                    <a:pt x="646641" y="804862"/>
                  </a:lnTo>
                  <a:lnTo>
                    <a:pt x="749829" y="598487"/>
                  </a:lnTo>
                  <a:lnTo>
                    <a:pt x="818620" y="687916"/>
                  </a:lnTo>
                  <a:lnTo>
                    <a:pt x="983720" y="687916"/>
                  </a:lnTo>
                </a:path>
              </a:pathLst>
            </a:custGeom>
            <a:ln w="38100" cap="sq">
              <a:solidFill>
                <a:srgbClr val="087F8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83217" y="213254"/>
              <a:ext cx="220133" cy="220133"/>
            </a:xfrm>
            <a:custGeom>
              <a:avLst/>
              <a:gdLst/>
              <a:ahLst/>
              <a:cxnLst/>
              <a:rect r="r" b="b" t="t" l="l"/>
              <a:pathLst>
                <a:path h="220133" w="220133">
                  <a:moveTo>
                    <a:pt x="110066" y="0"/>
                  </a:moveTo>
                  <a:lnTo>
                    <a:pt x="137583" y="82550"/>
                  </a:lnTo>
                  <a:lnTo>
                    <a:pt x="220133" y="110067"/>
                  </a:lnTo>
                  <a:lnTo>
                    <a:pt x="137583" y="137584"/>
                  </a:lnTo>
                  <a:lnTo>
                    <a:pt x="110066" y="220134"/>
                  </a:lnTo>
                  <a:lnTo>
                    <a:pt x="82550" y="137584"/>
                  </a:lnTo>
                  <a:lnTo>
                    <a:pt x="0" y="110067"/>
                  </a:lnTo>
                  <a:lnTo>
                    <a:pt x="82550" y="8255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66750" y="9639300"/>
            <a:ext cx="16954500" cy="19050"/>
            <a:chOff x="0" y="0"/>
            <a:chExt cx="2260600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3D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9" id="29" descr="Logo GoSA"/>
          <p:cNvSpPr/>
          <p:nvPr/>
        </p:nvSpPr>
        <p:spPr>
          <a:xfrm flipH="false" flipV="false" rot="0">
            <a:off x="161925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7" r="0" b="-307"/>
            </a:stretch>
          </a:blipFill>
        </p:spPr>
      </p:sp>
      <p:sp>
        <p:nvSpPr>
          <p:cNvPr name="Freeform 30" id="3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28675" y="4391025"/>
            <a:ext cx="16792575" cy="28575"/>
            <a:chOff x="0" y="0"/>
            <a:chExt cx="22390100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390100" cy="38100"/>
            </a:xfrm>
            <a:custGeom>
              <a:avLst/>
              <a:gdLst/>
              <a:ahLst/>
              <a:cxnLst/>
              <a:rect r="r" b="b" t="t" l="l"/>
              <a:pathLst>
                <a:path h="38100" w="22390100">
                  <a:moveTo>
                    <a:pt x="0" y="0"/>
                  </a:moveTo>
                  <a:lnTo>
                    <a:pt x="22390100" y="0"/>
                  </a:lnTo>
                  <a:lnTo>
                    <a:pt x="223901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7F8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3901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19250" y="52482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  <a:spcBef>
                <a:spcPct val="0"/>
              </a:spcBef>
            </a:pPr>
            <a:r>
              <a:rPr lang="en-US" sz="8000" spc="-240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2628900"/>
            <a:ext cx="6667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b="true" i="0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1752600"/>
            <a:ext cx="476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SECCIÓN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6791325"/>
            <a:ext cx="104775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¿Qué significa que un modelo aprenda de los datos?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00100" y="800100"/>
              <a:ext cx="55118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5511800">
                  <a:moveTo>
                    <a:pt x="1185333" y="2755900"/>
                  </a:moveTo>
                  <a:cubicBezTo>
                    <a:pt x="1185333" y="3623300"/>
                    <a:pt x="1888500" y="4326467"/>
                    <a:pt x="2755900" y="4326467"/>
                  </a:cubicBezTo>
                  <a:cubicBezTo>
                    <a:pt x="3623300" y="4326467"/>
                    <a:pt x="4326467" y="3623300"/>
                    <a:pt x="4326467" y="2755900"/>
                  </a:cubicBezTo>
                  <a:cubicBezTo>
                    <a:pt x="4326467" y="1888500"/>
                    <a:pt x="3623300" y="1185333"/>
                    <a:pt x="2755900" y="1185333"/>
                  </a:cubicBezTo>
                  <a:cubicBezTo>
                    <a:pt x="1888500" y="1185333"/>
                    <a:pt x="1185333" y="1888500"/>
                    <a:pt x="1185333" y="2755900"/>
                  </a:cubicBezTo>
                  <a:close/>
                  <a:moveTo>
                    <a:pt x="5369560" y="1123103"/>
                  </a:moveTo>
                  <a:cubicBezTo>
                    <a:pt x="5185888" y="811081"/>
                    <a:pt x="4511819" y="836308"/>
                    <a:pt x="3603734" y="1189190"/>
                  </a:cubicBezTo>
                  <a:cubicBezTo>
                    <a:pt x="2695649" y="1542071"/>
                    <a:pt x="1693112" y="2168373"/>
                    <a:pt x="977437" y="2829881"/>
                  </a:cubicBezTo>
                  <a:cubicBezTo>
                    <a:pt x="261763" y="3491389"/>
                    <a:pt x="-57058" y="4086437"/>
                    <a:pt x="142240" y="4388697"/>
                  </a:cubicBezTo>
                  <a:cubicBezTo>
                    <a:pt x="325911" y="4700719"/>
                    <a:pt x="999981" y="4675492"/>
                    <a:pt x="1908066" y="4322611"/>
                  </a:cubicBezTo>
                  <a:cubicBezTo>
                    <a:pt x="2816151" y="3969729"/>
                    <a:pt x="3818688" y="3343427"/>
                    <a:pt x="4534363" y="2681919"/>
                  </a:cubicBezTo>
                  <a:cubicBezTo>
                    <a:pt x="5250037" y="2020411"/>
                    <a:pt x="5568857" y="1425364"/>
                    <a:pt x="5369560" y="1123103"/>
                  </a:cubicBezTo>
                  <a:close/>
                  <a:moveTo>
                    <a:pt x="2755900" y="474133"/>
                  </a:moveTo>
                  <a:lnTo>
                    <a:pt x="2755900" y="0"/>
                  </a:lnTo>
                  <a:moveTo>
                    <a:pt x="2755900" y="5511800"/>
                  </a:moveTo>
                  <a:lnTo>
                    <a:pt x="2755900" y="5037667"/>
                  </a:lnTo>
                  <a:moveTo>
                    <a:pt x="474133" y="2755900"/>
                  </a:moveTo>
                  <a:lnTo>
                    <a:pt x="0" y="2755900"/>
                  </a:lnTo>
                  <a:moveTo>
                    <a:pt x="5511800" y="2755900"/>
                  </a:moveTo>
                  <a:lnTo>
                    <a:pt x="5037667" y="2755900"/>
                  </a:lnTo>
                  <a:moveTo>
                    <a:pt x="1155700" y="1155700"/>
                  </a:moveTo>
                  <a:lnTo>
                    <a:pt x="829733" y="829733"/>
                  </a:lnTo>
                  <a:moveTo>
                    <a:pt x="4356100" y="4356100"/>
                  </a:moveTo>
                  <a:lnTo>
                    <a:pt x="4682067" y="4682067"/>
                  </a:lnTo>
                  <a:moveTo>
                    <a:pt x="1303867" y="2963333"/>
                  </a:moveTo>
                  <a:lnTo>
                    <a:pt x="1955800" y="2963333"/>
                  </a:lnTo>
                  <a:lnTo>
                    <a:pt x="2281767" y="2281767"/>
                  </a:lnTo>
                  <a:lnTo>
                    <a:pt x="2785533" y="3467100"/>
                  </a:lnTo>
                  <a:lnTo>
                    <a:pt x="3230033" y="2578100"/>
                  </a:lnTo>
                  <a:lnTo>
                    <a:pt x="3526367" y="2963333"/>
                  </a:lnTo>
                  <a:lnTo>
                    <a:pt x="4237567" y="2963333"/>
                  </a:lnTo>
                </a:path>
              </a:pathLst>
            </a:custGeom>
            <a:ln w="85725" cap="sq">
              <a:solidFill>
                <a:srgbClr val="071D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96933" y="918633"/>
              <a:ext cx="948267" cy="948267"/>
            </a:xfrm>
            <a:custGeom>
              <a:avLst/>
              <a:gdLst/>
              <a:ahLst/>
              <a:cxnLst/>
              <a:rect r="r" b="b" t="t" l="l"/>
              <a:pathLst>
                <a:path h="948267" w="948267">
                  <a:moveTo>
                    <a:pt x="474134" y="0"/>
                  </a:moveTo>
                  <a:lnTo>
                    <a:pt x="592667" y="355600"/>
                  </a:lnTo>
                  <a:lnTo>
                    <a:pt x="948267" y="474134"/>
                  </a:lnTo>
                  <a:lnTo>
                    <a:pt x="592667" y="592667"/>
                  </a:lnTo>
                  <a:lnTo>
                    <a:pt x="474134" y="948267"/>
                  </a:lnTo>
                  <a:lnTo>
                    <a:pt x="355600" y="592667"/>
                  </a:lnTo>
                  <a:lnTo>
                    <a:pt x="0" y="474134"/>
                  </a:lnTo>
                  <a:lnTo>
                    <a:pt x="355600" y="35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17" id="17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18" id="18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7F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  <a:spcBef>
                  <a:spcPct val="0"/>
                </a:spcBef>
              </a:pPr>
              <a:r>
                <a:rPr lang="en-US" sz="8000" spc="-240" strike="noStrike" u="none" i="0">
                  <a:solidFill>
                    <a:srgbClr val="F5B82E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Dos formas de aprender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Supervised vs. unsupervised learning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1844675"/>
            <a:chOff x="0" y="0"/>
            <a:chExt cx="7670800" cy="2459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Supervised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Aprende de pares input–output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Regresión: flujo máximo de rayos X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Clasificación: ¿flare M o mayor?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1844675"/>
            <a:chOff x="0" y="0"/>
            <a:chExt cx="7264400" cy="2459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Unsupervised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Solo ve observaciones, sin labels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Busca estructura: clustering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Ej.: perfiles de Stokes parecidos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5143500"/>
            <a:ext cx="28575" cy="2381250"/>
            <a:chOff x="0" y="0"/>
            <a:chExt cx="381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00225" y="8001000"/>
            <a:ext cx="15119775" cy="952500"/>
            <a:chOff x="0" y="0"/>
            <a:chExt cx="172593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2593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7259300">
                  <a:moveTo>
                    <a:pt x="203200" y="0"/>
                  </a:moveTo>
                  <a:lnTo>
                    <a:pt x="17056100" y="0"/>
                  </a:lnTo>
                  <a:cubicBezTo>
                    <a:pt x="17168324" y="0"/>
                    <a:pt x="17259300" y="90976"/>
                    <a:pt x="17259300" y="203200"/>
                  </a:cubicBezTo>
                  <a:lnTo>
                    <a:pt x="17259300" y="1066800"/>
                  </a:lnTo>
                  <a:cubicBezTo>
                    <a:pt x="17259300" y="1179024"/>
                    <a:pt x="17168324" y="1270000"/>
                    <a:pt x="170561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2593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43125" y="8229600"/>
            <a:ext cx="14433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CONCLUSIÓN   Con labels confiables, supervised; para explorar datos sin labels, unsupervised.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85750" y="285750"/>
              <a:ext cx="1968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968500">
                  <a:moveTo>
                    <a:pt x="423333" y="984250"/>
                  </a:moveTo>
                  <a:cubicBezTo>
                    <a:pt x="423333" y="1294036"/>
                    <a:pt x="674464" y="1545167"/>
                    <a:pt x="984250" y="1545167"/>
                  </a:cubicBezTo>
                  <a:cubicBezTo>
                    <a:pt x="1294036" y="1545167"/>
                    <a:pt x="1545167" y="1294036"/>
                    <a:pt x="1545167" y="984250"/>
                  </a:cubicBezTo>
                  <a:cubicBezTo>
                    <a:pt x="1545167" y="674464"/>
                    <a:pt x="1294036" y="423333"/>
                    <a:pt x="984250" y="423333"/>
                  </a:cubicBezTo>
                  <a:cubicBezTo>
                    <a:pt x="674464" y="423333"/>
                    <a:pt x="423333" y="674464"/>
                    <a:pt x="423333" y="984250"/>
                  </a:cubicBezTo>
                  <a:close/>
                  <a:moveTo>
                    <a:pt x="1917700" y="401108"/>
                  </a:moveTo>
                  <a:cubicBezTo>
                    <a:pt x="1852103" y="289672"/>
                    <a:pt x="1611364" y="298681"/>
                    <a:pt x="1287048" y="424711"/>
                  </a:cubicBezTo>
                  <a:cubicBezTo>
                    <a:pt x="962732" y="550740"/>
                    <a:pt x="604683" y="774419"/>
                    <a:pt x="349085" y="1010672"/>
                  </a:cubicBezTo>
                  <a:cubicBezTo>
                    <a:pt x="93487" y="1246925"/>
                    <a:pt x="-20378" y="1459442"/>
                    <a:pt x="50800" y="1567392"/>
                  </a:cubicBezTo>
                  <a:cubicBezTo>
                    <a:pt x="116397" y="1678828"/>
                    <a:pt x="357136" y="1669819"/>
                    <a:pt x="681452" y="1543789"/>
                  </a:cubicBezTo>
                  <a:cubicBezTo>
                    <a:pt x="1005768" y="1417760"/>
                    <a:pt x="1363817" y="1194081"/>
                    <a:pt x="1619415" y="957828"/>
                  </a:cubicBezTo>
                  <a:cubicBezTo>
                    <a:pt x="1875013" y="721575"/>
                    <a:pt x="1988878" y="509058"/>
                    <a:pt x="1917700" y="401108"/>
                  </a:cubicBezTo>
                  <a:close/>
                  <a:moveTo>
                    <a:pt x="984250" y="169333"/>
                  </a:moveTo>
                  <a:lnTo>
                    <a:pt x="984250" y="0"/>
                  </a:lnTo>
                  <a:moveTo>
                    <a:pt x="984250" y="1968500"/>
                  </a:moveTo>
                  <a:lnTo>
                    <a:pt x="984250" y="1799167"/>
                  </a:lnTo>
                  <a:moveTo>
                    <a:pt x="169333" y="984250"/>
                  </a:moveTo>
                  <a:lnTo>
                    <a:pt x="0" y="984250"/>
                  </a:lnTo>
                  <a:moveTo>
                    <a:pt x="1968500" y="984250"/>
                  </a:moveTo>
                  <a:lnTo>
                    <a:pt x="1799167" y="984250"/>
                  </a:lnTo>
                  <a:moveTo>
                    <a:pt x="412750" y="412750"/>
                  </a:moveTo>
                  <a:lnTo>
                    <a:pt x="296333" y="296333"/>
                  </a:lnTo>
                  <a:moveTo>
                    <a:pt x="1555750" y="1555750"/>
                  </a:moveTo>
                  <a:lnTo>
                    <a:pt x="1672167" y="1672167"/>
                  </a:lnTo>
                  <a:moveTo>
                    <a:pt x="465667" y="1058333"/>
                  </a:moveTo>
                  <a:lnTo>
                    <a:pt x="698500" y="1058333"/>
                  </a:lnTo>
                  <a:lnTo>
                    <a:pt x="814917" y="814917"/>
                  </a:lnTo>
                  <a:lnTo>
                    <a:pt x="994833" y="1238250"/>
                  </a:lnTo>
                  <a:lnTo>
                    <a:pt x="1153583" y="920750"/>
                  </a:lnTo>
                  <a:lnTo>
                    <a:pt x="1259417" y="1058333"/>
                  </a:lnTo>
                  <a:lnTo>
                    <a:pt x="1513417" y="1058333"/>
                  </a:lnTo>
                </a:path>
              </a:pathLst>
            </a:custGeom>
            <a:ln w="47625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820333" y="328083"/>
              <a:ext cx="338667" cy="338667"/>
            </a:xfrm>
            <a:custGeom>
              <a:avLst/>
              <a:gdLst/>
              <a:ahLst/>
              <a:cxnLst/>
              <a:rect r="r" b="b" t="t" l="l"/>
              <a:pathLst>
                <a:path h="338667" w="338667">
                  <a:moveTo>
                    <a:pt x="169334" y="0"/>
                  </a:moveTo>
                  <a:lnTo>
                    <a:pt x="211667" y="127000"/>
                  </a:lnTo>
                  <a:lnTo>
                    <a:pt x="338667" y="169334"/>
                  </a:lnTo>
                  <a:lnTo>
                    <a:pt x="211667" y="211667"/>
                  </a:lnTo>
                  <a:lnTo>
                    <a:pt x="169334" y="338667"/>
                  </a:lnTo>
                  <a:lnTo>
                    <a:pt x="127000" y="211667"/>
                  </a:lnTo>
                  <a:lnTo>
                    <a:pt x="0" y="169334"/>
                  </a:lnTo>
                  <a:lnTo>
                    <a:pt x="127000" y="12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9" id="2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30" id="3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sp>
        <p:nvSpPr>
          <p:cNvPr id="31" name="TextBox 30"/>
          <p:cNvSpPr txBox="1"/>
          <p:nvPr/>
        </p:nvSpPr>
        <p:spPr>
          <a:xfrm>
            <a:off x="684000" y="9108000"/>
            <a:ext cx="144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CEEF0"/>
                </a:solidFill>
                <a:latin typeface="Arimo"/>
              </a:rPr>
              <a:t>Referencias: Asensio Ramos, Cheung, Chifu y Gafeira (2023), Living Rev. Sol. Phys. 20, 4, sección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CNN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leen imágenes con filtros locales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RNN y LSTM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leen secuencias en el tiempo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Transformers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atención entre todos los elementos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Surya es un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transformer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espaciotemporal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Deep learning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CONCEPTO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 arquitectura se elige según la forma del dato: imagen, secuencia o conjunto de tokens.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arquitectura de Surya, Roy et al. (2025)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clase_surya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884" y="432000"/>
            <a:ext cx="6458232" cy="8568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loss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mide qué tan lejos está la predicción del label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Entrenar es bajar la loss con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gradient descent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; backpropagation dice cómo mover cada peso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evalúa en datos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held-out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que el modelo nunca vio al entrenar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Siempre contra un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baseline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tonto, p. ej. «nunca hay flare»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Entrenar y evaluar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CONCEPTO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 modelo es bueno solo si supera a un baseline en datos que no vio.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elaboración propia (esquema)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entrenar_evalu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211" y="432000"/>
            <a:ext cx="7891578" cy="8568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19250" y="52482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0"/>
              </a:lnSpc>
              <a:spcBef>
                <a:spcPct val="0"/>
              </a:spcBef>
            </a:pPr>
            <a:r>
              <a:rPr lang="en-US" sz="6400" spc="-240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Aplicaciones en física solar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2628900"/>
            <a:ext cx="6667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b="true" i="0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1752600"/>
            <a:ext cx="476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SECCIÓN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6791325"/>
            <a:ext cx="104775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¿Qué se ha hecho ya con ML en datos solares?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00100" y="800100"/>
              <a:ext cx="55118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5511800">
                  <a:moveTo>
                    <a:pt x="1185333" y="2755900"/>
                  </a:moveTo>
                  <a:cubicBezTo>
                    <a:pt x="1185333" y="3623300"/>
                    <a:pt x="1888500" y="4326467"/>
                    <a:pt x="2755900" y="4326467"/>
                  </a:cubicBezTo>
                  <a:cubicBezTo>
                    <a:pt x="3623300" y="4326467"/>
                    <a:pt x="4326467" y="3623300"/>
                    <a:pt x="4326467" y="2755900"/>
                  </a:cubicBezTo>
                  <a:cubicBezTo>
                    <a:pt x="4326467" y="1888500"/>
                    <a:pt x="3623300" y="1185333"/>
                    <a:pt x="2755900" y="1185333"/>
                  </a:cubicBezTo>
                  <a:cubicBezTo>
                    <a:pt x="1888500" y="1185333"/>
                    <a:pt x="1185333" y="1888500"/>
                    <a:pt x="1185333" y="2755900"/>
                  </a:cubicBezTo>
                  <a:close/>
                  <a:moveTo>
                    <a:pt x="5369560" y="1123103"/>
                  </a:moveTo>
                  <a:cubicBezTo>
                    <a:pt x="5185888" y="811081"/>
                    <a:pt x="4511819" y="836308"/>
                    <a:pt x="3603734" y="1189190"/>
                  </a:cubicBezTo>
                  <a:cubicBezTo>
                    <a:pt x="2695649" y="1542071"/>
                    <a:pt x="1693112" y="2168373"/>
                    <a:pt x="977437" y="2829881"/>
                  </a:cubicBezTo>
                  <a:cubicBezTo>
                    <a:pt x="261763" y="3491389"/>
                    <a:pt x="-57058" y="4086437"/>
                    <a:pt x="142240" y="4388697"/>
                  </a:cubicBezTo>
                  <a:cubicBezTo>
                    <a:pt x="325911" y="4700719"/>
                    <a:pt x="999981" y="4675492"/>
                    <a:pt x="1908066" y="4322611"/>
                  </a:cubicBezTo>
                  <a:cubicBezTo>
                    <a:pt x="2816151" y="3969729"/>
                    <a:pt x="3818688" y="3343427"/>
                    <a:pt x="4534363" y="2681919"/>
                  </a:cubicBezTo>
                  <a:cubicBezTo>
                    <a:pt x="5250037" y="2020411"/>
                    <a:pt x="5568857" y="1425364"/>
                    <a:pt x="5369560" y="1123103"/>
                  </a:cubicBezTo>
                  <a:close/>
                  <a:moveTo>
                    <a:pt x="2755900" y="474133"/>
                  </a:moveTo>
                  <a:lnTo>
                    <a:pt x="2755900" y="0"/>
                  </a:lnTo>
                  <a:moveTo>
                    <a:pt x="2755900" y="5511800"/>
                  </a:moveTo>
                  <a:lnTo>
                    <a:pt x="2755900" y="5037667"/>
                  </a:lnTo>
                  <a:moveTo>
                    <a:pt x="474133" y="2755900"/>
                  </a:moveTo>
                  <a:lnTo>
                    <a:pt x="0" y="2755900"/>
                  </a:lnTo>
                  <a:moveTo>
                    <a:pt x="5511800" y="2755900"/>
                  </a:moveTo>
                  <a:lnTo>
                    <a:pt x="5037667" y="2755900"/>
                  </a:lnTo>
                  <a:moveTo>
                    <a:pt x="1155700" y="1155700"/>
                  </a:moveTo>
                  <a:lnTo>
                    <a:pt x="829733" y="829733"/>
                  </a:lnTo>
                  <a:moveTo>
                    <a:pt x="4356100" y="4356100"/>
                  </a:moveTo>
                  <a:lnTo>
                    <a:pt x="4682067" y="4682067"/>
                  </a:lnTo>
                  <a:moveTo>
                    <a:pt x="1303867" y="2963333"/>
                  </a:moveTo>
                  <a:lnTo>
                    <a:pt x="1955800" y="2963333"/>
                  </a:lnTo>
                  <a:lnTo>
                    <a:pt x="2281767" y="2281767"/>
                  </a:lnTo>
                  <a:lnTo>
                    <a:pt x="2785533" y="3467100"/>
                  </a:lnTo>
                  <a:lnTo>
                    <a:pt x="3230033" y="2578100"/>
                  </a:lnTo>
                  <a:lnTo>
                    <a:pt x="3526367" y="2963333"/>
                  </a:lnTo>
                  <a:lnTo>
                    <a:pt x="4237567" y="2963333"/>
                  </a:lnTo>
                </a:path>
              </a:pathLst>
            </a:custGeom>
            <a:ln w="85725" cap="sq">
              <a:solidFill>
                <a:srgbClr val="071D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96933" y="918633"/>
              <a:ext cx="948267" cy="948267"/>
            </a:xfrm>
            <a:custGeom>
              <a:avLst/>
              <a:gdLst/>
              <a:ahLst/>
              <a:cxnLst/>
              <a:rect r="r" b="b" t="t" l="l"/>
              <a:pathLst>
                <a:path h="948267" w="948267">
                  <a:moveTo>
                    <a:pt x="474134" y="0"/>
                  </a:moveTo>
                  <a:lnTo>
                    <a:pt x="592667" y="355600"/>
                  </a:lnTo>
                  <a:lnTo>
                    <a:pt x="948267" y="474134"/>
                  </a:lnTo>
                  <a:lnTo>
                    <a:pt x="592667" y="592667"/>
                  </a:lnTo>
                  <a:lnTo>
                    <a:pt x="474134" y="948267"/>
                  </a:lnTo>
                  <a:lnTo>
                    <a:pt x="355600" y="592667"/>
                  </a:lnTo>
                  <a:lnTo>
                    <a:pt x="0" y="474134"/>
                  </a:lnTo>
                  <a:lnTo>
                    <a:pt x="355600" y="35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17" id="17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18" id="18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7F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sz="5000" spc="-240" strike="noStrike" u="none" i="0">
                  <a:solidFill>
                    <a:srgbClr val="F5B82E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Aplicaciones del ML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 que se ha hecho con ML en datos solares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4104000"/>
            <a:ext cx="5753100" cy="1844675"/>
            <a:chOff x="0" y="0"/>
            <a:chExt cx="7670800" cy="2459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Entender el Sol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Segmentation: agujeros coronales, manchas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Classification de imágenes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Inversión de Stokes, y su incertidumbre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Reconstrucción 3D de la corona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Deconvolution de imágenes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Estimación de velocidades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104000"/>
            <a:ext cx="5448300" cy="1844675"/>
            <a:chOff x="0" y="0"/>
            <a:chExt cx="7264400" cy="2459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Predecir y mejorar datos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Forecasting de flares y de CME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Heliosfera y space weather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Predicción del ciclo solar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Super-resolution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Denoising y desaturación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Far-side imaging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Generación de datos sintéticos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4104000"/>
            <a:ext cx="28575" cy="3600000"/>
            <a:chOff x="0" y="0"/>
            <a:chExt cx="381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00225" y="8001000"/>
            <a:ext cx="15119775" cy="952500"/>
            <a:chOff x="0" y="0"/>
            <a:chExt cx="172593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2593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7259300">
                  <a:moveTo>
                    <a:pt x="203200" y="0"/>
                  </a:moveTo>
                  <a:lnTo>
                    <a:pt x="17056100" y="0"/>
                  </a:lnTo>
                  <a:cubicBezTo>
                    <a:pt x="17168324" y="0"/>
                    <a:pt x="17259300" y="90976"/>
                    <a:pt x="17259300" y="203200"/>
                  </a:cubicBezTo>
                  <a:lnTo>
                    <a:pt x="17259300" y="1066800"/>
                  </a:lnTo>
                  <a:cubicBezTo>
                    <a:pt x="17259300" y="1179024"/>
                    <a:pt x="17168324" y="1270000"/>
                    <a:pt x="170561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2593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43125" y="8229600"/>
            <a:ext cx="14433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CONCLUSIÓN   Vemos cuatro casos: agujeros coronales, flares y CME, HelioML y MUISCA.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85750" y="285750"/>
              <a:ext cx="1968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968500">
                  <a:moveTo>
                    <a:pt x="423333" y="984250"/>
                  </a:moveTo>
                  <a:cubicBezTo>
                    <a:pt x="423333" y="1294036"/>
                    <a:pt x="674464" y="1545167"/>
                    <a:pt x="984250" y="1545167"/>
                  </a:cubicBezTo>
                  <a:cubicBezTo>
                    <a:pt x="1294036" y="1545167"/>
                    <a:pt x="1545167" y="1294036"/>
                    <a:pt x="1545167" y="984250"/>
                  </a:cubicBezTo>
                  <a:cubicBezTo>
                    <a:pt x="1545167" y="674464"/>
                    <a:pt x="1294036" y="423333"/>
                    <a:pt x="984250" y="423333"/>
                  </a:cubicBezTo>
                  <a:cubicBezTo>
                    <a:pt x="674464" y="423333"/>
                    <a:pt x="423333" y="674464"/>
                    <a:pt x="423333" y="984250"/>
                  </a:cubicBezTo>
                  <a:close/>
                  <a:moveTo>
                    <a:pt x="1917700" y="401108"/>
                  </a:moveTo>
                  <a:cubicBezTo>
                    <a:pt x="1852103" y="289672"/>
                    <a:pt x="1611364" y="298681"/>
                    <a:pt x="1287048" y="424711"/>
                  </a:cubicBezTo>
                  <a:cubicBezTo>
                    <a:pt x="962732" y="550740"/>
                    <a:pt x="604683" y="774419"/>
                    <a:pt x="349085" y="1010672"/>
                  </a:cubicBezTo>
                  <a:cubicBezTo>
                    <a:pt x="93487" y="1246925"/>
                    <a:pt x="-20378" y="1459442"/>
                    <a:pt x="50800" y="1567392"/>
                  </a:cubicBezTo>
                  <a:cubicBezTo>
                    <a:pt x="116397" y="1678828"/>
                    <a:pt x="357136" y="1669819"/>
                    <a:pt x="681452" y="1543789"/>
                  </a:cubicBezTo>
                  <a:cubicBezTo>
                    <a:pt x="1005768" y="1417760"/>
                    <a:pt x="1363817" y="1194081"/>
                    <a:pt x="1619415" y="957828"/>
                  </a:cubicBezTo>
                  <a:cubicBezTo>
                    <a:pt x="1875013" y="721575"/>
                    <a:pt x="1988878" y="509058"/>
                    <a:pt x="1917700" y="401108"/>
                  </a:cubicBezTo>
                  <a:close/>
                  <a:moveTo>
                    <a:pt x="984250" y="169333"/>
                  </a:moveTo>
                  <a:lnTo>
                    <a:pt x="984250" y="0"/>
                  </a:lnTo>
                  <a:moveTo>
                    <a:pt x="984250" y="1968500"/>
                  </a:moveTo>
                  <a:lnTo>
                    <a:pt x="984250" y="1799167"/>
                  </a:lnTo>
                  <a:moveTo>
                    <a:pt x="169333" y="984250"/>
                  </a:moveTo>
                  <a:lnTo>
                    <a:pt x="0" y="984250"/>
                  </a:lnTo>
                  <a:moveTo>
                    <a:pt x="1968500" y="984250"/>
                  </a:moveTo>
                  <a:lnTo>
                    <a:pt x="1799167" y="984250"/>
                  </a:lnTo>
                  <a:moveTo>
                    <a:pt x="412750" y="412750"/>
                  </a:moveTo>
                  <a:lnTo>
                    <a:pt x="296333" y="296333"/>
                  </a:lnTo>
                  <a:moveTo>
                    <a:pt x="1555750" y="1555750"/>
                  </a:moveTo>
                  <a:lnTo>
                    <a:pt x="1672167" y="1672167"/>
                  </a:lnTo>
                  <a:moveTo>
                    <a:pt x="465667" y="1058333"/>
                  </a:moveTo>
                  <a:lnTo>
                    <a:pt x="698500" y="1058333"/>
                  </a:lnTo>
                  <a:lnTo>
                    <a:pt x="814917" y="814917"/>
                  </a:lnTo>
                  <a:lnTo>
                    <a:pt x="994833" y="1238250"/>
                  </a:lnTo>
                  <a:lnTo>
                    <a:pt x="1153583" y="920750"/>
                  </a:lnTo>
                  <a:lnTo>
                    <a:pt x="1259417" y="1058333"/>
                  </a:lnTo>
                  <a:lnTo>
                    <a:pt x="1513417" y="1058333"/>
                  </a:lnTo>
                </a:path>
              </a:pathLst>
            </a:custGeom>
            <a:ln w="47625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820333" y="328083"/>
              <a:ext cx="338667" cy="338667"/>
            </a:xfrm>
            <a:custGeom>
              <a:avLst/>
              <a:gdLst/>
              <a:ahLst/>
              <a:cxnLst/>
              <a:rect r="r" b="b" t="t" l="l"/>
              <a:pathLst>
                <a:path h="338667" w="338667">
                  <a:moveTo>
                    <a:pt x="169334" y="0"/>
                  </a:moveTo>
                  <a:lnTo>
                    <a:pt x="211667" y="127000"/>
                  </a:lnTo>
                  <a:lnTo>
                    <a:pt x="338667" y="169334"/>
                  </a:lnTo>
                  <a:lnTo>
                    <a:pt x="211667" y="211667"/>
                  </a:lnTo>
                  <a:lnTo>
                    <a:pt x="169334" y="338667"/>
                  </a:lnTo>
                  <a:lnTo>
                    <a:pt x="127000" y="211667"/>
                  </a:lnTo>
                  <a:lnTo>
                    <a:pt x="0" y="169334"/>
                  </a:lnTo>
                  <a:lnTo>
                    <a:pt x="127000" y="12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9" id="2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30" id="3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sp>
        <p:nvSpPr>
          <p:cNvPr id="31" name="TextBox 30"/>
          <p:cNvSpPr txBox="1"/>
          <p:nvPr/>
        </p:nvSpPr>
        <p:spPr>
          <a:xfrm>
            <a:off x="684000" y="9108000"/>
            <a:ext cx="144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CEEF0"/>
                </a:solidFill>
                <a:latin typeface="Arimo"/>
              </a:rPr>
              <a:t>Referencias: Asensio Ramos, Cheung, Chifu y Gafeira (2023), Living Rev. Sol. Phys. 20, 4, sección 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Zonas oscuras en EUV y fuente principal del </a:t>
            </a:r>
            <a:r>
              <a:rPr lang="en-US" sz="1943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viento solar</a:t>
            </a:r>
          </a:p>
          <a:p>
            <a:pPr algn="l" marL="539748" indent="-269874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U-Net</a:t>
            </a: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sobre AIA 193 Å: dice si cada píxel es agujero o no; </a:t>
            </a:r>
            <a:r>
              <a:rPr lang="en-US" sz="1943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2385 mapas</a:t>
            </a: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entrenamiento (Illarionov y Tlatov, 2018)</a:t>
            </a:r>
          </a:p>
          <a:p>
            <a:pPr algn="l" marL="539748" indent="-269874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entrena con la </a:t>
            </a:r>
            <a:r>
              <a:rPr lang="en-US" sz="1943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binary cross-entropy</a:t>
            </a: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píxel a píxel</a:t>
            </a:r>
          </a:p>
          <a:p>
            <a:pPr algn="l" marL="539748" indent="-269874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CHRONNOS</a:t>
            </a:r>
            <a:r>
              <a:rPr lang="en-US" sz="1943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7 canales EUV de AIA + magnetograma de HMI (Jarolim et al., 2021)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4"/>
              </a:lnSpc>
              <a:spcBef>
                <a:spcPct val="0"/>
              </a:spcBef>
            </a:pPr>
            <a:r>
              <a:rPr lang="en-US" sz="564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Detectar agujeros coronales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APLICACIÓN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Nueve métodos dibujan bordes distintos para el mismo agujero: falta estimar la incertidumbre.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un agujero coronal en AIA 193 Å segmentado por nueve métodos. Asensio Ramos et al. (2023), fig. 8, de Reiss et al. (2021), ApJ 913, 28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rev_fig8_agujer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740087"/>
            <a:ext cx="8424000" cy="7951826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Referencias: Illarionov y Tlatov (2018), MNRAS 481, 5014 · Jarolim et al. (2021), A&amp;A 652, A13 · Reiss et al. (2021), ApJ 913, 28 · Asensio Ramos, Cheung, Chifu y Gafeira (2023), Living Rev. Sol. Phys. 20, 4, sección 7.1.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Flares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clasificación (¿M o mayor en horas o días?) o regresión del flujo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CNN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sobre magnetogramas de MDI y HMI (Huang et al., 2018)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LSTM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 25 parámetros SHARP y la historia de flares (Liu et al., 2019)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CME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SVM de Bobra e Ilonidis (2016), capítulo 1 de HelioML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Predecir el clima espacial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APLICACIÓN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Los flares grandes son raros: hay que comparar contra baselines.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AR 11944 durante el flare X1.2 del 7 ene 2014 (SDO, formato Surya)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cana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2320892"/>
            <a:ext cx="8424000" cy="4790215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Referencias: Huang et al. (2018), ApJ 856, 7 · Liu et al. (2019), ApJ 877, 121 · Bobra e Ilonidis (2016), ApJ 821, 127 · Asensio Ramos, Cheung, Chifu y Gafeira (2023), Living Rev. Sol. Phys. 20, 4, sección 7.3.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1354201"/>
            <a:ext cx="688657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247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9 notebooks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4326001"/>
            <a:ext cx="6886575" cy="1898650"/>
            <a:chOff x="0" y="0"/>
            <a:chExt cx="9182100" cy="25315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HelioML: un libro de notebooks de Jupyter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Reproducen resultados publicados: CME con SVM, Enhance, DeepEM (≈ </a:t>
              </a: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  <a:r>
                <a:rPr lang="en-US" sz="2499" spc="-37" strike="noStrike" u="none" i="0" baseline="3000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soluciones DEM por segundo), FarNet, viento solar sin labels (UMAP, HDBSCAN) y más.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RECURSO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5800" y="3468751"/>
            <a:ext cx="1428750" cy="57150"/>
            <a:chOff x="0" y="0"/>
            <a:chExt cx="1905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85153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Fisher score de cada parámetro SHARP para predecir CME. HelioML, cap. 1 (Bobra y Mason), según Bobra e Ilonidis (2016)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1" id="21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2" id="22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3" name="Picture 22" descr="helioml_fis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2575216"/>
            <a:ext cx="8424000" cy="4281567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pic>
        <p:nvPicPr>
          <p:cNvPr id="24" name="Picture 23" descr="qr_heliom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00" y="7452000"/>
            <a:ext cx="1512000" cy="151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12000" y="7776000"/>
            <a:ext cx="50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71D30"/>
                </a:solidFill>
                <a:latin typeface="Arimo"/>
              </a:rPr>
              <a:t>Explora HelioML</a:t>
            </a:r>
          </a:p>
          <a:p>
            <a:r>
              <a:rPr sz="1600" b="0">
                <a:solidFill>
                  <a:srgbClr val="087F8C"/>
                </a:solidFill>
                <a:latin typeface="Arimo"/>
              </a:rPr>
              <a:t>helioml.org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Referencias: Bobra y Mason (2018), HelioML, doi:10.5281/zenodo.1412824 · Bobra e Ilonidis (2016), ApJ 821, 127 · Díaz Baso y Asensio Ramos (2018), A&amp;A 614, A5 · Felipe y Asensio Ramos (2019), A&amp;A 632, A82.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Invierte 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Stokes </a:t>
            </a:r>
            <a:r>
              <a:rPr lang="en-US" sz="2100" spc="-37" strike="noStrike" u="none" b="1" i="1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I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 y </a:t>
            </a:r>
            <a:r>
              <a:rPr lang="en-US" sz="2100" spc="-37" strike="noStrike" u="none" b="1" i="1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V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 </a:t>
            </a:r>
            <a:r>
              <a:rPr lang="en-US" sz="2100" spc="-37" strike="noStrike" u="none" i="1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100" spc="-37" strike="noStrike" u="none" i="1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100" spc="-37" strike="noStrike" u="none" i="0" baseline="-2500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 </a:t>
            </a:r>
            <a:r>
              <a:rPr lang="en-US" sz="2100" spc="-37" strike="noStrike" u="none" i="1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100" spc="-37" strike="noStrike" u="none" i="0" baseline="-2500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 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45 nodos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profundidad óptica</a:t>
            </a:r>
          </a:p>
          <a:p>
            <a:pPr algn="l" marL="539748" indent="-269874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multiescala entrenada con perfiles de 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NICOLE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sobre simulaciones 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MURaM</a:t>
            </a:r>
          </a:p>
          <a:p>
            <a:pPr algn="l" marL="539748" indent="-269874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Loss con términos físicos: </a:t>
            </a:r>
            <a:r>
              <a:rPr lang="en-US" sz="21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WFA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Doppler y cuerpo negro</a:t>
            </a:r>
          </a:p>
          <a:p>
            <a:pPr algn="l" marL="539748" indent="-269874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480 × 480 px en una GPU, 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  <a:r>
              <a:rPr lang="en-US" sz="2100" spc="-37" strike="noStrike" u="none" i="0" baseline="3000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  <a:r>
              <a:rPr lang="en-US" sz="2100" spc="-37" strike="noStrike" u="none" i="0" baseline="3000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  <a:r>
              <a:rPr lang="en-US" sz="21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veces más rápido que sintetizar con NICOLE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  <a:spcBef>
                <a:spcPct val="0"/>
              </a:spcBef>
            </a:pPr>
            <a:r>
              <a:rPr lang="en-US" sz="44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MUISCA: inversión de Stokes con física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EN PREPARACIÓN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 preparación: el término WFA generaliza mejor, pero aún no iguala a los códigos numéricos.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Arquitectura y </a:t>
            </a:r>
            <a:r>
              <a:rPr lang="en-US" sz="1350" i="1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1350" i="0" baseline="-2500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LOS</a:t>
            </a: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 en una mancha (Hinode/MODEST, log </a:t>
            </a:r>
            <a:r>
              <a:rPr lang="en-US" sz="1350" i="1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τ</a:t>
            </a: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 = −0,8). Agudelo Ortiz, Morales, Vargas Domínguez, Castellanos Durán y Shelyag, en prep.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muisca_compue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865530"/>
            <a:ext cx="8424000" cy="770094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Agudelo Ortiz, Morales, Vargas Domínguez, Castellanos Durán y Shelyag, MUISCA (en preparación).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7F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sz="5000" spc="-240" strike="noStrike" u="none" i="0">
                  <a:solidFill>
                    <a:srgbClr val="F5B82E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Por tarea vs. foundation model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 modelo especializado al foundation 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1844675"/>
            <a:chOff x="0" y="0"/>
            <a:chExt cx="7670800" cy="2459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 modelo por tarea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Una red para una sola tarea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Sus propios labels e instrumento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U-Net, Enhance, FarNet, MUISCA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1844675"/>
            <a:chOff x="0" y="0"/>
            <a:chExt cx="7264400" cy="2459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Foundation model (Surya)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Pretrained con 13 canales de SDO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Se adapta con poco fine-tuning (LoRA)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Flares, viento solar, EUV…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5143500"/>
            <a:ext cx="28575" cy="2381250"/>
            <a:chOff x="0" y="0"/>
            <a:chExt cx="381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00225" y="8001000"/>
            <a:ext cx="15119775" cy="952500"/>
            <a:chOff x="0" y="0"/>
            <a:chExt cx="172593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2593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7259300">
                  <a:moveTo>
                    <a:pt x="203200" y="0"/>
                  </a:moveTo>
                  <a:lnTo>
                    <a:pt x="17056100" y="0"/>
                  </a:lnTo>
                  <a:cubicBezTo>
                    <a:pt x="17168324" y="0"/>
                    <a:pt x="17259300" y="90976"/>
                    <a:pt x="17259300" y="203200"/>
                  </a:cubicBezTo>
                  <a:lnTo>
                    <a:pt x="17259300" y="1066800"/>
                  </a:lnTo>
                  <a:cubicBezTo>
                    <a:pt x="17259300" y="1179024"/>
                    <a:pt x="17168324" y="1270000"/>
                    <a:pt x="170561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2593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43125" y="8229600"/>
            <a:ext cx="14433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CONCLUSIÓN   Nuestra pregunta: ¿se pueden traducir los embeddings de Surya al lenguaje?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85750" y="285750"/>
              <a:ext cx="1968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968500">
                  <a:moveTo>
                    <a:pt x="423333" y="984250"/>
                  </a:moveTo>
                  <a:cubicBezTo>
                    <a:pt x="423333" y="1294036"/>
                    <a:pt x="674464" y="1545167"/>
                    <a:pt x="984250" y="1545167"/>
                  </a:cubicBezTo>
                  <a:cubicBezTo>
                    <a:pt x="1294036" y="1545167"/>
                    <a:pt x="1545167" y="1294036"/>
                    <a:pt x="1545167" y="984250"/>
                  </a:cubicBezTo>
                  <a:cubicBezTo>
                    <a:pt x="1545167" y="674464"/>
                    <a:pt x="1294036" y="423333"/>
                    <a:pt x="984250" y="423333"/>
                  </a:cubicBezTo>
                  <a:cubicBezTo>
                    <a:pt x="674464" y="423333"/>
                    <a:pt x="423333" y="674464"/>
                    <a:pt x="423333" y="984250"/>
                  </a:cubicBezTo>
                  <a:close/>
                  <a:moveTo>
                    <a:pt x="1917700" y="401108"/>
                  </a:moveTo>
                  <a:cubicBezTo>
                    <a:pt x="1852103" y="289672"/>
                    <a:pt x="1611364" y="298681"/>
                    <a:pt x="1287048" y="424711"/>
                  </a:cubicBezTo>
                  <a:cubicBezTo>
                    <a:pt x="962732" y="550740"/>
                    <a:pt x="604683" y="774419"/>
                    <a:pt x="349085" y="1010672"/>
                  </a:cubicBezTo>
                  <a:cubicBezTo>
                    <a:pt x="93487" y="1246925"/>
                    <a:pt x="-20378" y="1459442"/>
                    <a:pt x="50800" y="1567392"/>
                  </a:cubicBezTo>
                  <a:cubicBezTo>
                    <a:pt x="116397" y="1678828"/>
                    <a:pt x="357136" y="1669819"/>
                    <a:pt x="681452" y="1543789"/>
                  </a:cubicBezTo>
                  <a:cubicBezTo>
                    <a:pt x="1005768" y="1417760"/>
                    <a:pt x="1363817" y="1194081"/>
                    <a:pt x="1619415" y="957828"/>
                  </a:cubicBezTo>
                  <a:cubicBezTo>
                    <a:pt x="1875013" y="721575"/>
                    <a:pt x="1988878" y="509058"/>
                    <a:pt x="1917700" y="401108"/>
                  </a:cubicBezTo>
                  <a:close/>
                  <a:moveTo>
                    <a:pt x="984250" y="169333"/>
                  </a:moveTo>
                  <a:lnTo>
                    <a:pt x="984250" y="0"/>
                  </a:lnTo>
                  <a:moveTo>
                    <a:pt x="984250" y="1968500"/>
                  </a:moveTo>
                  <a:lnTo>
                    <a:pt x="984250" y="1799167"/>
                  </a:lnTo>
                  <a:moveTo>
                    <a:pt x="169333" y="984250"/>
                  </a:moveTo>
                  <a:lnTo>
                    <a:pt x="0" y="984250"/>
                  </a:lnTo>
                  <a:moveTo>
                    <a:pt x="1968500" y="984250"/>
                  </a:moveTo>
                  <a:lnTo>
                    <a:pt x="1799167" y="984250"/>
                  </a:lnTo>
                  <a:moveTo>
                    <a:pt x="412750" y="412750"/>
                  </a:moveTo>
                  <a:lnTo>
                    <a:pt x="296333" y="296333"/>
                  </a:lnTo>
                  <a:moveTo>
                    <a:pt x="1555750" y="1555750"/>
                  </a:moveTo>
                  <a:lnTo>
                    <a:pt x="1672167" y="1672167"/>
                  </a:lnTo>
                  <a:moveTo>
                    <a:pt x="465667" y="1058333"/>
                  </a:moveTo>
                  <a:lnTo>
                    <a:pt x="698500" y="1058333"/>
                  </a:lnTo>
                  <a:lnTo>
                    <a:pt x="814917" y="814917"/>
                  </a:lnTo>
                  <a:lnTo>
                    <a:pt x="994833" y="1238250"/>
                  </a:lnTo>
                  <a:lnTo>
                    <a:pt x="1153583" y="920750"/>
                  </a:lnTo>
                  <a:lnTo>
                    <a:pt x="1259417" y="1058333"/>
                  </a:lnTo>
                  <a:lnTo>
                    <a:pt x="1513417" y="1058333"/>
                  </a:lnTo>
                </a:path>
              </a:pathLst>
            </a:custGeom>
            <a:ln w="47625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820333" y="328083"/>
              <a:ext cx="338667" cy="338667"/>
            </a:xfrm>
            <a:custGeom>
              <a:avLst/>
              <a:gdLst/>
              <a:ahLst/>
              <a:cxnLst/>
              <a:rect r="r" b="b" t="t" l="l"/>
              <a:pathLst>
                <a:path h="338667" w="338667">
                  <a:moveTo>
                    <a:pt x="169334" y="0"/>
                  </a:moveTo>
                  <a:lnTo>
                    <a:pt x="211667" y="127000"/>
                  </a:lnTo>
                  <a:lnTo>
                    <a:pt x="338667" y="169334"/>
                  </a:lnTo>
                  <a:lnTo>
                    <a:pt x="211667" y="211667"/>
                  </a:lnTo>
                  <a:lnTo>
                    <a:pt x="169334" y="338667"/>
                  </a:lnTo>
                  <a:lnTo>
                    <a:pt x="127000" y="211667"/>
                  </a:lnTo>
                  <a:lnTo>
                    <a:pt x="0" y="169334"/>
                  </a:lnTo>
                  <a:lnTo>
                    <a:pt x="127000" y="12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9" id="2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30" id="3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sp>
        <p:nvSpPr>
          <p:cNvPr id="31" name="TextBox 30"/>
          <p:cNvSpPr txBox="1"/>
          <p:nvPr/>
        </p:nvSpPr>
        <p:spPr>
          <a:xfrm>
            <a:off x="684000" y="9108000"/>
            <a:ext cx="144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CEEF0"/>
                </a:solidFill>
                <a:latin typeface="Arimo"/>
              </a:rPr>
              <a:t>Referencias: Roy et al. (2025), arXiv:2508.14112 (Surya).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19250" y="52482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0"/>
              </a:lnSpc>
              <a:spcBef>
                <a:spcPct val="0"/>
              </a:spcBef>
            </a:pPr>
            <a:r>
              <a:rPr lang="en-US" sz="6400" spc="-240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Mi investigación: un copiloto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2628900"/>
            <a:ext cx="6667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b="true" i="0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1752600"/>
            <a:ext cx="476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71D30"/>
                </a:solidFill>
                <a:latin typeface="Arimo Bold"/>
                <a:ea typeface="Arimo Bold"/>
                <a:cs typeface="Arimo Bold"/>
                <a:sym typeface="Arimo Bold"/>
              </a:rPr>
              <a:t>SECCIÓN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6791325"/>
            <a:ext cx="104775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¿Puede un modelo describir con palabras lo que ve Surya?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00100" y="800100"/>
              <a:ext cx="55118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5511800">
                  <a:moveTo>
                    <a:pt x="1185333" y="2755900"/>
                  </a:moveTo>
                  <a:cubicBezTo>
                    <a:pt x="1185333" y="3623300"/>
                    <a:pt x="1888500" y="4326467"/>
                    <a:pt x="2755900" y="4326467"/>
                  </a:cubicBezTo>
                  <a:cubicBezTo>
                    <a:pt x="3623300" y="4326467"/>
                    <a:pt x="4326467" y="3623300"/>
                    <a:pt x="4326467" y="2755900"/>
                  </a:cubicBezTo>
                  <a:cubicBezTo>
                    <a:pt x="4326467" y="1888500"/>
                    <a:pt x="3623300" y="1185333"/>
                    <a:pt x="2755900" y="1185333"/>
                  </a:cubicBezTo>
                  <a:cubicBezTo>
                    <a:pt x="1888500" y="1185333"/>
                    <a:pt x="1185333" y="1888500"/>
                    <a:pt x="1185333" y="2755900"/>
                  </a:cubicBezTo>
                  <a:close/>
                  <a:moveTo>
                    <a:pt x="5369560" y="1123103"/>
                  </a:moveTo>
                  <a:cubicBezTo>
                    <a:pt x="5185888" y="811081"/>
                    <a:pt x="4511819" y="836308"/>
                    <a:pt x="3603734" y="1189190"/>
                  </a:cubicBezTo>
                  <a:cubicBezTo>
                    <a:pt x="2695649" y="1542071"/>
                    <a:pt x="1693112" y="2168373"/>
                    <a:pt x="977437" y="2829881"/>
                  </a:cubicBezTo>
                  <a:cubicBezTo>
                    <a:pt x="261763" y="3491389"/>
                    <a:pt x="-57058" y="4086437"/>
                    <a:pt x="142240" y="4388697"/>
                  </a:cubicBezTo>
                  <a:cubicBezTo>
                    <a:pt x="325911" y="4700719"/>
                    <a:pt x="999981" y="4675492"/>
                    <a:pt x="1908066" y="4322611"/>
                  </a:cubicBezTo>
                  <a:cubicBezTo>
                    <a:pt x="2816151" y="3969729"/>
                    <a:pt x="3818688" y="3343427"/>
                    <a:pt x="4534363" y="2681919"/>
                  </a:cubicBezTo>
                  <a:cubicBezTo>
                    <a:pt x="5250037" y="2020411"/>
                    <a:pt x="5568857" y="1425364"/>
                    <a:pt x="5369560" y="1123103"/>
                  </a:cubicBezTo>
                  <a:close/>
                  <a:moveTo>
                    <a:pt x="2755900" y="474133"/>
                  </a:moveTo>
                  <a:lnTo>
                    <a:pt x="2755900" y="0"/>
                  </a:lnTo>
                  <a:moveTo>
                    <a:pt x="2755900" y="5511800"/>
                  </a:moveTo>
                  <a:lnTo>
                    <a:pt x="2755900" y="5037667"/>
                  </a:lnTo>
                  <a:moveTo>
                    <a:pt x="474133" y="2755900"/>
                  </a:moveTo>
                  <a:lnTo>
                    <a:pt x="0" y="2755900"/>
                  </a:lnTo>
                  <a:moveTo>
                    <a:pt x="5511800" y="2755900"/>
                  </a:moveTo>
                  <a:lnTo>
                    <a:pt x="5037667" y="2755900"/>
                  </a:lnTo>
                  <a:moveTo>
                    <a:pt x="1155700" y="1155700"/>
                  </a:moveTo>
                  <a:lnTo>
                    <a:pt x="829733" y="829733"/>
                  </a:lnTo>
                  <a:moveTo>
                    <a:pt x="4356100" y="4356100"/>
                  </a:moveTo>
                  <a:lnTo>
                    <a:pt x="4682067" y="4682067"/>
                  </a:lnTo>
                  <a:moveTo>
                    <a:pt x="1303867" y="2963333"/>
                  </a:moveTo>
                  <a:lnTo>
                    <a:pt x="1955800" y="2963333"/>
                  </a:lnTo>
                  <a:lnTo>
                    <a:pt x="2281767" y="2281767"/>
                  </a:lnTo>
                  <a:lnTo>
                    <a:pt x="2785533" y="3467100"/>
                  </a:lnTo>
                  <a:lnTo>
                    <a:pt x="3230033" y="2578100"/>
                  </a:lnTo>
                  <a:lnTo>
                    <a:pt x="3526367" y="2963333"/>
                  </a:lnTo>
                  <a:lnTo>
                    <a:pt x="4237567" y="2963333"/>
                  </a:lnTo>
                </a:path>
              </a:pathLst>
            </a:custGeom>
            <a:ln w="85725" cap="sq">
              <a:solidFill>
                <a:srgbClr val="071D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15750" y="2095500"/>
            <a:ext cx="5334000" cy="5334000"/>
            <a:chOff x="0" y="0"/>
            <a:chExt cx="7112000" cy="711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96933" y="918633"/>
              <a:ext cx="948267" cy="948267"/>
            </a:xfrm>
            <a:custGeom>
              <a:avLst/>
              <a:gdLst/>
              <a:ahLst/>
              <a:cxnLst/>
              <a:rect r="r" b="b" t="t" l="l"/>
              <a:pathLst>
                <a:path h="948267" w="948267">
                  <a:moveTo>
                    <a:pt x="474134" y="0"/>
                  </a:moveTo>
                  <a:lnTo>
                    <a:pt x="592667" y="355600"/>
                  </a:lnTo>
                  <a:lnTo>
                    <a:pt x="948267" y="474134"/>
                  </a:lnTo>
                  <a:lnTo>
                    <a:pt x="592667" y="592667"/>
                  </a:lnTo>
                  <a:lnTo>
                    <a:pt x="474134" y="948267"/>
                  </a:lnTo>
                  <a:lnTo>
                    <a:pt x="355600" y="592667"/>
                  </a:lnTo>
                  <a:lnTo>
                    <a:pt x="0" y="474134"/>
                  </a:lnTo>
                  <a:lnTo>
                    <a:pt x="355600" y="35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17" id="17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18" id="18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Meta: “muéstrame esta región activa y estima la probabilidad de un flare M en 24 h”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LLM orquesta los datos, ejecuta Surya y explica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Ruta: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VLM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preguntas → herramientas → agente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Hoy, el primer paso: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describir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una observación de SDO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El copiloto de física solar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MOTIVACIÓN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Antes de razonar sobre lo que ve Surya, sus embeddings deben traducirse al espacio del LLM.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magnetograma de HMI del 7 ene 2014 y la caja de una región activa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clase_dummy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504000"/>
            <a:ext cx="8424000" cy="8424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87F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  <a:spcBef>
                  <a:spcPct val="0"/>
                </a:spcBef>
              </a:pPr>
              <a:r>
                <a:rPr lang="en-US" sz="8000" spc="-240" strike="noStrike" u="none" i="0">
                  <a:solidFill>
                    <a:srgbClr val="F5B82E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Dos fuentes de texto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Para entrenar hacen falta pares observación–caption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1844675"/>
            <a:chOff x="0" y="0"/>
            <a:chExt cx="7670800" cy="2459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Artículos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Figuras y textos de la literatura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Hay que re-consultar la observación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Pocos pares y metadatos ruidosos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1844675"/>
            <a:chOff x="0" y="0"/>
            <a:chExt cx="7264400" cy="2459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 strike="noStrike" u="none" i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Catálogo (HEK, NOAA)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Posición, manchas y clases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Captions con plantilla fija, sin LLM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30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Muchos pares, texto repetitivo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5143500"/>
            <a:ext cx="28575" cy="2381250"/>
            <a:chOff x="0" y="0"/>
            <a:chExt cx="381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00225" y="8001000"/>
            <a:ext cx="15119775" cy="952500"/>
            <a:chOff x="0" y="0"/>
            <a:chExt cx="172593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2593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7259300">
                  <a:moveTo>
                    <a:pt x="203200" y="0"/>
                  </a:moveTo>
                  <a:lnTo>
                    <a:pt x="17056100" y="0"/>
                  </a:lnTo>
                  <a:cubicBezTo>
                    <a:pt x="17168324" y="0"/>
                    <a:pt x="17259300" y="90976"/>
                    <a:pt x="17259300" y="203200"/>
                  </a:cubicBezTo>
                  <a:lnTo>
                    <a:pt x="17259300" y="1066800"/>
                  </a:lnTo>
                  <a:cubicBezTo>
                    <a:pt x="17259300" y="1179024"/>
                    <a:pt x="17168324" y="1270000"/>
                    <a:pt x="170561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2593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43125" y="8229600"/>
            <a:ext cx="14433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CONCLUSIÓN   El prototipo usa el catálogo; los artículos llegan cuando el pipeline madure.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85750" y="285750"/>
              <a:ext cx="1968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968500">
                  <a:moveTo>
                    <a:pt x="423333" y="984250"/>
                  </a:moveTo>
                  <a:cubicBezTo>
                    <a:pt x="423333" y="1294036"/>
                    <a:pt x="674464" y="1545167"/>
                    <a:pt x="984250" y="1545167"/>
                  </a:cubicBezTo>
                  <a:cubicBezTo>
                    <a:pt x="1294036" y="1545167"/>
                    <a:pt x="1545167" y="1294036"/>
                    <a:pt x="1545167" y="984250"/>
                  </a:cubicBezTo>
                  <a:cubicBezTo>
                    <a:pt x="1545167" y="674464"/>
                    <a:pt x="1294036" y="423333"/>
                    <a:pt x="984250" y="423333"/>
                  </a:cubicBezTo>
                  <a:cubicBezTo>
                    <a:pt x="674464" y="423333"/>
                    <a:pt x="423333" y="674464"/>
                    <a:pt x="423333" y="984250"/>
                  </a:cubicBezTo>
                  <a:close/>
                  <a:moveTo>
                    <a:pt x="1917700" y="401108"/>
                  </a:moveTo>
                  <a:cubicBezTo>
                    <a:pt x="1852103" y="289672"/>
                    <a:pt x="1611364" y="298681"/>
                    <a:pt x="1287048" y="424711"/>
                  </a:cubicBezTo>
                  <a:cubicBezTo>
                    <a:pt x="962732" y="550740"/>
                    <a:pt x="604683" y="774419"/>
                    <a:pt x="349085" y="1010672"/>
                  </a:cubicBezTo>
                  <a:cubicBezTo>
                    <a:pt x="93487" y="1246925"/>
                    <a:pt x="-20378" y="1459442"/>
                    <a:pt x="50800" y="1567392"/>
                  </a:cubicBezTo>
                  <a:cubicBezTo>
                    <a:pt x="116397" y="1678828"/>
                    <a:pt x="357136" y="1669819"/>
                    <a:pt x="681452" y="1543789"/>
                  </a:cubicBezTo>
                  <a:cubicBezTo>
                    <a:pt x="1005768" y="1417760"/>
                    <a:pt x="1363817" y="1194081"/>
                    <a:pt x="1619415" y="957828"/>
                  </a:cubicBezTo>
                  <a:cubicBezTo>
                    <a:pt x="1875013" y="721575"/>
                    <a:pt x="1988878" y="509058"/>
                    <a:pt x="1917700" y="401108"/>
                  </a:cubicBezTo>
                  <a:close/>
                  <a:moveTo>
                    <a:pt x="984250" y="169333"/>
                  </a:moveTo>
                  <a:lnTo>
                    <a:pt x="984250" y="0"/>
                  </a:lnTo>
                  <a:moveTo>
                    <a:pt x="984250" y="1968500"/>
                  </a:moveTo>
                  <a:lnTo>
                    <a:pt x="984250" y="1799167"/>
                  </a:lnTo>
                  <a:moveTo>
                    <a:pt x="169333" y="984250"/>
                  </a:moveTo>
                  <a:lnTo>
                    <a:pt x="0" y="984250"/>
                  </a:lnTo>
                  <a:moveTo>
                    <a:pt x="1968500" y="984250"/>
                  </a:moveTo>
                  <a:lnTo>
                    <a:pt x="1799167" y="984250"/>
                  </a:lnTo>
                  <a:moveTo>
                    <a:pt x="412750" y="412750"/>
                  </a:moveTo>
                  <a:lnTo>
                    <a:pt x="296333" y="296333"/>
                  </a:lnTo>
                  <a:moveTo>
                    <a:pt x="1555750" y="1555750"/>
                  </a:moveTo>
                  <a:lnTo>
                    <a:pt x="1672167" y="1672167"/>
                  </a:lnTo>
                  <a:moveTo>
                    <a:pt x="465667" y="1058333"/>
                  </a:moveTo>
                  <a:lnTo>
                    <a:pt x="698500" y="1058333"/>
                  </a:lnTo>
                  <a:lnTo>
                    <a:pt x="814917" y="814917"/>
                  </a:lnTo>
                  <a:lnTo>
                    <a:pt x="994833" y="1238250"/>
                  </a:lnTo>
                  <a:lnTo>
                    <a:pt x="1153583" y="920750"/>
                  </a:lnTo>
                  <a:lnTo>
                    <a:pt x="1259417" y="1058333"/>
                  </a:lnTo>
                  <a:lnTo>
                    <a:pt x="1513417" y="1058333"/>
                  </a:lnTo>
                </a:path>
              </a:pathLst>
            </a:custGeom>
            <a:ln w="47625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49500" y="1238250"/>
            <a:ext cx="1905000" cy="1905000"/>
            <a:chOff x="0" y="0"/>
            <a:chExt cx="2540000" cy="254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820333" y="328083"/>
              <a:ext cx="338667" cy="338667"/>
            </a:xfrm>
            <a:custGeom>
              <a:avLst/>
              <a:gdLst/>
              <a:ahLst/>
              <a:cxnLst/>
              <a:rect r="r" b="b" t="t" l="l"/>
              <a:pathLst>
                <a:path h="338667" w="338667">
                  <a:moveTo>
                    <a:pt x="169334" y="0"/>
                  </a:moveTo>
                  <a:lnTo>
                    <a:pt x="211667" y="127000"/>
                  </a:lnTo>
                  <a:lnTo>
                    <a:pt x="338667" y="169334"/>
                  </a:lnTo>
                  <a:lnTo>
                    <a:pt x="211667" y="211667"/>
                  </a:lnTo>
                  <a:lnTo>
                    <a:pt x="169334" y="338667"/>
                  </a:lnTo>
                  <a:lnTo>
                    <a:pt x="127000" y="211667"/>
                  </a:lnTo>
                  <a:lnTo>
                    <a:pt x="0" y="169334"/>
                  </a:lnTo>
                  <a:lnTo>
                    <a:pt x="127000" y="12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9" id="2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30" id="3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048750" y="6561411"/>
            <a:ext cx="8858250" cy="2227536"/>
            <a:chOff x="0" y="0"/>
            <a:chExt cx="11811000" cy="317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1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1811000">
                  <a:moveTo>
                    <a:pt x="254000" y="0"/>
                  </a:moveTo>
                  <a:lnTo>
                    <a:pt x="11557000" y="0"/>
                  </a:lnTo>
                  <a:cubicBezTo>
                    <a:pt x="11697281" y="0"/>
                    <a:pt x="11811000" y="113720"/>
                    <a:pt x="11811000" y="254000"/>
                  </a:cubicBezTo>
                  <a:lnTo>
                    <a:pt x="11811000" y="2921000"/>
                  </a:lnTo>
                  <a:cubicBezTo>
                    <a:pt x="11811000" y="3061280"/>
                    <a:pt x="11697281" y="3175000"/>
                    <a:pt x="11557000" y="3175000"/>
                  </a:cubicBezTo>
                  <a:lnTo>
                    <a:pt x="254000" y="3175000"/>
                  </a:lnTo>
                  <a:cubicBezTo>
                    <a:pt x="113720" y="3175000"/>
                    <a:pt x="0" y="3061280"/>
                    <a:pt x="0" y="2921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811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1000" y="6561411"/>
            <a:ext cx="8477250" cy="2227536"/>
            <a:chOff x="0" y="0"/>
            <a:chExt cx="11303000" cy="317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03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1303000">
                  <a:moveTo>
                    <a:pt x="254000" y="0"/>
                  </a:moveTo>
                  <a:lnTo>
                    <a:pt x="11049000" y="0"/>
                  </a:lnTo>
                  <a:cubicBezTo>
                    <a:pt x="11189281" y="0"/>
                    <a:pt x="11303000" y="113720"/>
                    <a:pt x="11303000" y="254000"/>
                  </a:cubicBezTo>
                  <a:lnTo>
                    <a:pt x="11303000" y="2921000"/>
                  </a:lnTo>
                  <a:cubicBezTo>
                    <a:pt x="11303000" y="3061280"/>
                    <a:pt x="11189281" y="3175000"/>
                    <a:pt x="11049000" y="3175000"/>
                  </a:cubicBezTo>
                  <a:lnTo>
                    <a:pt x="254000" y="3175000"/>
                  </a:lnTo>
                  <a:cubicBezTo>
                    <a:pt x="113720" y="3175000"/>
                    <a:pt x="0" y="3061280"/>
                    <a:pt x="0" y="2921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03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0" y="3857625"/>
            <a:ext cx="8858250" cy="2227536"/>
            <a:chOff x="0" y="0"/>
            <a:chExt cx="11811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1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1811000">
                  <a:moveTo>
                    <a:pt x="254000" y="0"/>
                  </a:moveTo>
                  <a:lnTo>
                    <a:pt x="11557000" y="0"/>
                  </a:lnTo>
                  <a:cubicBezTo>
                    <a:pt x="11697281" y="0"/>
                    <a:pt x="11811000" y="113720"/>
                    <a:pt x="11811000" y="254000"/>
                  </a:cubicBezTo>
                  <a:lnTo>
                    <a:pt x="11811000" y="2667000"/>
                  </a:lnTo>
                  <a:cubicBezTo>
                    <a:pt x="11811000" y="2807280"/>
                    <a:pt x="11697281" y="2921000"/>
                    <a:pt x="11557000" y="2921000"/>
                  </a:cubicBezTo>
                  <a:lnTo>
                    <a:pt x="254000" y="2921000"/>
                  </a:lnTo>
                  <a:cubicBezTo>
                    <a:pt x="113720" y="2921000"/>
                    <a:pt x="0" y="2807280"/>
                    <a:pt x="0" y="2667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811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1000" y="3857625"/>
            <a:ext cx="8477250" cy="2227536"/>
            <a:chOff x="0" y="0"/>
            <a:chExt cx="11303000" cy="292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0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1303000">
                  <a:moveTo>
                    <a:pt x="254000" y="0"/>
                  </a:moveTo>
                  <a:lnTo>
                    <a:pt x="11049000" y="0"/>
                  </a:lnTo>
                  <a:cubicBezTo>
                    <a:pt x="11189281" y="0"/>
                    <a:pt x="11303000" y="113720"/>
                    <a:pt x="11303000" y="254000"/>
                  </a:cubicBezTo>
                  <a:lnTo>
                    <a:pt x="11303000" y="2667000"/>
                  </a:lnTo>
                  <a:cubicBezTo>
                    <a:pt x="11303000" y="2807280"/>
                    <a:pt x="11189281" y="2921000"/>
                    <a:pt x="11049000" y="2921000"/>
                  </a:cubicBezTo>
                  <a:lnTo>
                    <a:pt x="254000" y="2921000"/>
                  </a:lnTo>
                  <a:cubicBezTo>
                    <a:pt x="113720" y="2921000"/>
                    <a:pt x="0" y="2807280"/>
                    <a:pt x="0" y="2667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30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 i="0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Surya en cifras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05025" y="4259580"/>
            <a:ext cx="6886575" cy="1570673"/>
            <a:chOff x="0" y="0"/>
            <a:chExt cx="9182100" cy="209423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366 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parámetros: transformer espaciotemporal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34675" y="6981622"/>
            <a:ext cx="6886575" cy="1570673"/>
            <a:chOff x="0" y="0"/>
            <a:chExt cx="9182100" cy="209423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+60 min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pretrained para hacer forecasting del Sol una hora adelante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05025" y="6974320"/>
            <a:ext cx="6886575" cy="1616869"/>
            <a:chOff x="0" y="0"/>
            <a:chExt cx="9182100" cy="215582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13 canales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 de AIA y 5 de HMI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96400" y="6972891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50" y="6967176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34675" y="4258786"/>
            <a:ext cx="6886575" cy="1570673"/>
            <a:chOff x="0" y="0"/>
            <a:chExt cx="9182100" cy="209423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4096²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píxeles: la resolución nativa de SDO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5800" y="208597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UN FOUNDATION MODEL PARA HELIOFÍSICA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85738" y="185738"/>
              <a:ext cx="1279525" cy="1279525"/>
            </a:xfrm>
            <a:custGeom>
              <a:avLst/>
              <a:gdLst/>
              <a:ahLst/>
              <a:cxnLst/>
              <a:rect r="r" b="b" t="t" l="l"/>
              <a:pathLst>
                <a:path h="1279525" w="1279525">
                  <a:moveTo>
                    <a:pt x="275166" y="639762"/>
                  </a:moveTo>
                  <a:cubicBezTo>
                    <a:pt x="275166" y="841123"/>
                    <a:pt x="438401" y="1004358"/>
                    <a:pt x="639762" y="1004358"/>
                  </a:cubicBezTo>
                  <a:cubicBezTo>
                    <a:pt x="841123" y="1004358"/>
                    <a:pt x="1004358" y="841123"/>
                    <a:pt x="1004358" y="639762"/>
                  </a:cubicBezTo>
                  <a:cubicBezTo>
                    <a:pt x="1004358" y="438401"/>
                    <a:pt x="841123" y="275166"/>
                    <a:pt x="639762" y="275166"/>
                  </a:cubicBezTo>
                  <a:cubicBezTo>
                    <a:pt x="438401" y="275166"/>
                    <a:pt x="275166" y="438401"/>
                    <a:pt x="275166" y="639762"/>
                  </a:cubicBezTo>
                  <a:close/>
                  <a:moveTo>
                    <a:pt x="1246505" y="260720"/>
                  </a:moveTo>
                  <a:cubicBezTo>
                    <a:pt x="1203867" y="188286"/>
                    <a:pt x="1047386" y="194142"/>
                    <a:pt x="836581" y="276061"/>
                  </a:cubicBezTo>
                  <a:cubicBezTo>
                    <a:pt x="625775" y="357980"/>
                    <a:pt x="393043" y="503372"/>
                    <a:pt x="226905" y="656936"/>
                  </a:cubicBezTo>
                  <a:cubicBezTo>
                    <a:pt x="60766" y="810500"/>
                    <a:pt x="-13246" y="948637"/>
                    <a:pt x="33020" y="1018804"/>
                  </a:cubicBezTo>
                  <a:cubicBezTo>
                    <a:pt x="75657" y="1091238"/>
                    <a:pt x="232138" y="1085382"/>
                    <a:pt x="442943" y="1003463"/>
                  </a:cubicBezTo>
                  <a:cubicBezTo>
                    <a:pt x="653749" y="921544"/>
                    <a:pt x="886481" y="776152"/>
                    <a:pt x="1052619" y="622588"/>
                  </a:cubicBezTo>
                  <a:cubicBezTo>
                    <a:pt x="1218758" y="469024"/>
                    <a:pt x="1292770" y="330887"/>
                    <a:pt x="1246505" y="260720"/>
                  </a:cubicBezTo>
                  <a:close/>
                  <a:moveTo>
                    <a:pt x="639762" y="110066"/>
                  </a:moveTo>
                  <a:lnTo>
                    <a:pt x="639762" y="0"/>
                  </a:lnTo>
                  <a:moveTo>
                    <a:pt x="639762" y="1279524"/>
                  </a:moveTo>
                  <a:lnTo>
                    <a:pt x="639762" y="1169458"/>
                  </a:lnTo>
                  <a:moveTo>
                    <a:pt x="110066" y="639762"/>
                  </a:moveTo>
                  <a:lnTo>
                    <a:pt x="0" y="639762"/>
                  </a:lnTo>
                  <a:moveTo>
                    <a:pt x="1279524" y="639762"/>
                  </a:moveTo>
                  <a:lnTo>
                    <a:pt x="1169458" y="639762"/>
                  </a:lnTo>
                  <a:moveTo>
                    <a:pt x="268287" y="268287"/>
                  </a:moveTo>
                  <a:lnTo>
                    <a:pt x="192616" y="192616"/>
                  </a:lnTo>
                  <a:moveTo>
                    <a:pt x="1011237" y="1011237"/>
                  </a:moveTo>
                  <a:lnTo>
                    <a:pt x="1086908" y="1086908"/>
                  </a:lnTo>
                  <a:moveTo>
                    <a:pt x="302683" y="687916"/>
                  </a:moveTo>
                  <a:lnTo>
                    <a:pt x="454024" y="687916"/>
                  </a:lnTo>
                  <a:lnTo>
                    <a:pt x="529695" y="529695"/>
                  </a:lnTo>
                  <a:lnTo>
                    <a:pt x="646641" y="804862"/>
                  </a:lnTo>
                  <a:lnTo>
                    <a:pt x="749829" y="598487"/>
                  </a:lnTo>
                  <a:lnTo>
                    <a:pt x="818620" y="687916"/>
                  </a:lnTo>
                  <a:lnTo>
                    <a:pt x="983720" y="687916"/>
                  </a:lnTo>
                </a:path>
              </a:pathLst>
            </a:custGeom>
            <a:ln w="38100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183217" y="213254"/>
              <a:ext cx="220133" cy="220133"/>
            </a:xfrm>
            <a:custGeom>
              <a:avLst/>
              <a:gdLst/>
              <a:ahLst/>
              <a:cxnLst/>
              <a:rect r="r" b="b" t="t" l="l"/>
              <a:pathLst>
                <a:path h="220133" w="220133">
                  <a:moveTo>
                    <a:pt x="110066" y="0"/>
                  </a:moveTo>
                  <a:lnTo>
                    <a:pt x="137583" y="82550"/>
                  </a:lnTo>
                  <a:lnTo>
                    <a:pt x="220133" y="110067"/>
                  </a:lnTo>
                  <a:lnTo>
                    <a:pt x="137583" y="137584"/>
                  </a:lnTo>
                  <a:lnTo>
                    <a:pt x="110066" y="220134"/>
                  </a:lnTo>
                  <a:lnTo>
                    <a:pt x="82550" y="137584"/>
                  </a:lnTo>
                  <a:lnTo>
                    <a:pt x="0" y="110067"/>
                  </a:lnTo>
                  <a:lnTo>
                    <a:pt x="82550" y="825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39" id="3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40" id="4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sp>
        <p:nvSpPr>
          <p:cNvPr id="41" name="TextBox 40"/>
          <p:cNvSpPr txBox="1"/>
          <p:nvPr/>
        </p:nvSpPr>
        <p:spPr>
          <a:xfrm>
            <a:off x="684000" y="9108000"/>
            <a:ext cx="144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AFC0CE"/>
                </a:solidFill>
                <a:latin typeface="Arimo"/>
              </a:rPr>
              <a:t>Referencias: Roy et al. (2025), Surya: Foundation Model for Heliophysics, arXiv:2508.14112.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5334000"/>
            <a:ext cx="6886575" cy="1898650"/>
            <a:chOff x="0" y="0"/>
            <a:chExt cx="9182100" cy="25315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Normalización de Surya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Scaling, signed log y standardization con </a:t>
              </a:r>
              <a:r>
                <a:rPr lang="en-US" sz="2499" spc="-37" strike="noStrike" u="none" i="1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μ</a:t>
              </a: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</a:t>
              </a:r>
              <a:r>
                <a:rPr lang="en-US" sz="2499" spc="-37" strike="noStrike" u="none" i="1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σ</a:t>
              </a: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globales de cada canal. Por eso una imagen no queda con media 0: aia94 va de −0,53 a 219,6.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ECUACIÓN  /  DATO DESTACADO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5800" y="4476750"/>
            <a:ext cx="1428750" cy="57150"/>
            <a:chOff x="0" y="0"/>
            <a:chExt cx="1905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85153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0">
                <a:solidFill>
                  <a:srgbClr val="53697A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Referencia: surya.datasets.helio.transform; notebook, sección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histogramas de aia94 en cada paso, AR 11944 (notebook, sección 2)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1" id="21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2" id="22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3" name="Picture 22" descr="eq_norm_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00" y="1224000"/>
            <a:ext cx="5893882" cy="2664000"/>
          </a:xfrm>
          <a:prstGeom prst="rect">
            <a:avLst/>
          </a:prstGeom>
        </p:spPr>
      </p:pic>
      <p:pic>
        <p:nvPicPr>
          <p:cNvPr id="24" name="Picture 23" descr="hist_n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8211" y="432000"/>
            <a:ext cx="7891578" cy="8568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Recorte de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704 × 704 px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alrededor de la AR 11944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token por patch de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16 × 16 px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45 × 45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tokens de 1280 dimensiones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Adaptive pooling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 16 × 16 =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256 tokens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Surya corre sobre el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disco completo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se recortan tokens, no la imagen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 la región a 256 tokens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CONCEPTO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Recortar la imagen quitaría el contexto de posición y escala que Surya aprendió.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norma L2 de los tokens antes y después del pooling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clase_dummy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3053248"/>
            <a:ext cx="8424000" cy="3325504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1190625"/>
            <a:ext cx="68865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  <a:spcBef>
                <a:spcPct val="0"/>
              </a:spcBef>
            </a:pPr>
            <a:r>
              <a:rPr lang="en-US" sz="4400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Práctica 1: del dato a los tokens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77190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 Corre las secciones 1 a 5 del notebook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 Cambia nombre a otro canal y compara los pasos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 Mira por qué la media no queda en 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CÓDIGO  ·  PRÁCTICA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0" y="762000"/>
            <a:ext cx="9239250" cy="8382000"/>
            <a:chOff x="0" y="0"/>
            <a:chExt cx="12319000" cy="1117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9000" cy="11176000"/>
            </a:xfrm>
            <a:custGeom>
              <a:avLst/>
              <a:gdLst/>
              <a:ahLst/>
              <a:cxnLst/>
              <a:rect r="r" b="b" t="t" l="l"/>
              <a:pathLst>
                <a:path h="11176000" w="12319000">
                  <a:moveTo>
                    <a:pt x="279400" y="0"/>
                  </a:moveTo>
                  <a:lnTo>
                    <a:pt x="12039600" y="0"/>
                  </a:lnTo>
                  <a:cubicBezTo>
                    <a:pt x="12193908" y="0"/>
                    <a:pt x="12319000" y="125092"/>
                    <a:pt x="12319000" y="279400"/>
                  </a:cubicBezTo>
                  <a:lnTo>
                    <a:pt x="12319000" y="10896600"/>
                  </a:lnTo>
                  <a:cubicBezTo>
                    <a:pt x="12319000" y="11050908"/>
                    <a:pt x="12193908" y="11176000"/>
                    <a:pt x="12039600" y="11176000"/>
                  </a:cubicBezTo>
                  <a:lnTo>
                    <a:pt x="279400" y="11176000"/>
                  </a:lnTo>
                  <a:cubicBezTo>
                    <a:pt x="125092" y="11176000"/>
                    <a:pt x="0" y="11050908"/>
                    <a:pt x="0" y="10896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B162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319000" cy="1121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82000" y="762000"/>
            <a:ext cx="9239250" cy="666750"/>
            <a:chOff x="0" y="0"/>
            <a:chExt cx="12319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2319000">
                  <a:moveTo>
                    <a:pt x="279400" y="0"/>
                  </a:moveTo>
                  <a:lnTo>
                    <a:pt x="12039600" y="0"/>
                  </a:lnTo>
                  <a:cubicBezTo>
                    <a:pt x="12193908" y="0"/>
                    <a:pt x="12319000" y="125092"/>
                    <a:pt x="12319000" y="279400"/>
                  </a:cubicBezTo>
                  <a:lnTo>
                    <a:pt x="12319000" y="609600"/>
                  </a:lnTo>
                  <a:cubicBezTo>
                    <a:pt x="12319000" y="763908"/>
                    <a:pt x="12193908" y="889000"/>
                    <a:pt x="12039600" y="889000"/>
                  </a:cubicBezTo>
                  <a:lnTo>
                    <a:pt x="279400" y="889000"/>
                  </a:lnTo>
                  <a:cubicBezTo>
                    <a:pt x="125092" y="889000"/>
                    <a:pt x="0" y="763908"/>
                    <a:pt x="0" y="609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31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7750" y="1009650"/>
            <a:ext cx="171450" cy="171450"/>
            <a:chOff x="0" y="0"/>
            <a:chExt cx="228600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53500" y="1009650"/>
            <a:ext cx="171450" cy="171450"/>
            <a:chOff x="0" y="0"/>
            <a:chExt cx="228600" cy="22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39250" y="1009650"/>
            <a:ext cx="171450" cy="171450"/>
            <a:chOff x="0" y="0"/>
            <a:chExt cx="228600" cy="22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28C8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715500" y="90487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0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01_Del_dato_solar_al_caption.ipynb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0125" y="1657350"/>
            <a:ext cx="476250" cy="51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6875" y="1657350"/>
            <a:ext cx="8096250" cy="51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nombre = "aia94"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k = constantes[nombre]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x = crudo[canales.index(nombre)].astype(np.float64)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paso1 = x * k["sl_scale_factor"]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paso2 = np.sign(paso1) * np.log1p(np.abs(paso1))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paso3 = (paso2 - k["mean"]) / (k["std"] + k["epsilon"])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620125" y="8001000"/>
            <a:ext cx="8763000" cy="857250"/>
            <a:chOff x="0" y="0"/>
            <a:chExt cx="116840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8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684000">
                  <a:moveTo>
                    <a:pt x="152400" y="0"/>
                  </a:moveTo>
                  <a:lnTo>
                    <a:pt x="11531600" y="0"/>
                  </a:lnTo>
                  <a:cubicBezTo>
                    <a:pt x="11615769" y="0"/>
                    <a:pt x="11684000" y="68232"/>
                    <a:pt x="11684000" y="152400"/>
                  </a:cubicBezTo>
                  <a:lnTo>
                    <a:pt x="11684000" y="990600"/>
                  </a:lnTo>
                  <a:cubicBezTo>
                    <a:pt x="11684000" y="1074768"/>
                    <a:pt x="11615769" y="1143000"/>
                    <a:pt x="11531600" y="1143000"/>
                  </a:cubicBezTo>
                  <a:lnTo>
                    <a:pt x="152400" y="1143000"/>
                  </a:lnTo>
                  <a:cubicBezTo>
                    <a:pt x="68232" y="1143000"/>
                    <a:pt x="0" y="1074768"/>
                    <a:pt x="0" y="990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68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05875" y="8210550"/>
            <a:ext cx="8382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 i="0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SALIDA  ›  paso 3: mín −0,526 · máx 219,601 · media 9,203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6750" y="9639300"/>
            <a:ext cx="16954500" cy="19050"/>
            <a:chOff x="0" y="0"/>
            <a:chExt cx="226060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3D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1" id="31" descr="Logo GoSA"/>
          <p:cNvSpPr/>
          <p:nvPr/>
        </p:nvSpPr>
        <p:spPr>
          <a:xfrm flipH="false" flipV="false" rot="0">
            <a:off x="161925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7" r="0" b="-307"/>
            </a:stretch>
          </a:blipFill>
        </p:spPr>
      </p:sp>
      <p:sp>
        <p:nvSpPr>
          <p:cNvPr name="Freeform 32" id="32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66750" y="7048500"/>
            <a:ext cx="7048500" cy="1809750"/>
            <a:chOff x="0" y="0"/>
            <a:chExt cx="9398000" cy="241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9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398000">
                  <a:moveTo>
                    <a:pt x="228600" y="0"/>
                  </a:moveTo>
                  <a:lnTo>
                    <a:pt x="9169400" y="0"/>
                  </a:lnTo>
                  <a:cubicBezTo>
                    <a:pt x="9295652" y="0"/>
                    <a:pt x="9398000" y="102348"/>
                    <a:pt x="9398000" y="228600"/>
                  </a:cubicBezTo>
                  <a:lnTo>
                    <a:pt x="9398000" y="2184400"/>
                  </a:lnTo>
                  <a:cubicBezTo>
                    <a:pt x="9398000" y="2310652"/>
                    <a:pt x="9295652" y="2413000"/>
                    <a:pt x="9169400" y="2413000"/>
                  </a:cubicBezTo>
                  <a:lnTo>
                    <a:pt x="228600" y="2413000"/>
                  </a:lnTo>
                  <a:cubicBezTo>
                    <a:pt x="102348" y="2413000"/>
                    <a:pt x="0" y="2310652"/>
                    <a:pt x="0" y="2184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3EEF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39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6750" y="7239000"/>
            <a:ext cx="95250" cy="1428750"/>
            <a:chOff x="0" y="0"/>
            <a:chExt cx="127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87F8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47750" y="7277100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750" y="7724775"/>
            <a:ext cx="647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i="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Entender la normalización de Surya y sus constantes globales.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Surya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frozen: 256 tokens de 1280 dimensiones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Projector MLP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1280 → 4096 → GELU → 4096: </a:t>
            </a: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22 M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parámetros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Qwen3-8B</a:t>
            </a: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frozen lee los visual tokens y escribe el caption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receta de LLaVA (Liu et al., 2023)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Surya + projector + LLM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ARQUITECTURA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Solo se entrena el projector: 22 M de parámetros frente a 366 M de Surya.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elaboración propia, con las formas reales de cada paso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arquitectura_v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211" y="432000"/>
            <a:ext cx="7891578" cy="8568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Referencias: Liu et al. (2023), Visual Instruction Tuning (LLaVA), arXiv:2304.08485.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2362200"/>
            <a:ext cx="688657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247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316 posiciones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334000"/>
            <a:ext cx="6886575" cy="1898650"/>
            <a:chOff x="0" y="0"/>
            <a:chExt cx="9182100" cy="25315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 secuencia que lee el LLM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Encabezado, 256 visual tokens (posiciones 4 a 259), el prompt y el caption. La loss solo cuenta el caption y su token de fin (275 a 314), no el prompt ni la imagen.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ECUACIÓN  /  DATO DESTACADO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5800" y="4476750"/>
            <a:ext cx="1428750" cy="57150"/>
            <a:chOff x="0" y="0"/>
            <a:chExt cx="1905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85153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0">
                <a:solidFill>
                  <a:srgbClr val="53697A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Referencia: notebook, sección 7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elaboración propia a partir de 03_Datos/secuencia_ejemplo.json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1" id="21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2" id="22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3" name="Picture 22" descr="secuen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504000"/>
            <a:ext cx="8424000" cy="8424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1190625"/>
            <a:ext cx="68865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  <a:spcBef>
                <a:spcPct val="0"/>
              </a:spcBef>
            </a:pPr>
            <a:r>
              <a:rPr lang="en-US" sz="4400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Práctica 2: el projector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77190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 Corre las secciones 6 y 7 del notebook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 Cuenta los parámetros del projector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 Mira qué posiciones entran en la loss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CÓDIGO  ·  PRÁCTICA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0" y="762000"/>
            <a:ext cx="9239250" cy="8382000"/>
            <a:chOff x="0" y="0"/>
            <a:chExt cx="12319000" cy="1117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9000" cy="11176000"/>
            </a:xfrm>
            <a:custGeom>
              <a:avLst/>
              <a:gdLst/>
              <a:ahLst/>
              <a:cxnLst/>
              <a:rect r="r" b="b" t="t" l="l"/>
              <a:pathLst>
                <a:path h="11176000" w="12319000">
                  <a:moveTo>
                    <a:pt x="279400" y="0"/>
                  </a:moveTo>
                  <a:lnTo>
                    <a:pt x="12039600" y="0"/>
                  </a:lnTo>
                  <a:cubicBezTo>
                    <a:pt x="12193908" y="0"/>
                    <a:pt x="12319000" y="125092"/>
                    <a:pt x="12319000" y="279400"/>
                  </a:cubicBezTo>
                  <a:lnTo>
                    <a:pt x="12319000" y="10896600"/>
                  </a:lnTo>
                  <a:cubicBezTo>
                    <a:pt x="12319000" y="11050908"/>
                    <a:pt x="12193908" y="11176000"/>
                    <a:pt x="12039600" y="11176000"/>
                  </a:cubicBezTo>
                  <a:lnTo>
                    <a:pt x="279400" y="11176000"/>
                  </a:lnTo>
                  <a:cubicBezTo>
                    <a:pt x="125092" y="11176000"/>
                    <a:pt x="0" y="11050908"/>
                    <a:pt x="0" y="10896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B162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319000" cy="1121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82000" y="762000"/>
            <a:ext cx="9239250" cy="666750"/>
            <a:chOff x="0" y="0"/>
            <a:chExt cx="12319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2319000">
                  <a:moveTo>
                    <a:pt x="279400" y="0"/>
                  </a:moveTo>
                  <a:lnTo>
                    <a:pt x="12039600" y="0"/>
                  </a:lnTo>
                  <a:cubicBezTo>
                    <a:pt x="12193908" y="0"/>
                    <a:pt x="12319000" y="125092"/>
                    <a:pt x="12319000" y="279400"/>
                  </a:cubicBezTo>
                  <a:lnTo>
                    <a:pt x="12319000" y="609600"/>
                  </a:lnTo>
                  <a:cubicBezTo>
                    <a:pt x="12319000" y="763908"/>
                    <a:pt x="12193908" y="889000"/>
                    <a:pt x="12039600" y="889000"/>
                  </a:cubicBezTo>
                  <a:lnTo>
                    <a:pt x="279400" y="889000"/>
                  </a:lnTo>
                  <a:cubicBezTo>
                    <a:pt x="125092" y="889000"/>
                    <a:pt x="0" y="763908"/>
                    <a:pt x="0" y="609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31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7750" y="1009650"/>
            <a:ext cx="171450" cy="171450"/>
            <a:chOff x="0" y="0"/>
            <a:chExt cx="228600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53500" y="1009650"/>
            <a:ext cx="171450" cy="171450"/>
            <a:chOff x="0" y="0"/>
            <a:chExt cx="228600" cy="22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39250" y="1009650"/>
            <a:ext cx="171450" cy="171450"/>
            <a:chOff x="0" y="0"/>
            <a:chExt cx="228600" cy="22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28C8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715500" y="90487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0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01_Del_dato_solar_al_caption.ipynb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0125" y="1657350"/>
            <a:ext cx="476250" cy="51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  <a:p>
            <a:pPr algn="r">
              <a:lnSpc>
                <a:spcPts val="3720"/>
              </a:lnSpc>
            </a:pPr>
            <a:r>
              <a:rPr lang="en-US" sz="2325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6875" y="1657350"/>
            <a:ext cx="8096250" cy="51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def gelu(x):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    return 0.5 * x * (1.0 + erf(x / np.sqrt(2.0)))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class Proyector: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    def __call__(self, x):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        return gelu(x @ self.w1 + self.b1) @ self.w2 + self.b2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proyector = Proyector()</a:t>
            </a:r>
          </a:p>
          <a:p>
            <a:pPr algn="l">
              <a:lnSpc>
                <a:spcPts val="3720"/>
              </a:lnSpc>
            </a:pPr>
            <a:r>
              <a:rPr lang="en-US" sz="1700" i="0">
                <a:solidFill>
                  <a:srgbClr val="E6EDF3"/>
                </a:solidFill>
                <a:latin typeface="Arimo"/>
                <a:ea typeface="Arimo"/>
                <a:cs typeface="Arimo"/>
                <a:sym typeface="Arimo"/>
              </a:rPr>
              <a:t>visuales = proyector(agrupados.reshape(256, 1280))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620125" y="8001000"/>
            <a:ext cx="8763000" cy="857250"/>
            <a:chOff x="0" y="0"/>
            <a:chExt cx="116840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8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684000">
                  <a:moveTo>
                    <a:pt x="152400" y="0"/>
                  </a:moveTo>
                  <a:lnTo>
                    <a:pt x="11531600" y="0"/>
                  </a:lnTo>
                  <a:cubicBezTo>
                    <a:pt x="11615769" y="0"/>
                    <a:pt x="11684000" y="68232"/>
                    <a:pt x="11684000" y="152400"/>
                  </a:cubicBezTo>
                  <a:lnTo>
                    <a:pt x="11684000" y="990600"/>
                  </a:lnTo>
                  <a:cubicBezTo>
                    <a:pt x="11684000" y="1074768"/>
                    <a:pt x="11615769" y="1143000"/>
                    <a:pt x="11531600" y="1143000"/>
                  </a:cubicBezTo>
                  <a:lnTo>
                    <a:pt x="152400" y="1143000"/>
                  </a:lnTo>
                  <a:cubicBezTo>
                    <a:pt x="68232" y="1143000"/>
                    <a:pt x="0" y="1074768"/>
                    <a:pt x="0" y="990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68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05875" y="8210550"/>
            <a:ext cx="8382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 i="0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SALIDA  ›  (256, 4096) · 22.028.288 parámetros entrenables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6750" y="9639300"/>
            <a:ext cx="16954500" cy="19050"/>
            <a:chOff x="0" y="0"/>
            <a:chExt cx="226060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3D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1" id="31" descr="Logo GoSA"/>
          <p:cNvSpPr/>
          <p:nvPr/>
        </p:nvSpPr>
        <p:spPr>
          <a:xfrm flipH="false" flipV="false" rot="0">
            <a:off x="161925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7" r="0" b="-307"/>
            </a:stretch>
          </a:blipFill>
        </p:spPr>
      </p:sp>
      <p:sp>
        <p:nvSpPr>
          <p:cNvPr name="Freeform 32" id="32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66750" y="7048500"/>
            <a:ext cx="7048500" cy="1809750"/>
            <a:chOff x="0" y="0"/>
            <a:chExt cx="9398000" cy="241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9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398000">
                  <a:moveTo>
                    <a:pt x="228600" y="0"/>
                  </a:moveTo>
                  <a:lnTo>
                    <a:pt x="9169400" y="0"/>
                  </a:lnTo>
                  <a:cubicBezTo>
                    <a:pt x="9295652" y="0"/>
                    <a:pt x="9398000" y="102348"/>
                    <a:pt x="9398000" y="228600"/>
                  </a:cubicBezTo>
                  <a:lnTo>
                    <a:pt x="9398000" y="2184400"/>
                  </a:lnTo>
                  <a:cubicBezTo>
                    <a:pt x="9398000" y="2310652"/>
                    <a:pt x="9295652" y="2413000"/>
                    <a:pt x="9169400" y="2413000"/>
                  </a:cubicBezTo>
                  <a:lnTo>
                    <a:pt x="228600" y="2413000"/>
                  </a:lnTo>
                  <a:cubicBezTo>
                    <a:pt x="102348" y="2413000"/>
                    <a:pt x="0" y="2310652"/>
                    <a:pt x="0" y="2184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3EEF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39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6750" y="7239000"/>
            <a:ext cx="95250" cy="1428750"/>
            <a:chOff x="0" y="0"/>
            <a:chExt cx="127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87F8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47750" y="7277100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750" y="7724775"/>
            <a:ext cx="647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i="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Ver cómo los 256 tokens de Surya se vuelven vectores que el LLM puede leer.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048750" y="6561411"/>
            <a:ext cx="8858250" cy="2227536"/>
            <a:chOff x="0" y="0"/>
            <a:chExt cx="11811000" cy="317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1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1811000">
                  <a:moveTo>
                    <a:pt x="254000" y="0"/>
                  </a:moveTo>
                  <a:lnTo>
                    <a:pt x="11557000" y="0"/>
                  </a:lnTo>
                  <a:cubicBezTo>
                    <a:pt x="11697281" y="0"/>
                    <a:pt x="11811000" y="113720"/>
                    <a:pt x="11811000" y="254000"/>
                  </a:cubicBezTo>
                  <a:lnTo>
                    <a:pt x="11811000" y="2921000"/>
                  </a:lnTo>
                  <a:cubicBezTo>
                    <a:pt x="11811000" y="3061280"/>
                    <a:pt x="11697281" y="3175000"/>
                    <a:pt x="11557000" y="3175000"/>
                  </a:cubicBezTo>
                  <a:lnTo>
                    <a:pt x="254000" y="3175000"/>
                  </a:lnTo>
                  <a:cubicBezTo>
                    <a:pt x="113720" y="3175000"/>
                    <a:pt x="0" y="3061280"/>
                    <a:pt x="0" y="2921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811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1000" y="6561411"/>
            <a:ext cx="8477250" cy="2227536"/>
            <a:chOff x="0" y="0"/>
            <a:chExt cx="11303000" cy="317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03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1303000">
                  <a:moveTo>
                    <a:pt x="254000" y="0"/>
                  </a:moveTo>
                  <a:lnTo>
                    <a:pt x="11049000" y="0"/>
                  </a:lnTo>
                  <a:cubicBezTo>
                    <a:pt x="11189281" y="0"/>
                    <a:pt x="11303000" y="113720"/>
                    <a:pt x="11303000" y="254000"/>
                  </a:cubicBezTo>
                  <a:lnTo>
                    <a:pt x="11303000" y="2921000"/>
                  </a:lnTo>
                  <a:cubicBezTo>
                    <a:pt x="11303000" y="3061280"/>
                    <a:pt x="11189281" y="3175000"/>
                    <a:pt x="11049000" y="3175000"/>
                  </a:cubicBezTo>
                  <a:lnTo>
                    <a:pt x="254000" y="3175000"/>
                  </a:lnTo>
                  <a:cubicBezTo>
                    <a:pt x="113720" y="3175000"/>
                    <a:pt x="0" y="3061280"/>
                    <a:pt x="0" y="2921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03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0" y="3857625"/>
            <a:ext cx="8858250" cy="2227536"/>
            <a:chOff x="0" y="0"/>
            <a:chExt cx="11811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1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1811000">
                  <a:moveTo>
                    <a:pt x="254000" y="0"/>
                  </a:moveTo>
                  <a:lnTo>
                    <a:pt x="11557000" y="0"/>
                  </a:lnTo>
                  <a:cubicBezTo>
                    <a:pt x="11697281" y="0"/>
                    <a:pt x="11811000" y="113720"/>
                    <a:pt x="11811000" y="254000"/>
                  </a:cubicBezTo>
                  <a:lnTo>
                    <a:pt x="11811000" y="2667000"/>
                  </a:lnTo>
                  <a:cubicBezTo>
                    <a:pt x="11811000" y="2807280"/>
                    <a:pt x="11697281" y="2921000"/>
                    <a:pt x="11557000" y="2921000"/>
                  </a:cubicBezTo>
                  <a:lnTo>
                    <a:pt x="254000" y="2921000"/>
                  </a:lnTo>
                  <a:cubicBezTo>
                    <a:pt x="113720" y="2921000"/>
                    <a:pt x="0" y="2807280"/>
                    <a:pt x="0" y="2667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811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1000" y="3857625"/>
            <a:ext cx="8477250" cy="2227536"/>
            <a:chOff x="0" y="0"/>
            <a:chExt cx="11303000" cy="292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0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1303000">
                  <a:moveTo>
                    <a:pt x="254000" y="0"/>
                  </a:moveTo>
                  <a:lnTo>
                    <a:pt x="11049000" y="0"/>
                  </a:lnTo>
                  <a:cubicBezTo>
                    <a:pt x="11189281" y="0"/>
                    <a:pt x="11303000" y="113720"/>
                    <a:pt x="11303000" y="254000"/>
                  </a:cubicBezTo>
                  <a:lnTo>
                    <a:pt x="11303000" y="2667000"/>
                  </a:lnTo>
                  <a:cubicBezTo>
                    <a:pt x="11303000" y="2807280"/>
                    <a:pt x="11189281" y="2921000"/>
                    <a:pt x="11049000" y="2921000"/>
                  </a:cubicBezTo>
                  <a:lnTo>
                    <a:pt x="254000" y="2921000"/>
                  </a:lnTo>
                  <a:cubicBezTo>
                    <a:pt x="113720" y="2921000"/>
                    <a:pt x="0" y="2807280"/>
                    <a:pt x="0" y="2667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02C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30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 i="0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Resultados del prototipo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05025" y="4259580"/>
            <a:ext cx="6886575" cy="1570673"/>
            <a:chOff x="0" y="0"/>
            <a:chExt cx="9182100" cy="209423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0,557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mejor loss en las regiones held-out (epoch 15)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34675" y="6981622"/>
            <a:ext cx="6886575" cy="1570673"/>
            <a:chOff x="0" y="0"/>
            <a:chExt cx="9182100" cy="209423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29 / 55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captions que dicen «sur»; solo 12 regiones lo son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05025" y="6974320"/>
            <a:ext cx="6886575" cy="1616869"/>
            <a:chOff x="0" y="0"/>
            <a:chExt cx="9182100" cy="215582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+0,18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image gap: cuánto sube la loss si se cambia la imagen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66750" y="42443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96400" y="6972891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50" y="6967176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34675" y="4258786"/>
            <a:ext cx="6886575" cy="1570673"/>
            <a:chOff x="0" y="0"/>
            <a:chExt cx="9182100" cy="209423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9182100" cy="92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pc="-63" strike="noStrike" u="none" i="0">
                  <a:solidFill>
                    <a:srgbClr val="F5B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17 / 19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02143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hemisferio correcto en días nuevos (baseline: 7)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5800" y="208597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PRUEBA DE QUE EL FLUJO ENTRENA, NO UN RESULTADO CIENTÍFICO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85738" y="185738"/>
              <a:ext cx="1279525" cy="1279525"/>
            </a:xfrm>
            <a:custGeom>
              <a:avLst/>
              <a:gdLst/>
              <a:ahLst/>
              <a:cxnLst/>
              <a:rect r="r" b="b" t="t" l="l"/>
              <a:pathLst>
                <a:path h="1279525" w="1279525">
                  <a:moveTo>
                    <a:pt x="275166" y="639762"/>
                  </a:moveTo>
                  <a:cubicBezTo>
                    <a:pt x="275166" y="841123"/>
                    <a:pt x="438401" y="1004358"/>
                    <a:pt x="639762" y="1004358"/>
                  </a:cubicBezTo>
                  <a:cubicBezTo>
                    <a:pt x="841123" y="1004358"/>
                    <a:pt x="1004358" y="841123"/>
                    <a:pt x="1004358" y="639762"/>
                  </a:cubicBezTo>
                  <a:cubicBezTo>
                    <a:pt x="1004358" y="438401"/>
                    <a:pt x="841123" y="275166"/>
                    <a:pt x="639762" y="275166"/>
                  </a:cubicBezTo>
                  <a:cubicBezTo>
                    <a:pt x="438401" y="275166"/>
                    <a:pt x="275166" y="438401"/>
                    <a:pt x="275166" y="639762"/>
                  </a:cubicBezTo>
                  <a:close/>
                  <a:moveTo>
                    <a:pt x="1246505" y="260720"/>
                  </a:moveTo>
                  <a:cubicBezTo>
                    <a:pt x="1203867" y="188286"/>
                    <a:pt x="1047386" y="194142"/>
                    <a:pt x="836581" y="276061"/>
                  </a:cubicBezTo>
                  <a:cubicBezTo>
                    <a:pt x="625775" y="357980"/>
                    <a:pt x="393043" y="503372"/>
                    <a:pt x="226905" y="656936"/>
                  </a:cubicBezTo>
                  <a:cubicBezTo>
                    <a:pt x="60766" y="810500"/>
                    <a:pt x="-13246" y="948637"/>
                    <a:pt x="33020" y="1018804"/>
                  </a:cubicBezTo>
                  <a:cubicBezTo>
                    <a:pt x="75657" y="1091238"/>
                    <a:pt x="232138" y="1085382"/>
                    <a:pt x="442943" y="1003463"/>
                  </a:cubicBezTo>
                  <a:cubicBezTo>
                    <a:pt x="653749" y="921544"/>
                    <a:pt x="886481" y="776152"/>
                    <a:pt x="1052619" y="622588"/>
                  </a:cubicBezTo>
                  <a:cubicBezTo>
                    <a:pt x="1218758" y="469024"/>
                    <a:pt x="1292770" y="330887"/>
                    <a:pt x="1246505" y="260720"/>
                  </a:cubicBezTo>
                  <a:close/>
                  <a:moveTo>
                    <a:pt x="639762" y="110066"/>
                  </a:moveTo>
                  <a:lnTo>
                    <a:pt x="639762" y="0"/>
                  </a:lnTo>
                  <a:moveTo>
                    <a:pt x="639762" y="1279524"/>
                  </a:moveTo>
                  <a:lnTo>
                    <a:pt x="639762" y="1169458"/>
                  </a:lnTo>
                  <a:moveTo>
                    <a:pt x="110066" y="639762"/>
                  </a:moveTo>
                  <a:lnTo>
                    <a:pt x="0" y="639762"/>
                  </a:lnTo>
                  <a:moveTo>
                    <a:pt x="1279524" y="639762"/>
                  </a:moveTo>
                  <a:lnTo>
                    <a:pt x="1169458" y="639762"/>
                  </a:lnTo>
                  <a:moveTo>
                    <a:pt x="268287" y="268287"/>
                  </a:moveTo>
                  <a:lnTo>
                    <a:pt x="192616" y="192616"/>
                  </a:lnTo>
                  <a:moveTo>
                    <a:pt x="1011237" y="1011237"/>
                  </a:moveTo>
                  <a:lnTo>
                    <a:pt x="1086908" y="1086908"/>
                  </a:lnTo>
                  <a:moveTo>
                    <a:pt x="302683" y="687916"/>
                  </a:moveTo>
                  <a:lnTo>
                    <a:pt x="454024" y="687916"/>
                  </a:lnTo>
                  <a:lnTo>
                    <a:pt x="529695" y="529695"/>
                  </a:lnTo>
                  <a:lnTo>
                    <a:pt x="646641" y="804862"/>
                  </a:lnTo>
                  <a:lnTo>
                    <a:pt x="749829" y="598487"/>
                  </a:lnTo>
                  <a:lnTo>
                    <a:pt x="818620" y="687916"/>
                  </a:lnTo>
                  <a:lnTo>
                    <a:pt x="983720" y="687916"/>
                  </a:lnTo>
                </a:path>
              </a:pathLst>
            </a:custGeom>
            <a:ln w="38100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383000" y="571500"/>
            <a:ext cx="1238250" cy="1238250"/>
            <a:chOff x="0" y="0"/>
            <a:chExt cx="1651000" cy="165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183217" y="213254"/>
              <a:ext cx="220133" cy="220133"/>
            </a:xfrm>
            <a:custGeom>
              <a:avLst/>
              <a:gdLst/>
              <a:ahLst/>
              <a:cxnLst/>
              <a:rect r="r" b="b" t="t" l="l"/>
              <a:pathLst>
                <a:path h="220133" w="220133">
                  <a:moveTo>
                    <a:pt x="110066" y="0"/>
                  </a:moveTo>
                  <a:lnTo>
                    <a:pt x="137583" y="82550"/>
                  </a:lnTo>
                  <a:lnTo>
                    <a:pt x="220133" y="110067"/>
                  </a:lnTo>
                  <a:lnTo>
                    <a:pt x="137583" y="137584"/>
                  </a:lnTo>
                  <a:lnTo>
                    <a:pt x="110066" y="220134"/>
                  </a:lnTo>
                  <a:lnTo>
                    <a:pt x="82550" y="137584"/>
                  </a:lnTo>
                  <a:lnTo>
                    <a:pt x="0" y="110067"/>
                  </a:lnTo>
                  <a:lnTo>
                    <a:pt x="82550" y="825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9FB3C8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39" id="39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40" id="40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loss held-out baja hasta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0,557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 se estabiliza;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la imagen importa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con otra imagen la loss sube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 las 2 regiones del 7 ene,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«siempre norte»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gana (36/36 frente a 21/36)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aprendió a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contar manchas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(6 de 19 en días nuevos)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Datos de pocos días y captions de plantilla: aún no hay generalización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Lo que funciona y lo que no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RESULTADOS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 porcentaje global engaña: hay que comparar contra baselines y desglosar por clase.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loss curves y image gap del prototipo (run 2, 9 oct 2026)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loss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211" y="432000"/>
            <a:ext cx="7891578" cy="856800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SUVI es un instrumento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operativo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GOES-R: daría datos en vivo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Solo </a:t>
            </a:r>
            <a:r>
              <a:rPr lang="en-US" sz="22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6 de los 13</a:t>
            </a: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canales de Surya tienen equivalente en SUVI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SUVI: 1280² px a 2,5″/px; AIA: 4096² a 0,6″/px</a:t>
            </a:r>
          </a:p>
          <a:p>
            <a:pPr algn="l" marL="539748" indent="-269874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Hay cuadros de SUVI con ruido anómalo: falta un filtro de calidad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4"/>
              </a:lnSpc>
              <a:spcBef>
                <a:spcPct val="0"/>
              </a:spcBef>
            </a:pPr>
            <a:r>
              <a:rPr lang="en-US" sz="564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¿Ve Surya a través de GOES-SUVI?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MÁS ALLÁ DE SDO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 Surya transfiere, el copiloto podría trabajar con datos en vivo además de SDO.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Imagen: elaboración propia. SUVI 195 Å (GOES-18, NOAA) y AIA 193 Å (SDO, NASA), 15 mar 2023, 09:56 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0" id="20" descr="Logo GoSA"/>
          <p:cNvSpPr/>
          <p:nvPr/>
        </p:nvSpPr>
        <p:spPr>
          <a:xfrm flipH="false" flipV="false" rot="0">
            <a:off x="6858000" y="9734550"/>
            <a:ext cx="819150" cy="381000"/>
          </a:xfrm>
          <a:custGeom>
            <a:avLst/>
            <a:gdLst/>
            <a:ahLst/>
            <a:cxnLst/>
            <a:rect r="r" b="b" t="t" l="l"/>
            <a:pathLst>
              <a:path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" r="0" b="-307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782955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t="0" r="-328" b="0"/>
            </a:stretch>
          </a:blipFill>
        </p:spPr>
      </p:sp>
      <p:pic>
        <p:nvPicPr>
          <p:cNvPr id="22" name="Picture 21" descr="suvi_a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2357280"/>
            <a:ext cx="8424000" cy="4717440"/>
          </a:xfrm>
          <a:prstGeom prst="roundRect">
            <a:avLst>
              <a:gd name="adj" fmla="val 4500"/>
            </a:avLst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684000" y="9108000"/>
            <a:ext cx="76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B6B7A"/>
                </a:solidFill>
                <a:latin typeface="Arimo"/>
              </a:rPr>
              <a:t>Referencias: Darnel et al. (2022), Space Weather 20, e2022SW003044.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006850"/>
            <a:chOff x="0" y="0"/>
            <a:chExt cx="17259300" cy="53424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71D3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Conclusiones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 QUE NOS LLEVAMOS HOY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992966"/>
              <a:ext cx="13512134" cy="2349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  <a:spcBef>
                  <a:spcPct val="0"/>
                </a:spcBef>
              </a:pPr>
              <a:r>
                <a:rPr lang="en-US" sz="2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1.  El ML ya resuelve tareas solares: segmentation, super-resolution, inversión y forecasting</a:t>
              </a:r>
            </a:p>
            <a:p>
              <a:pPr algn="l" marL="0" indent="0" lvl="0">
                <a:lnSpc>
                  <a:spcPts val="4160"/>
                </a:lnSpc>
                <a:spcBef>
                  <a:spcPct val="0"/>
                </a:spcBef>
              </a:pPr>
              <a:r>
                <a:rPr lang="en-US" sz="2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2.  Los foundation models como Surya pasan de una tarea a muchas</a:t>
              </a:r>
            </a:p>
            <a:p>
              <a:pPr algn="l" marL="0" indent="0" lvl="0">
                <a:lnSpc>
                  <a:spcPts val="4160"/>
                </a:lnSpc>
                <a:spcBef>
                  <a:spcPct val="0"/>
                </a:spcBef>
              </a:pPr>
              <a:r>
                <a:rPr lang="en-US" sz="2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3.  Un projector pequeño conecta Surya con un LLM; faltan mejores datos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68250" y="2381250"/>
            <a:ext cx="4000500" cy="4000500"/>
            <a:chOff x="0" y="0"/>
            <a:chExt cx="5334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00075" y="600075"/>
              <a:ext cx="4133850" cy="4133850"/>
            </a:xfrm>
            <a:custGeom>
              <a:avLst/>
              <a:gdLst/>
              <a:ahLst/>
              <a:cxnLst/>
              <a:rect r="r" b="b" t="t" l="l"/>
              <a:pathLst>
                <a:path h="4133850" w="4133850">
                  <a:moveTo>
                    <a:pt x="889000" y="2066925"/>
                  </a:moveTo>
                  <a:cubicBezTo>
                    <a:pt x="889000" y="2717475"/>
                    <a:pt x="1416375" y="3244850"/>
                    <a:pt x="2066925" y="3244850"/>
                  </a:cubicBezTo>
                  <a:cubicBezTo>
                    <a:pt x="2717475" y="3244850"/>
                    <a:pt x="3244850" y="2717475"/>
                    <a:pt x="3244850" y="2066925"/>
                  </a:cubicBezTo>
                  <a:cubicBezTo>
                    <a:pt x="3244850" y="1416375"/>
                    <a:pt x="2717475" y="889000"/>
                    <a:pt x="2066925" y="889000"/>
                  </a:cubicBezTo>
                  <a:cubicBezTo>
                    <a:pt x="1416375" y="889000"/>
                    <a:pt x="889000" y="1416375"/>
                    <a:pt x="889000" y="2066925"/>
                  </a:cubicBezTo>
                  <a:close/>
                  <a:moveTo>
                    <a:pt x="4027170" y="842328"/>
                  </a:moveTo>
                  <a:cubicBezTo>
                    <a:pt x="3889416" y="608311"/>
                    <a:pt x="3383864" y="627231"/>
                    <a:pt x="2702801" y="891892"/>
                  </a:cubicBezTo>
                  <a:cubicBezTo>
                    <a:pt x="2021737" y="1156553"/>
                    <a:pt x="1269834" y="1626280"/>
                    <a:pt x="733078" y="2122411"/>
                  </a:cubicBezTo>
                  <a:cubicBezTo>
                    <a:pt x="196322" y="2618542"/>
                    <a:pt x="-42793" y="3064827"/>
                    <a:pt x="106680" y="3291523"/>
                  </a:cubicBezTo>
                  <a:cubicBezTo>
                    <a:pt x="244433" y="3525539"/>
                    <a:pt x="749986" y="3506619"/>
                    <a:pt x="1431049" y="3241958"/>
                  </a:cubicBezTo>
                  <a:cubicBezTo>
                    <a:pt x="2112113" y="2977297"/>
                    <a:pt x="2864016" y="2507571"/>
                    <a:pt x="3400772" y="2011439"/>
                  </a:cubicBezTo>
                  <a:cubicBezTo>
                    <a:pt x="3937528" y="1515308"/>
                    <a:pt x="4176643" y="1069023"/>
                    <a:pt x="4027170" y="842328"/>
                  </a:cubicBezTo>
                  <a:close/>
                  <a:moveTo>
                    <a:pt x="2066925" y="355600"/>
                  </a:moveTo>
                  <a:lnTo>
                    <a:pt x="2066925" y="0"/>
                  </a:lnTo>
                  <a:moveTo>
                    <a:pt x="2066925" y="4133850"/>
                  </a:moveTo>
                  <a:lnTo>
                    <a:pt x="2066925" y="3778250"/>
                  </a:lnTo>
                  <a:moveTo>
                    <a:pt x="355600" y="2066925"/>
                  </a:moveTo>
                  <a:lnTo>
                    <a:pt x="0" y="2066925"/>
                  </a:lnTo>
                  <a:moveTo>
                    <a:pt x="4133850" y="2066925"/>
                  </a:moveTo>
                  <a:lnTo>
                    <a:pt x="3778250" y="2066925"/>
                  </a:lnTo>
                  <a:moveTo>
                    <a:pt x="866775" y="866775"/>
                  </a:moveTo>
                  <a:lnTo>
                    <a:pt x="622300" y="622300"/>
                  </a:lnTo>
                  <a:moveTo>
                    <a:pt x="3267075" y="3267075"/>
                  </a:moveTo>
                  <a:lnTo>
                    <a:pt x="3511550" y="3511550"/>
                  </a:lnTo>
                  <a:moveTo>
                    <a:pt x="977900" y="2222500"/>
                  </a:moveTo>
                  <a:lnTo>
                    <a:pt x="1466850" y="2222500"/>
                  </a:lnTo>
                  <a:lnTo>
                    <a:pt x="1711325" y="1711325"/>
                  </a:lnTo>
                  <a:lnTo>
                    <a:pt x="2089150" y="2600325"/>
                  </a:lnTo>
                  <a:lnTo>
                    <a:pt x="2422525" y="1933575"/>
                  </a:lnTo>
                  <a:lnTo>
                    <a:pt x="2644775" y="2222500"/>
                  </a:lnTo>
                  <a:lnTo>
                    <a:pt x="3178175" y="2222500"/>
                  </a:lnTo>
                </a:path>
              </a:pathLst>
            </a:custGeom>
            <a:ln w="66675" cap="sq">
              <a:solidFill>
                <a:srgbClr val="071D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68250" y="2381250"/>
            <a:ext cx="4000500" cy="4000500"/>
            <a:chOff x="0" y="0"/>
            <a:chExt cx="5334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822700" y="688975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lnTo>
                    <a:pt x="444500" y="266700"/>
                  </a:lnTo>
                  <a:lnTo>
                    <a:pt x="711200" y="355600"/>
                  </a:lnTo>
                  <a:lnTo>
                    <a:pt x="444500" y="444500"/>
                  </a:lnTo>
                  <a:lnTo>
                    <a:pt x="355600" y="711200"/>
                  </a:lnTo>
                  <a:lnTo>
                    <a:pt x="266700" y="444500"/>
                  </a:lnTo>
                  <a:lnTo>
                    <a:pt x="0" y="35560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0225" y="7810500"/>
            <a:ext cx="14668500" cy="1047750"/>
            <a:chOff x="0" y="0"/>
            <a:chExt cx="19558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5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558000">
                  <a:moveTo>
                    <a:pt x="228600" y="0"/>
                  </a:moveTo>
                  <a:lnTo>
                    <a:pt x="19329400" y="0"/>
                  </a:lnTo>
                  <a:cubicBezTo>
                    <a:pt x="19455653" y="0"/>
                    <a:pt x="19558000" y="102348"/>
                    <a:pt x="19558000" y="228600"/>
                  </a:cubicBezTo>
                  <a:lnTo>
                    <a:pt x="19558000" y="1168400"/>
                  </a:lnTo>
                  <a:cubicBezTo>
                    <a:pt x="19558000" y="1294652"/>
                    <a:pt x="19455653" y="1397000"/>
                    <a:pt x="19329400" y="1397000"/>
                  </a:cubicBezTo>
                  <a:lnTo>
                    <a:pt x="228600" y="1397000"/>
                  </a:lnTo>
                  <a:cubicBezTo>
                    <a:pt x="102348" y="1397000"/>
                    <a:pt x="0" y="1294652"/>
                    <a:pt x="0" y="1168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55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90750" y="8086725"/>
            <a:ext cx="14097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 i="0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TAREA  ›  Ejercicios 1–4 del notebook (sección 9). Para seguir: HelioML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1" id="21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22" id="22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006850"/>
            <a:chOff x="0" y="0"/>
            <a:chExt cx="17259300" cy="53424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 i="0">
                  <a:solidFill>
                    <a:srgbClr val="071D3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Referencias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LECTURAS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992966"/>
              <a:ext cx="13512134" cy="2349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Asensio Ramos, Cheung, Chifu y Gafeira (2023). Machine learning in solar physics. Living Rev. Sol. Phys. 20, 4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Bobra y Mason (2018). Machine Learning, Statistics, and Data Mining for Heliophysics (HelioML). doi:10.5281/zenodo.1412824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Roy et al. (2025). Surya: Foundation Model for Heliophysics. arXiv:2508.14112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Liu et al. (2023). Visual Instruction Tuning (LLaVA). arXiv:2304.08485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Díaz Baso y Asensio Ramos (2018). Enhancing SDO/HMI images using deep learning. A&amp;A 614, A5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Bobra e Ilonidis (2016). Predicting Coronal Mass Ejections Using Machine Learning Methods. ApJ 821, 127</a:t>
              </a:r>
            </a:p>
            <a:p>
              <a:pPr algn="l" marL="0" indent="0" lvl="0">
                <a:lnSpc>
                  <a:spcPts val="2560"/>
                </a:lnSpc>
                <a:spcBef>
                  <a:spcPct val="0"/>
                </a:spcBef>
              </a:pPr>
              <a:r>
                <a:rPr lang="en-US" sz="1600" spc="-44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Reiss et al. (2021). The Observational Uncertainty of Coronal Hole Boundaries in Automated Detection Schemes. ApJ 913, 28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68250" y="2381250"/>
            <a:ext cx="4000500" cy="4000500"/>
            <a:chOff x="0" y="0"/>
            <a:chExt cx="5334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00075" y="600075"/>
              <a:ext cx="4133850" cy="4133850"/>
            </a:xfrm>
            <a:custGeom>
              <a:avLst/>
              <a:gdLst/>
              <a:ahLst/>
              <a:cxnLst/>
              <a:rect r="r" b="b" t="t" l="l"/>
              <a:pathLst>
                <a:path h="4133850" w="4133850">
                  <a:moveTo>
                    <a:pt x="889000" y="2066925"/>
                  </a:moveTo>
                  <a:cubicBezTo>
                    <a:pt x="889000" y="2717475"/>
                    <a:pt x="1416375" y="3244850"/>
                    <a:pt x="2066925" y="3244850"/>
                  </a:cubicBezTo>
                  <a:cubicBezTo>
                    <a:pt x="2717475" y="3244850"/>
                    <a:pt x="3244850" y="2717475"/>
                    <a:pt x="3244850" y="2066925"/>
                  </a:cubicBezTo>
                  <a:cubicBezTo>
                    <a:pt x="3244850" y="1416375"/>
                    <a:pt x="2717475" y="889000"/>
                    <a:pt x="2066925" y="889000"/>
                  </a:cubicBezTo>
                  <a:cubicBezTo>
                    <a:pt x="1416375" y="889000"/>
                    <a:pt x="889000" y="1416375"/>
                    <a:pt x="889000" y="2066925"/>
                  </a:cubicBezTo>
                  <a:close/>
                  <a:moveTo>
                    <a:pt x="4027170" y="842328"/>
                  </a:moveTo>
                  <a:cubicBezTo>
                    <a:pt x="3889416" y="608311"/>
                    <a:pt x="3383864" y="627231"/>
                    <a:pt x="2702801" y="891892"/>
                  </a:cubicBezTo>
                  <a:cubicBezTo>
                    <a:pt x="2021737" y="1156553"/>
                    <a:pt x="1269834" y="1626280"/>
                    <a:pt x="733078" y="2122411"/>
                  </a:cubicBezTo>
                  <a:cubicBezTo>
                    <a:pt x="196322" y="2618542"/>
                    <a:pt x="-42793" y="3064827"/>
                    <a:pt x="106680" y="3291523"/>
                  </a:cubicBezTo>
                  <a:cubicBezTo>
                    <a:pt x="244433" y="3525539"/>
                    <a:pt x="749986" y="3506619"/>
                    <a:pt x="1431049" y="3241958"/>
                  </a:cubicBezTo>
                  <a:cubicBezTo>
                    <a:pt x="2112113" y="2977297"/>
                    <a:pt x="2864016" y="2507571"/>
                    <a:pt x="3400772" y="2011439"/>
                  </a:cubicBezTo>
                  <a:cubicBezTo>
                    <a:pt x="3937528" y="1515308"/>
                    <a:pt x="4176643" y="1069023"/>
                    <a:pt x="4027170" y="842328"/>
                  </a:cubicBezTo>
                  <a:close/>
                  <a:moveTo>
                    <a:pt x="2066925" y="355600"/>
                  </a:moveTo>
                  <a:lnTo>
                    <a:pt x="2066925" y="0"/>
                  </a:lnTo>
                  <a:moveTo>
                    <a:pt x="2066925" y="4133850"/>
                  </a:moveTo>
                  <a:lnTo>
                    <a:pt x="2066925" y="3778250"/>
                  </a:lnTo>
                  <a:moveTo>
                    <a:pt x="355600" y="2066925"/>
                  </a:moveTo>
                  <a:lnTo>
                    <a:pt x="0" y="2066925"/>
                  </a:lnTo>
                  <a:moveTo>
                    <a:pt x="4133850" y="2066925"/>
                  </a:moveTo>
                  <a:lnTo>
                    <a:pt x="3778250" y="2066925"/>
                  </a:lnTo>
                  <a:moveTo>
                    <a:pt x="866775" y="866775"/>
                  </a:moveTo>
                  <a:lnTo>
                    <a:pt x="622300" y="622300"/>
                  </a:lnTo>
                  <a:moveTo>
                    <a:pt x="3267075" y="3267075"/>
                  </a:moveTo>
                  <a:lnTo>
                    <a:pt x="3511550" y="3511550"/>
                  </a:lnTo>
                  <a:moveTo>
                    <a:pt x="977900" y="2222500"/>
                  </a:moveTo>
                  <a:lnTo>
                    <a:pt x="1466850" y="2222500"/>
                  </a:lnTo>
                  <a:lnTo>
                    <a:pt x="1711325" y="1711325"/>
                  </a:lnTo>
                  <a:lnTo>
                    <a:pt x="2089150" y="2600325"/>
                  </a:lnTo>
                  <a:lnTo>
                    <a:pt x="2422525" y="1933575"/>
                  </a:lnTo>
                  <a:lnTo>
                    <a:pt x="2644775" y="2222500"/>
                  </a:lnTo>
                  <a:lnTo>
                    <a:pt x="3178175" y="2222500"/>
                  </a:lnTo>
                </a:path>
              </a:pathLst>
            </a:custGeom>
            <a:ln w="66675" cap="sq">
              <a:solidFill>
                <a:srgbClr val="071D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68250" y="2381250"/>
            <a:ext cx="4000500" cy="4000500"/>
            <a:chOff x="0" y="0"/>
            <a:chExt cx="5334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822700" y="688975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lnTo>
                    <a:pt x="444500" y="266700"/>
                  </a:lnTo>
                  <a:lnTo>
                    <a:pt x="711200" y="355600"/>
                  </a:lnTo>
                  <a:lnTo>
                    <a:pt x="444500" y="444500"/>
                  </a:lnTo>
                  <a:lnTo>
                    <a:pt x="355600" y="711200"/>
                  </a:lnTo>
                  <a:lnTo>
                    <a:pt x="266700" y="444500"/>
                  </a:lnTo>
                  <a:lnTo>
                    <a:pt x="0" y="35560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0225" y="7810500"/>
            <a:ext cx="14668500" cy="1047750"/>
            <a:chOff x="0" y="0"/>
            <a:chExt cx="19558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5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558000">
                  <a:moveTo>
                    <a:pt x="228600" y="0"/>
                  </a:moveTo>
                  <a:lnTo>
                    <a:pt x="19329400" y="0"/>
                  </a:lnTo>
                  <a:cubicBezTo>
                    <a:pt x="19455653" y="0"/>
                    <a:pt x="19558000" y="102348"/>
                    <a:pt x="19558000" y="228600"/>
                  </a:cubicBezTo>
                  <a:lnTo>
                    <a:pt x="19558000" y="1168400"/>
                  </a:lnTo>
                  <a:cubicBezTo>
                    <a:pt x="19558000" y="1294652"/>
                    <a:pt x="19455653" y="1397000"/>
                    <a:pt x="19329400" y="1397000"/>
                  </a:cubicBezTo>
                  <a:lnTo>
                    <a:pt x="228600" y="1397000"/>
                  </a:lnTo>
                  <a:cubicBezTo>
                    <a:pt x="102348" y="1397000"/>
                    <a:pt x="0" y="1294652"/>
                    <a:pt x="0" y="1168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55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90750" y="8086725"/>
            <a:ext cx="14097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 i="0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MÁS LECTURAS  ›  04_Lecturas en el repositorio de la escuela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9525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sp>
        <p:nvSpPr>
          <p:cNvPr name="Freeform 21" id="21" descr="Logo GoSA"/>
          <p:cNvSpPr/>
          <p:nvPr/>
        </p:nvSpPr>
        <p:spPr>
          <a:xfrm flipH="false" flipV="false" rot="0">
            <a:off x="16192500" y="9753600"/>
            <a:ext cx="762000" cy="352425"/>
          </a:xfrm>
          <a:custGeom>
            <a:avLst/>
            <a:gdLst/>
            <a:ahLst/>
            <a:cxnLst/>
            <a:rect r="r" b="b" t="t" l="l"/>
            <a:pathLst>
              <a:path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2" r="0" b="-592"/>
            </a:stretch>
          </a:blipFill>
        </p:spPr>
      </p:sp>
      <p:sp>
        <p:nvSpPr>
          <p:cNvPr name="Freeform 22" id="22" descr="Logo Observatorio Astronómico Nacional"/>
          <p:cNvSpPr/>
          <p:nvPr/>
        </p:nvSpPr>
        <p:spPr>
          <a:xfrm flipH="false" flipV="false" rot="0">
            <a:off x="17145000" y="9715500"/>
            <a:ext cx="457200" cy="428625"/>
          </a:xfrm>
          <a:custGeom>
            <a:avLst/>
            <a:gdLst/>
            <a:ahLst/>
            <a:cxnLst/>
            <a:rect r="r" b="b" t="t" l="l"/>
            <a:pathLst>
              <a:path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" t="0" r="-328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66750" y="3676650"/>
            <a:ext cx="688657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 desde cero para </a:t>
            </a:r>
            <a:r>
              <a:rPr lang="en-US" sz="19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Ciencia de Datos, ML e IA</a:t>
            </a:r>
          </a:p>
          <a:p>
            <a:pPr algn="l" marL="539748" indent="-269874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NumPy con datos reales de </a:t>
            </a:r>
            <a:r>
              <a:rPr lang="en-US" sz="19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TESS</a:t>
            </a:r>
            <a:r>
              <a:rPr lang="en-US" sz="19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el tránsito de WASP-18 b</a:t>
            </a:r>
          </a:p>
          <a:p>
            <a:pPr algn="l" marL="539748" indent="-269874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37" strike="noStrike" u="none" b="1" i="0">
                <a:solidFill>
                  <a:srgbClr val="071D30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Juan Esteban Agudelo Ortiz</a:t>
            </a:r>
            <a:r>
              <a:rPr lang="en-US" sz="19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(líder y guion); Thomas Gonzales, Milena Barrios y Claudia Cuellar (presentación); Santiago Pinilla y Daniel Rodríguez (edición)</a:t>
            </a:r>
          </a:p>
          <a:p>
            <a:pPr algn="l" marL="539748" indent="-269874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37" strike="noStrike" u="none" i="0">
                <a:solidFill>
                  <a:srgbClr val="071D3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 colaboración con miembros del GoSA del OAN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190625"/>
            <a:ext cx="68865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pc="-179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Datos de Ciencia en YouTube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657225"/>
            <a:ext cx="571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DATOS DE CIENCIA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7048500"/>
            <a:ext cx="7620000" cy="1905000"/>
            <a:chOff x="0" y="0"/>
            <a:chExt cx="1016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2286000"/>
                  </a:lnTo>
                  <a:cubicBezTo>
                    <a:pt x="10160000" y="2426280"/>
                    <a:pt x="10046281" y="2540000"/>
                    <a:pt x="990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71D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239000"/>
            <a:ext cx="114300" cy="1524000"/>
            <a:chOff x="0" y="0"/>
            <a:chExt cx="1524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75" y="727710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5B82E"/>
                </a:solidFill>
                <a:latin typeface="Arimo Bold"/>
                <a:ea typeface="Arimo Bold"/>
                <a:cs typeface="Arimo Bold"/>
                <a:sym typeface="Arimo Bold"/>
              </a:rPr>
              <a:t>IDEA CLAVE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" y="7772400"/>
            <a:ext cx="68580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 de hoy (arrays, normalización, imshow) está en la serie de NumPy.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Videos de @Datos.deCiencia: 1 a 3 publicados; 4 en producción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pic>
        <p:nvPicPr>
          <p:cNvPr id="22" name="Picture 21" descr="canal_vide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2093690"/>
            <a:ext cx="8424000" cy="5244619"/>
          </a:xfrm>
          <a:prstGeom prst="rect">
            <a:avLst/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71D3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2362200"/>
            <a:ext cx="688657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  <a:spcBef>
                <a:spcPct val="0"/>
              </a:spcBef>
            </a:pPr>
            <a:r>
              <a:rPr lang="en-US" sz="4400" spc="-247" strike="noStrike" u="none" i="0">
                <a:solidFill>
                  <a:srgbClr val="071D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@Datos.deCiencia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334000"/>
            <a:ext cx="6886575" cy="1898650"/>
            <a:chOff x="0" y="0"/>
            <a:chExt cx="9182100" cy="25315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 strike="noStrike" u="none" i="0">
                  <a:solidFill>
                    <a:srgbClr val="071D3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¡Suscríbete!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37" strike="noStrike" u="none" i="0">
                  <a:solidFill>
                    <a:srgbClr val="071D3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Escanea el código o busca el canal en YouTube. Los notebooks de la serie de NumPy están en github.com/Datos-De-Ciencia.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657225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 i="0">
                <a:solidFill>
                  <a:srgbClr val="087F8C"/>
                </a:solidFill>
                <a:latin typeface="Arimo Bold"/>
                <a:ea typeface="Arimo Bold"/>
                <a:cs typeface="Arimo Bold"/>
                <a:sym typeface="Arimo Bold"/>
              </a:rPr>
              <a:t>DATOS DE CIENCIA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5800" y="4476750"/>
            <a:ext cx="1428750" cy="57150"/>
            <a:chOff x="0" y="0"/>
            <a:chExt cx="1905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85153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0">
                <a:solidFill>
                  <a:srgbClr val="53697A"/>
                </a:solidFill>
                <a:latin typeface="Arimo Italics"/>
                <a:ea typeface="Arimo Italics"/>
                <a:cs typeface="Arimo Italics"/>
                <a:sym typeface="Arimo Italics"/>
              </a:rPr>
              <a:t>youtube.com/@Datos.deCiencia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91600" y="9429750"/>
            <a:ext cx="9296400" cy="857250"/>
            <a:chOff x="0" y="0"/>
            <a:chExt cx="123952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95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71D30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3952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34500" y="9696450"/>
            <a:ext cx="857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Logo del canal y código QR al canal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9772650"/>
            <a:ext cx="59055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53697A"/>
                </a:solidFill>
                <a:latin typeface="Arimo Bold"/>
                <a:ea typeface="Arimo Bold"/>
                <a:cs typeface="Arimo Bold"/>
                <a:sym typeface="Arimo Bold"/>
              </a:rPr>
              <a:t>HELIODATA ACADEMY 2026  ·  ESCUELA DE ASTROFÍSICA SOLAR</a:t>
            </a:r>
          </a:p>
        </p:txBody>
      </p:sp>
      <p:pic>
        <p:nvPicPr>
          <p:cNvPr id="23" name="Picture 22" descr="canal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00" y="2486118"/>
            <a:ext cx="8424000" cy="4459764"/>
          </a:xfrm>
          <a:prstGeom prst="rect">
            <a:avLst/>
          </a:prstGeom>
          <a:effectLst>
            <a:outerShdw blurRad="254000" dist="762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5B8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15450" y="2914650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sz="3800" spc="-57" strike="noStrike" u="none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¿Preguntas?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5B8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¡Gracias!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5450" y="3943350"/>
            <a:ext cx="8096250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Juan Esteban Agudelo Ortiz</a:t>
            </a:r>
          </a:p>
          <a:p>
            <a:pPr algn="l">
              <a:lnSpc>
                <a:spcPts val="3569"/>
              </a:lnSpc>
            </a:pPr>
            <a:r>
              <a:rPr lang="en-US" sz="2550" i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juagudeloo@unal.edu.co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5334000"/>
            <a:ext cx="1428750" cy="57150"/>
            <a:chOff x="0" y="0"/>
            <a:chExt cx="19050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15450" y="5715000"/>
            <a:ext cx="2000250" cy="2000250"/>
            <a:chOff x="0" y="0"/>
            <a:chExt cx="26670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177800" y="0"/>
                  </a:moveTo>
                  <a:lnTo>
                    <a:pt x="2489200" y="0"/>
                  </a:lnTo>
                  <a:cubicBezTo>
                    <a:pt x="2587396" y="0"/>
                    <a:pt x="2667000" y="79604"/>
                    <a:pt x="2667000" y="177800"/>
                  </a:cubicBezTo>
                  <a:lnTo>
                    <a:pt x="2667000" y="2489200"/>
                  </a:lnTo>
                  <a:cubicBezTo>
                    <a:pt x="2667000" y="2587396"/>
                    <a:pt x="2587396" y="2667000"/>
                    <a:pt x="2489200" y="2667000"/>
                  </a:cubicBezTo>
                  <a:lnTo>
                    <a:pt x="177800" y="2667000"/>
                  </a:lnTo>
                  <a:cubicBezTo>
                    <a:pt x="79604" y="2667000"/>
                    <a:pt x="0" y="2587396"/>
                    <a:pt x="0" y="2489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67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 descr="Código QR de registro a la escuela"/>
          <p:cNvSpPr/>
          <p:nvPr/>
        </p:nvSpPr>
        <p:spPr>
          <a:xfrm flipH="false" flipV="false" rot="0">
            <a:off x="9410700" y="5810250"/>
            <a:ext cx="1809750" cy="1809750"/>
          </a:xfrm>
          <a:custGeom>
            <a:avLst/>
            <a:gdLst/>
            <a:ahLst/>
            <a:cxnLst/>
            <a:rect r="r" b="b" t="t" l="l"/>
            <a:pathLst>
              <a:path h="1809750" w="1809750">
                <a:moveTo>
                  <a:pt x="0" y="0"/>
                </a:moveTo>
                <a:lnTo>
                  <a:pt x="1809750" y="0"/>
                </a:lnTo>
                <a:lnTo>
                  <a:pt x="1809750" y="1809750"/>
                </a:lnTo>
                <a:lnTo>
                  <a:pt x="0" y="180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68125" y="5772150"/>
            <a:ext cx="6096000" cy="176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Registro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tiny.cc/escuelasolar</a:t>
            </a:r>
          </a:p>
          <a:p>
            <a:pPr algn="l">
              <a:lnSpc>
                <a:spcPts val="2835"/>
              </a:lnSpc>
            </a:p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Más información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astronomiaoan.co/gosa/escuela.html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5450" y="8382000"/>
            <a:ext cx="2857500" cy="952500"/>
            <a:chOff x="0" y="0"/>
            <a:chExt cx="3810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066800"/>
                  </a:lnTo>
                  <a:cubicBezTo>
                    <a:pt x="3810000" y="1179024"/>
                    <a:pt x="3719024" y="1270000"/>
                    <a:pt x="3606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0" id="20" descr="Logo GoSA"/>
          <p:cNvSpPr/>
          <p:nvPr/>
        </p:nvSpPr>
        <p:spPr>
          <a:xfrm flipH="false" flipV="false" rot="0">
            <a:off x="9458325" y="8496300"/>
            <a:ext cx="1524000" cy="714375"/>
          </a:xfrm>
          <a:custGeom>
            <a:avLst/>
            <a:gdLst/>
            <a:ahLst/>
            <a:cxnLst/>
            <a:rect r="r" b="b" t="t" l="l"/>
            <a:pathLst>
              <a:path h="714375" w="1524000">
                <a:moveTo>
                  <a:pt x="0" y="0"/>
                </a:moveTo>
                <a:lnTo>
                  <a:pt x="1524000" y="0"/>
                </a:lnTo>
                <a:lnTo>
                  <a:pt x="1524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" t="0" r="-82" b="0"/>
            </a:stretch>
          </a:blipFill>
        </p:spPr>
      </p:sp>
      <p:sp>
        <p:nvSpPr>
          <p:cNvPr name="Freeform 21" id="21" descr="Logo Observatorio Astronómico Nacional"/>
          <p:cNvSpPr/>
          <p:nvPr/>
        </p:nvSpPr>
        <p:spPr>
          <a:xfrm flipH="false" flipV="false" rot="0">
            <a:off x="11163300" y="8477250"/>
            <a:ext cx="819150" cy="762000"/>
          </a:xfrm>
          <a:custGeom>
            <a:avLst/>
            <a:gdLst/>
            <a:ahLst/>
            <a:cxnLst/>
            <a:rect r="r" b="b" t="t" l="l"/>
            <a:pathLst>
              <a:path h="762000" w="819150">
                <a:moveTo>
                  <a:pt x="0" y="0"/>
                </a:moveTo>
                <a:lnTo>
                  <a:pt x="819150" y="0"/>
                </a:lnTo>
                <a:lnTo>
                  <a:pt x="8191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1" r="0" b="-6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430125" y="8515350"/>
            <a:ext cx="5334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Organiza: Group of Solar Astrophysics GoSA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Observatorio Astronómico Nacional · UNAL Bogotá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287750" y="666750"/>
            <a:ext cx="1333500" cy="1333500"/>
            <a:chOff x="0" y="0"/>
            <a:chExt cx="1778000" cy="177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00025" y="200025"/>
              <a:ext cx="1377950" cy="1377950"/>
            </a:xfrm>
            <a:custGeom>
              <a:avLst/>
              <a:gdLst/>
              <a:ahLst/>
              <a:cxnLst/>
              <a:rect r="r" b="b" t="t" l="l"/>
              <a:pathLst>
                <a:path h="1377950" w="1377950">
                  <a:moveTo>
                    <a:pt x="296333" y="688975"/>
                  </a:moveTo>
                  <a:cubicBezTo>
                    <a:pt x="296333" y="905825"/>
                    <a:pt x="472125" y="1081617"/>
                    <a:pt x="688975" y="1081617"/>
                  </a:cubicBezTo>
                  <a:cubicBezTo>
                    <a:pt x="905825" y="1081617"/>
                    <a:pt x="1081617" y="905825"/>
                    <a:pt x="1081617" y="688975"/>
                  </a:cubicBezTo>
                  <a:cubicBezTo>
                    <a:pt x="1081617" y="472125"/>
                    <a:pt x="905825" y="296333"/>
                    <a:pt x="688975" y="296333"/>
                  </a:cubicBezTo>
                  <a:cubicBezTo>
                    <a:pt x="472125" y="296333"/>
                    <a:pt x="296333" y="472125"/>
                    <a:pt x="296333" y="688975"/>
                  </a:cubicBezTo>
                  <a:close/>
                  <a:moveTo>
                    <a:pt x="1342390" y="280776"/>
                  </a:moveTo>
                  <a:cubicBezTo>
                    <a:pt x="1296472" y="202770"/>
                    <a:pt x="1127955" y="209077"/>
                    <a:pt x="900934" y="297297"/>
                  </a:cubicBezTo>
                  <a:cubicBezTo>
                    <a:pt x="673912" y="385518"/>
                    <a:pt x="423278" y="542093"/>
                    <a:pt x="244359" y="707470"/>
                  </a:cubicBezTo>
                  <a:cubicBezTo>
                    <a:pt x="65441" y="872847"/>
                    <a:pt x="-14264" y="1021609"/>
                    <a:pt x="35560" y="1097174"/>
                  </a:cubicBezTo>
                  <a:cubicBezTo>
                    <a:pt x="81478" y="1175180"/>
                    <a:pt x="249995" y="1168873"/>
                    <a:pt x="477016" y="1080653"/>
                  </a:cubicBezTo>
                  <a:cubicBezTo>
                    <a:pt x="704038" y="992432"/>
                    <a:pt x="954672" y="835857"/>
                    <a:pt x="1133591" y="670480"/>
                  </a:cubicBezTo>
                  <a:cubicBezTo>
                    <a:pt x="1312509" y="505103"/>
                    <a:pt x="1392214" y="356341"/>
                    <a:pt x="1342390" y="280776"/>
                  </a:cubicBezTo>
                  <a:close/>
                  <a:moveTo>
                    <a:pt x="688975" y="118533"/>
                  </a:moveTo>
                  <a:lnTo>
                    <a:pt x="688975" y="0"/>
                  </a:lnTo>
                  <a:moveTo>
                    <a:pt x="688975" y="1377950"/>
                  </a:moveTo>
                  <a:lnTo>
                    <a:pt x="688975" y="1259417"/>
                  </a:lnTo>
                  <a:moveTo>
                    <a:pt x="118533" y="688975"/>
                  </a:moveTo>
                  <a:lnTo>
                    <a:pt x="0" y="688975"/>
                  </a:lnTo>
                  <a:moveTo>
                    <a:pt x="1377950" y="688975"/>
                  </a:moveTo>
                  <a:lnTo>
                    <a:pt x="1259417" y="688975"/>
                  </a:lnTo>
                  <a:moveTo>
                    <a:pt x="288925" y="288925"/>
                  </a:moveTo>
                  <a:lnTo>
                    <a:pt x="207433" y="207433"/>
                  </a:lnTo>
                  <a:moveTo>
                    <a:pt x="1089025" y="1089025"/>
                  </a:moveTo>
                  <a:lnTo>
                    <a:pt x="1170517" y="1170517"/>
                  </a:lnTo>
                  <a:moveTo>
                    <a:pt x="325967" y="740833"/>
                  </a:moveTo>
                  <a:lnTo>
                    <a:pt x="488950" y="740833"/>
                  </a:lnTo>
                  <a:lnTo>
                    <a:pt x="570442" y="570442"/>
                  </a:lnTo>
                  <a:lnTo>
                    <a:pt x="696383" y="866775"/>
                  </a:lnTo>
                  <a:lnTo>
                    <a:pt x="807508" y="644525"/>
                  </a:lnTo>
                  <a:lnTo>
                    <a:pt x="881592" y="740833"/>
                  </a:lnTo>
                  <a:lnTo>
                    <a:pt x="1059392" y="740833"/>
                  </a:lnTo>
                </a:path>
              </a:pathLst>
            </a:custGeom>
            <a:ln w="38100" cap="sq">
              <a:solidFill>
                <a:srgbClr val="F5B82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287750" y="666750"/>
            <a:ext cx="1333500" cy="1333500"/>
            <a:chOff x="0" y="0"/>
            <a:chExt cx="1778000" cy="177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4233" y="229658"/>
              <a:ext cx="237067" cy="237067"/>
            </a:xfrm>
            <a:custGeom>
              <a:avLst/>
              <a:gdLst/>
              <a:ahLst/>
              <a:cxnLst/>
              <a:rect r="r" b="b" t="t" l="l"/>
              <a:pathLst>
                <a:path h="237067" w="237067">
                  <a:moveTo>
                    <a:pt x="118534" y="0"/>
                  </a:moveTo>
                  <a:lnTo>
                    <a:pt x="148167" y="88900"/>
                  </a:lnTo>
                  <a:lnTo>
                    <a:pt x="237067" y="118534"/>
                  </a:lnTo>
                  <a:lnTo>
                    <a:pt x="148167" y="148167"/>
                  </a:lnTo>
                  <a:lnTo>
                    <a:pt x="118534" y="237067"/>
                  </a:lnTo>
                  <a:lnTo>
                    <a:pt x="88900" y="148167"/>
                  </a:lnTo>
                  <a:lnTo>
                    <a:pt x="0" y="118534"/>
                  </a:lnTo>
                  <a:lnTo>
                    <a:pt x="88900" y="88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HelioData Academy 2026</dc:description>
  <dc:identifier>DAHV1papYog</dc:identifier>
  <dcterms:modified xsi:type="dcterms:W3CDTF">2011-08-01T06:04:30Z</dcterms:modified>
  <cp:revision>1</cp:revision>
  <dc:title>Machine Learning aplicado al estudio del Sol</dc:title>
  <dc:creator>Juan Esteban Agudelo Ortiz</dc:creator>
</cp:coreProperties>
</file>