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6" r:id="rId22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</p:sldIdLst>
  <p:sldSz cx="18288000" cy="10287000"/>
  <p:notesSz cx="6858000" cy="9144000"/>
  <p:embeddedFontLst>
    <p:embeddedFont>
      <p:font typeface="Helvetica World" charset="1" panose="020B0500040000020004"/>
      <p:regular r:id="rId16"/>
    </p:embeddedFont>
    <p:embeddedFont>
      <p:font typeface="Georgia Pro Condensed" charset="1" panose="02040506050405020303"/>
      <p:regular r:id="rId17"/>
    </p:embeddedFont>
    <p:embeddedFont>
      <p:font typeface="Arimo Bold" charset="1" panose="020B0704020202020204"/>
      <p:regular r:id="rId18"/>
    </p:embeddedFont>
    <p:embeddedFont>
      <p:font typeface="Arimo" charset="1" panose="020B0604020202020204"/>
      <p:regular r:id="rId19"/>
    </p:embeddedFont>
    <p:embeddedFont>
      <p:font typeface="Helvetica World Bold" charset="1" panose="020B0800040000020004"/>
      <p:regular r:id="rId20"/>
    </p:embeddedFont>
    <p:embeddedFont>
      <p:font typeface="Arimo Italics" charset="1" panose="020B06040202020902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Sesión del jueves 29 de octubre de 2026, dos horas. Tres bloques: conceptos, aplicaciones en física solar y mi investigación, con dos momentos de práctica en el notebook (corre en CPU, sin GPU).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Tiempos propuestos: 20 + 25 + 60 + 15 de discusión = 120 min. Las prácticas son las secciones 1 a 5 y 6 a 7 del notebook 01_Del_dato_solar_al_caption.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Conceptos mínimos, con ejemplos solares tomados de la revisión de Asensio Ramos et al. (2023), Living Reviews in Solar Physics 20,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misma pregunta de flares puede plantearse como clasificación (¿habrá una M o mayor?) o como regresión (flujo máximo de rayos X en 24 h): revisión, sección 1.1.1. El ejemplo unsupervised de la revisión es hacer clustering de perfiles de Stokes por su forma (sección 1.2). Para cerrar la lámina: Con labels confiables, supervised; para explorar datos sin labels, unsupervised.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Arquitecturas de la revisión, sección 5.1 (CNN, RNN, atención y transformers). La figura es la arquitectura de Surya: bloques espectrales y de atención de corto y largo alcance; la retomamos en el bloque 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cuatro palabras vuelven en toda la sesión: la U-Net de agujeros coronales minimiza una loss (binary cross-entropy), en los flares hay que comparar contra un baseline porque los flares grandes son raros, y los resultados del prototipo se miden en regiones held-out contra baselines. Si el modelo solo mejora en train y no en held-out, memorizó (overfitting).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Ejemplos de la revisión de Asensio Ramos et al. (2023) y del libro HelioML, más MUISCA, nuestro trabajo en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cerrar la lámina: vemos cuatro casos (agujeros coronales, flares y CME, HelioML y MUISCA). La lista completa de la sección 7 de la revisión (Asensio Ramos et al. 2023): 7.1 segmentation, 7.2 classification, 7.3 y 7.4 flare prediction y modelos explicables, 7.5 heliosfera y space weather, 7.6 ciclo solar, 7.7 inversión de Stokes (acelerar y caracterizar la incertidumbre), 7.8 reconstrucción 3D de la corona, 7.9 deconvolution, 7.10 image-to-image: datos sintéticos, velocidades, super-resolution, denoising, desaturación y far-side imaging. HelioML añade otras, como la estimación de DEM (DeepEM). No las vamos a ver todas: elegimos cuatro casos para ver cómo se plantea cada tipo de problema. Cifras para tener a mano: U-Net con 2385 mapas (7.1); Enhance lleva el píxel de HMI de 0,5″ a 0,25″ y puede crear artefactos (7.10.3); SICON invierte un mapa de 512 × 512 de Hinode en ≈ 200 ms (7.7.1); FarNet detecta ≈ 47 % más regiones del far side a iguales falsos positivos (7.10.6).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sección 7.1. La U-Net de Illarionov y Tlatov (2018) se entrenó con 2385 mapas binarios de la estación de Kislovodsk y la loss es la binary cross-entropy (ec. 51): L = −Σ [y log ŷ + (1−y) log(1−ŷ)], con y el label del píxel y ŷ la probabilidad predicha. Frente a CHIMERA, la correlación del área fue 0,76. CHRONNOS (Jarolim et al. 2021) usa siete canales EUV más el magnetograma y distingue agujeros de canales de protuberancias. La figura es de Reiss et al. (2021): nueve métodos (entre ellos CNN193 y CHRONNOS) sobre el mismo agujero; coinciden en el centro y difieren en los bordes, lo que cambia el viento solar predicho.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secciones 7.3 y 7.3.6; HelioML, capítulo 1 (Bobra e Ilonidis 2016, ApJ 821, 127). La figura es el recorte del notebook: los 13 canales de la AR 11944 a las 18:24 UT, en pleno flare X1.2.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figura sale del notebook del capítulo 1 (helioml.org/02/notebook.html): qué tanto separa cada parámetro SHARP las regiones con y sin CME; la helicidad de corriente media es la que más separa. Nueve capítulos con notebook: CME, Enhance, DEM, centelleo, espectros de regiones con flares, far side, cruces de la magnetopausa, electrones de MeV y regiones fuente del viento solar. Licencia CC BY-NC-ND 4.0. Buen sitio para practicar después de la sesión.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Trabajo en curso; el artículo está en preparación. Todo sale del resumen del borrador: evaluado en un paso de MURaM held-out y en cuatro regiones de Hinode/SOT-SP del catálogo MODEST, comparando con las inversiones 2D de SPINOR. La mancha está fuera del rango de campos del entrenamiento. Arriba, la arquitectura; abajo, B_LOS: verdad de SPINOR, baseline y cada variante, con el error en la fila inferior.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Según el resumen de Surya (Roy et al. 2025), se evaluó zero-shot en forecasting de dinámica solar y de flares, y con fine-tuning (LoRA) en viento solar, segmentation de regiones activas, flares y espectros EUV. Para cerrar la lámina: Nuestra pregunta: ¿se pueden traducir los embeddings de Surya al lenguaje?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Presento el prototipo de vision-language model (VLM) sobre Surya, con dos prácticas 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copiloto es la meta a largo plazo; el VLM que describe una observación es el primer eslabón. Transición: para enseñarle a un modelo a describir, hacen falta pares observación–caption; ¿de dónde salen?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pipeline de artículos busca en NASA ADS, extrae figuras, lee metadatos con un LLM y ubica el evento en HEK; la comparación con plantilla la diseñó e implementó Julio Flórez. Ejemplo de caption de plantilla: «An active region in the southern hemisphere on the east side of the disk (S05 E32) with 1 sunspot. It is a small single unipolar sunspot.» Transición: ya sabemos qué texto queremos; ahora, qué ve el modelo de la imagen. Para cerrar la lámina: El prototipo usa el catálogo; los artículos llegan cuando el pipeline madure.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cuadros de entrada separados 60 min, cadencia de 12 min. Nunca se entrenó para hablar: sus embeddings no están alineados con el lenguaje.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histogramas muestran qué hace cada paso: el signed log comprime la cola larga de valores brillantes; la standardization con constantes globales deja los píxeles del flare a cientos de desviaciones. Las constantes vienen de scalers.yaml. Cifras reales de la imagen del 7 de enero de 2014, 18:24 UT: mínimo −0,526 y máximo 219,601 tras normalizar aia94.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caja viene de los reportes de regiones activas de NOAA (vía HEK). El pooling numpy del notebook coincide con el de torch (diferencia máxima 6e-8). Transición: ahora lo hacen ustedes, del dato crudo a los 256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15 min. Celda de la sección 2 del notebook (sin el bucle de impresión). Después, secciones 3 a 5: región de interés, tokens y pooling. Pregunta de la sección 4 para discutir: ¿qué estructuras de la imagen se ven en el mapa de normas de los tokens? Transición: ya tenemos 256 tokens de 1280 números; el LLM espera vectores de 4096.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Seguir la figura de arriba abajo con las formas de los tensores. Por qué no lineal: Surya se entrenó para pronosticar, no para alinearse con texto. Como Surya está frozen, los embeddings se calculan una vez y se guardan; Surya y el LLM nunca comparten memoria de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real: el caption de plantilla de la AR 11892 (9 nov 2013), 40 tokens con el &lt;|im_end|&gt;; posiciones calculadas con el tokenizer de Qwen3-8B y el mismo código del entrenamiento. Entre el prompt y el caption hay un bloque &lt;think&gt;&lt;/think&gt; vacío: Qwen3 puede razonar antes de responder y aquí ese modo está apagado. Transición: ahora lo ven 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Extracto de la sección 6 (sin docstrings ni __init__). Los pesos son aleatorios: solo sirve para ver las formas. ≈ 10 min. Transición: con el projector entrenado (en GPU, fuera de la clase), ¿qué aprendió?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2: 139 muestras de entrenamiento y 55 held-out. 0,557 y +0,18 salen del log de entrenamiento (la siguiente lámina los muestra en las curvas); el image gap es el promedio de las epochs 5 a 20. 17/19 está en la sección 8 del notebook; 29/55 sale del ejercicio 4. Recordar la lámina de entrenar y evaluar: todo se mide en held-out y contra un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la sección 8 del notebook: seis captions generados y la tabla contra los baselines. La loss en train sigue bajando mientras la held-out se estanca desde la epoch 9: más epochs no ayudan con 139 muestras. Error de longitud grande (31° en días nuevos). La evaluación completa tendrá tres niveles: métricas léxicas, un LLM como juez y revisión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Algunos cuadros de SUVI de ese día salen como ruido (p. ej. el de las 09:21 UT); se muestra uno limpio de las 09:56. Proyecto complementario con un colaborador externo. SUVI: Darnel et al. (2022), Space Weather 20, e2022SW003044. GOES no lleva magnetógrafo, así que los canales de HMI no tienen equivalente.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con las tres ideas y dejar la tarea: los ejercicios 1 a 4 del notebook; las soluciones están en 05_Recursos_adicionales/soluciones_ejercicios.ipynb. Luego,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Enlaces completos en 04_Lecturas/README.md.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Iniciativa independiente; sin logos institucionales en esta lámina. Notebooks de la serie: github.com/Datos-De-Ciencia/series-numpy-curva-de-luz.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Invitar a escanear el QR con el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y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1.png"/><Relationship Id="rId6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4.png"/><Relationship Id="rId6" Type="http://schemas.openxmlformats.org/officeDocument/2006/relationships/notesSlide" Target="../notesSlides/notesSlide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.jpe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31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-12700"/>
            <a:ext cx="11201400" cy="10299700"/>
            <a:chOff x="0" y="0"/>
            <a:chExt cx="963348" cy="88579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63348" cy="885799"/>
            </a:xfrm>
            <a:custGeom>
              <a:avLst/>
              <a:gdLst/>
              <a:ahLst/>
              <a:cxnLst/>
              <a:rect r="r" b="b" t="t" l="l"/>
              <a:pathLst>
                <a:path h="885799" w="963348">
                  <a:moveTo>
                    <a:pt x="0" y="0"/>
                  </a:moveTo>
                  <a:lnTo>
                    <a:pt x="963348" y="0"/>
                  </a:lnTo>
                  <a:lnTo>
                    <a:pt x="963348" y="885799"/>
                  </a:lnTo>
                  <a:lnTo>
                    <a:pt x="0" y="885799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868150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857250" y="7400925"/>
            <a:ext cx="952500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5"/>
              </a:lnSpc>
              <a:spcBef>
                <a:spcPct val="0"/>
              </a:spcBef>
            </a:pPr>
            <a:r>
              <a:rPr lang="en-US" sz="2250" spc="-33" strike="noStrike" u="none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Juan Esteban Agudelo Ortiz  ·  OAN, Universidad Nacional de Colombia  ·  29 oct 2026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7250" y="1809750"/>
            <a:ext cx="9754495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HelioData</a:t>
            </a:r>
          </a:p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Academy 2026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76300" y="847725"/>
            <a:ext cx="9525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ESCUELA DE ASTROFÍSICA SOLAR  ·  OCTUBRE 2026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76300" y="466725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857250" y="5076825"/>
            <a:ext cx="9525000" cy="699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0"/>
              </a:lnSpc>
            </a:pPr>
            <a:r>
              <a:rPr lang="en-US" sz="3200" b="true" i="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Machine Learning aplicado al estudio del Sol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7250" y="5895975"/>
            <a:ext cx="76200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 i="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Del dato solar al lenguaje: aplicaciones y un copiloto de física solar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357188" y="357188"/>
              <a:ext cx="2460625" cy="2460625"/>
            </a:xfrm>
            <a:custGeom>
              <a:avLst/>
              <a:gdLst/>
              <a:ahLst/>
              <a:cxnLst/>
              <a:rect r="r" b="b" t="t" l="l"/>
              <a:pathLst>
                <a:path h="2460625" w="2460625">
                  <a:moveTo>
                    <a:pt x="529166" y="1230312"/>
                  </a:moveTo>
                  <a:cubicBezTo>
                    <a:pt x="529166" y="1617544"/>
                    <a:pt x="843080" y="1931458"/>
                    <a:pt x="1230312" y="1931458"/>
                  </a:cubicBezTo>
                  <a:cubicBezTo>
                    <a:pt x="1617544" y="1931458"/>
                    <a:pt x="1931458" y="1617544"/>
                    <a:pt x="1931458" y="1230312"/>
                  </a:cubicBezTo>
                  <a:cubicBezTo>
                    <a:pt x="1931458" y="843080"/>
                    <a:pt x="1617544" y="529166"/>
                    <a:pt x="1230312" y="529166"/>
                  </a:cubicBezTo>
                  <a:cubicBezTo>
                    <a:pt x="843080" y="529166"/>
                    <a:pt x="529166" y="843080"/>
                    <a:pt x="529166" y="1230312"/>
                  </a:cubicBezTo>
                  <a:close/>
                  <a:moveTo>
                    <a:pt x="2397124" y="501385"/>
                  </a:moveTo>
                  <a:cubicBezTo>
                    <a:pt x="2315128" y="362089"/>
                    <a:pt x="2014204" y="373351"/>
                    <a:pt x="1608809" y="530888"/>
                  </a:cubicBezTo>
                  <a:cubicBezTo>
                    <a:pt x="1203414" y="688424"/>
                    <a:pt x="755853" y="968023"/>
                    <a:pt x="436355" y="1263339"/>
                  </a:cubicBezTo>
                  <a:cubicBezTo>
                    <a:pt x="116858" y="1558655"/>
                    <a:pt x="-25473" y="1824302"/>
                    <a:pt x="63500" y="1959239"/>
                  </a:cubicBezTo>
                  <a:cubicBezTo>
                    <a:pt x="145496" y="2098535"/>
                    <a:pt x="446420" y="2087273"/>
                    <a:pt x="851815" y="1929736"/>
                  </a:cubicBezTo>
                  <a:cubicBezTo>
                    <a:pt x="1257210" y="1772200"/>
                    <a:pt x="1704771" y="1492601"/>
                    <a:pt x="2024269" y="1197285"/>
                  </a:cubicBezTo>
                  <a:cubicBezTo>
                    <a:pt x="2343766" y="901969"/>
                    <a:pt x="2486097" y="636323"/>
                    <a:pt x="2397124" y="501385"/>
                  </a:cubicBezTo>
                  <a:close/>
                  <a:moveTo>
                    <a:pt x="1230312" y="211666"/>
                  </a:moveTo>
                  <a:lnTo>
                    <a:pt x="1230312" y="0"/>
                  </a:lnTo>
                  <a:moveTo>
                    <a:pt x="1230312" y="2460624"/>
                  </a:moveTo>
                  <a:lnTo>
                    <a:pt x="1230312" y="2248958"/>
                  </a:lnTo>
                  <a:moveTo>
                    <a:pt x="211666" y="1230312"/>
                  </a:moveTo>
                  <a:lnTo>
                    <a:pt x="0" y="1230312"/>
                  </a:lnTo>
                  <a:moveTo>
                    <a:pt x="2460624" y="1230312"/>
                  </a:moveTo>
                  <a:lnTo>
                    <a:pt x="2248958" y="1230312"/>
                  </a:lnTo>
                  <a:moveTo>
                    <a:pt x="515937" y="515937"/>
                  </a:moveTo>
                  <a:lnTo>
                    <a:pt x="370416" y="370416"/>
                  </a:lnTo>
                  <a:moveTo>
                    <a:pt x="1944687" y="1944687"/>
                  </a:moveTo>
                  <a:lnTo>
                    <a:pt x="2090208" y="2090208"/>
                  </a:lnTo>
                  <a:moveTo>
                    <a:pt x="582083" y="1322916"/>
                  </a:moveTo>
                  <a:lnTo>
                    <a:pt x="873124" y="1322916"/>
                  </a:lnTo>
                  <a:lnTo>
                    <a:pt x="1018645" y="1018645"/>
                  </a:lnTo>
                  <a:lnTo>
                    <a:pt x="1243541" y="1547812"/>
                  </a:lnTo>
                  <a:lnTo>
                    <a:pt x="1441979" y="1150937"/>
                  </a:lnTo>
                  <a:lnTo>
                    <a:pt x="1574270" y="1322916"/>
                  </a:lnTo>
                  <a:lnTo>
                    <a:pt x="1891770" y="1322916"/>
                  </a:lnTo>
                </a:path>
              </a:pathLst>
            </a:custGeom>
            <a:ln w="6667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2275417" y="410104"/>
              <a:ext cx="423333" cy="423333"/>
            </a:xfrm>
            <a:custGeom>
              <a:avLst/>
              <a:gdLst/>
              <a:ahLst/>
              <a:cxnLst/>
              <a:rect r="r" b="b" t="t" l="l"/>
              <a:pathLst>
                <a:path h="423333" w="423333">
                  <a:moveTo>
                    <a:pt x="211666" y="0"/>
                  </a:moveTo>
                  <a:lnTo>
                    <a:pt x="264583" y="158750"/>
                  </a:lnTo>
                  <a:lnTo>
                    <a:pt x="423333" y="211667"/>
                  </a:lnTo>
                  <a:lnTo>
                    <a:pt x="264583" y="264584"/>
                  </a:lnTo>
                  <a:lnTo>
                    <a:pt x="211666" y="423334"/>
                  </a:lnTo>
                  <a:lnTo>
                    <a:pt x="158750" y="264584"/>
                  </a:lnTo>
                  <a:lnTo>
                    <a:pt x="0" y="211667"/>
                  </a:lnTo>
                  <a:lnTo>
                    <a:pt x="158750" y="1587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57250" y="8905875"/>
            <a:ext cx="3143250" cy="1000125"/>
            <a:chOff x="0" y="0"/>
            <a:chExt cx="4191000" cy="1333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191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4191000">
                  <a:moveTo>
                    <a:pt x="228600" y="0"/>
                  </a:moveTo>
                  <a:lnTo>
                    <a:pt x="3962400" y="0"/>
                  </a:lnTo>
                  <a:cubicBezTo>
                    <a:pt x="4088652" y="0"/>
                    <a:pt x="4191000" y="102348"/>
                    <a:pt x="4191000" y="228600"/>
                  </a:cubicBezTo>
                  <a:lnTo>
                    <a:pt x="4191000" y="1104900"/>
                  </a:lnTo>
                  <a:cubicBezTo>
                    <a:pt x="4191000" y="1231152"/>
                    <a:pt x="4088652" y="1333500"/>
                    <a:pt x="3962400" y="1333500"/>
                  </a:cubicBezTo>
                  <a:lnTo>
                    <a:pt x="228600" y="1333500"/>
                  </a:lnTo>
                  <a:cubicBezTo>
                    <a:pt x="102348" y="1333500"/>
                    <a:pt x="0" y="1231152"/>
                    <a:pt x="0" y="11049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4191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3" id="23" descr="Logo Group of Solar Astrophysics GoSA"/>
          <p:cNvSpPr/>
          <p:nvPr/>
        </p:nvSpPr>
        <p:spPr>
          <a:xfrm flipH="false" flipV="false" rot="0">
            <a:off x="1028700" y="9029700"/>
            <a:ext cx="1619250" cy="762000"/>
          </a:xfrm>
          <a:custGeom>
            <a:avLst/>
            <a:gdLst/>
            <a:ahLst/>
            <a:cxnLst/>
            <a:rect r="r" b="b" t="t" l="l"/>
            <a:pathLst>
              <a:path h="762000" w="1619250">
                <a:moveTo>
                  <a:pt x="0" y="0"/>
                </a:moveTo>
                <a:lnTo>
                  <a:pt x="1619250" y="0"/>
                </a:lnTo>
                <a:lnTo>
                  <a:pt x="16192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8" t="0" r="-278" b="0"/>
            </a:stretch>
          </a:blipFill>
        </p:spPr>
      </p:sp>
      <p:sp>
        <p:nvSpPr>
          <p:cNvPr name="Freeform 24" id="24" descr="Logo Observatorio Astronómico Nacional"/>
          <p:cNvSpPr/>
          <p:nvPr/>
        </p:nvSpPr>
        <p:spPr>
          <a:xfrm flipH="false" flipV="false" rot="0">
            <a:off x="2857500" y="8991600"/>
            <a:ext cx="895350" cy="838200"/>
          </a:xfrm>
          <a:custGeom>
            <a:avLst/>
            <a:gdLst/>
            <a:ahLst/>
            <a:cxnLst/>
            <a:rect r="r" b="b" t="t" l="l"/>
            <a:pathLst>
              <a:path h="838200" w="895350">
                <a:moveTo>
                  <a:pt x="0" y="0"/>
                </a:moveTo>
                <a:lnTo>
                  <a:pt x="895350" y="0"/>
                </a:lnTo>
                <a:lnTo>
                  <a:pt x="89535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57" t="0" r="-257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4286250" y="8982075"/>
            <a:ext cx="66675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Group of Solar Astrophysics GoSA</a:t>
            </a:r>
          </a:p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9118" y="3367087"/>
            <a:ext cx="5445932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Conceptos de 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9118" y="5105400"/>
            <a:ext cx="5445932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Supervised y unsupervised, deep learning, y cómo se entrena y se evalúa un modelo. (≈ 20 min)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419850" y="3367087"/>
            <a:ext cx="5446184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Aplicaciones en física solar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21966" y="5105400"/>
            <a:ext cx="5446184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Segmentation, super-resolution, inversión y forecasting; HelioML y MUISCA. (≈ 25 min)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172950" y="3367087"/>
            <a:ext cx="544830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172950" y="5105400"/>
            <a:ext cx="5448300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Surya, pares imagen–texto, projector y resultados, con dos prácticas. (≈ 60 min + 15 de discusión)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9118" y="4248150"/>
            <a:ext cx="323850" cy="323850"/>
            <a:chOff x="0" y="0"/>
            <a:chExt cx="6350000" cy="6350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421966" y="4248150"/>
            <a:ext cx="323850" cy="323850"/>
            <a:chOff x="0" y="0"/>
            <a:chExt cx="6350000" cy="6350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172950" y="4248150"/>
            <a:ext cx="323850" cy="323850"/>
            <a:chOff x="0" y="0"/>
            <a:chExt cx="6350000" cy="6350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</a:pPr>
            <a:r>
              <a:rPr lang="en-US" sz="800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Agenda de la sesión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667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4198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1729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5800" y="194310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RUTA DE LA SESIÓN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087F8C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9" id="29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1" id="31"/>
          <p:cNvGrpSpPr/>
          <p:nvPr/>
        </p:nvGrpSpPr>
        <p:grpSpPr>
          <a:xfrm rot="0">
            <a:off x="828675" y="4391025"/>
            <a:ext cx="16792575" cy="28575"/>
            <a:chOff x="0" y="0"/>
            <a:chExt cx="22390100" cy="381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390100" cy="38100"/>
            </a:xfrm>
            <a:custGeom>
              <a:avLst/>
              <a:gdLst/>
              <a:ahLst/>
              <a:cxnLst/>
              <a:rect r="r" b="b" t="t" l="l"/>
              <a:pathLst>
                <a:path h="38100" w="22390100">
                  <a:moveTo>
                    <a:pt x="0" y="0"/>
                  </a:moveTo>
                  <a:lnTo>
                    <a:pt x="22390100" y="0"/>
                  </a:lnTo>
                  <a:lnTo>
                    <a:pt x="223901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223901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400"/>
              </a:lnSpc>
              <a:spcBef>
                <a:spcPct val="0"/>
              </a:spcBef>
            </a:pPr>
            <a:r>
              <a:rPr lang="en-US" sz="8000" spc="-240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Machine Learning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 i="0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 i="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significa que un modelo aprenda de los datos?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 i="0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formas de aprender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Supervised vs. unsupervised learning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Supervised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Aprende de pares input–output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Regresión: flujo máximo de rayos X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Clasificación: ¿flare M o mayor?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Unsupervised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Solo ve observaciones, sin labels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Busca estructura: clustering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Ej.: perfiles de Stokes parecidos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31" name="TextBox 30"/>
          <p:cNvSpPr txBox="1"/>
          <p:nvPr/>
        </p:nvSpPr>
        <p:spPr>
          <a:xfrm>
            <a:off x="1800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DCEEF0"/>
                </a:solidFill>
                <a:latin typeface="Arimo"/>
              </a:rPr>
              <a:t>Referencias: Asensio Ramos, Cheung, Chifu y Gafeira (2023), Living Rev. Sol. Phys. 20, 4, sección 1.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imágenes con filtros locales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RNN y LSTM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secuencias en el tiempo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Transformers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atención entre todos los elementos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es un </a:t>
            </a: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espaciotemporal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Deep learning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La arquitectura se elige según la forma del dato: imagen, secuencia o conjunto de tokens.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arquitectura de Surya, Roy et al. (2025)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surya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4884" y="432000"/>
            <a:ext cx="6458232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loss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mide qué tan lejos está la predicción del label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Entrenar es bajar la loss con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gradient descent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; backpropagation dice cómo mover cada peso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 evalúa en datos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held-out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que el modelo nunca vio al entrenar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Siempre contra un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baseline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tonto, p. ej. «nunca hay flare»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Entrenar y evaluar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modelo es bueno solo si supera a un baseline en datos que no vio.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(esquema)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entrenar_evalu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Aplicaciones en física solar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 i="0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 i="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se ha hecho ya con ML en datos solares?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8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6500"/>
                </a:lnSpc>
                <a:spcBef>
                  <a:spcPct val="0"/>
                </a:spcBef>
              </a:pPr>
              <a:r>
                <a:rPr lang="en-US" sz="5000" spc="-240" strike="noStrike" u="none" i="0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Aplicaciones del ML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Lo que se ha hecho con ML en datos solares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41040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Entender el Sol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Segmentation: agujeros coronales, manchas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Classification de imágenes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Inversión de Stokes, y su incertidumbre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Reconstrucción 3D de la corona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Deconvolution de imágenes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Estimación de velocidades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41040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Predecir y mejorar datos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Forecasting de flares y de CME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Heliosfera y space weather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Predicción del ciclo solar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Super-resolution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Denoising y desaturación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Far-side imaging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Generación de datos sintéticos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4104000"/>
            <a:ext cx="28575" cy="360000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31" name="TextBox 30"/>
          <p:cNvSpPr txBox="1"/>
          <p:nvPr/>
        </p:nvSpPr>
        <p:spPr>
          <a:xfrm>
            <a:off x="1800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DCEEF0"/>
                </a:solidFill>
                <a:latin typeface="Arimo"/>
              </a:rPr>
              <a:t>Referencias: Asensio Ramos, Cheung, Chifu y Gafeira (2023), Living Rev. Sol. Phys. 20, 4, sección 7.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Zonas oscuras en EUV y fuente principal del </a:t>
            </a:r>
            <a:r>
              <a:rPr lang="en-US" sz="1943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viento solar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U-Net</a:t>
            </a:r>
            <a:r>
              <a:rPr lang="en-US" sz="1943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AIA 193 Å: dice si cada píxel es agujero o no; </a:t>
            </a:r>
            <a:r>
              <a:rPr lang="en-US" sz="1943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2385 mapas</a:t>
            </a:r>
            <a:r>
              <a:rPr lang="en-US" sz="1943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entrenamiento (Illarionov y Tlatov, 2018)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 entrena con la </a:t>
            </a:r>
            <a:r>
              <a:rPr lang="en-US" sz="1943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binary cross-entropy</a:t>
            </a:r>
            <a:r>
              <a:rPr lang="en-US" sz="1943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píxel a píxel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CHRONNOS</a:t>
            </a:r>
            <a:r>
              <a:rPr lang="en-US" sz="1943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7 canales EUV de AIA + magnetograma de HMI (Jarolim et al., 2021)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Detectar agujeros coronales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Nueve métodos dibujan bordes distintos para el mismo agujero: falta estimar la incertidumbre.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un agujero coronal en AIA 193 Å segmentado por nueve métodos. Asensio Ramos et al. (2023), fig. 8, de Reiss et al. (2021), ApJ 913, 28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rev_fig8_agujer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740087"/>
            <a:ext cx="8424000" cy="7951826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Illarionov y Tlatov (2018), MNRAS 481, 5014 · Jarolim et al. (2021), A&amp;A 652, A13 · Reiss et al. (2021), ApJ 913, 28 · Asensio Ramos, Cheung, Chifu y Gafeira (2023), Living Rev. Sol. Phys. 20, 4, sección 7.1.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Flares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clasificación (¿M o mayor en horas o días?) o regresión del flujo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magnetogramas de MDI y HMI (Huang et al., 2018)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LSTM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 25 parámetros SHARP y la historia de flares (Liu et al., 2019)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CME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SVM de Bobra e Ilonidis (2016), capítulo 1 de HelioML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Predecir el clima espacial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Los flares grandes son raros: hay que comparar contra baselines.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 11944 durante el flare X1.2 del 7 ene 2014 (SDO, formato Surya)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ana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20892"/>
            <a:ext cx="8424000" cy="4790215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Huang et al. (2018), ApJ 856, 7 · Liu et al. (2019), ApJ 877, 121 · Bobra e Ilonidis (2016), ApJ 821, 127 · Asensio Ramos, Cheung, Chifu y Gafeira (2023), Living Rev. Sol. Phys. 20, 4, sección 7.3.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1354201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9 notebooks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4326001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HelioML: un libro de notebooks de Jupyter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Reproducen resultados publicados: CME con SVM, Enhance, DeepEM (≈ </a:t>
              </a: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10</a:t>
              </a:r>
              <a:r>
                <a:rPr lang="en-US" sz="2499" spc="-37" strike="noStrike" u="none" i="0" baseline="3000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7</a:t>
              </a: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 soluciones DEM por segundo), FarNet, viento solar sin labels (UMAP, HDBSCAN) y más.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RECURSO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3468751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Fisher score de cada parámetro SHARP para predecir CME. HelioML, cap. 1 (Bobra y Mason), según Bobra e Ilonidis (2016)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helioml_fish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575216"/>
            <a:ext cx="8424000" cy="4281567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pic>
        <p:nvPicPr>
          <p:cNvPr id="24" name="Picture 23" descr="qr_heliom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000" y="7452000"/>
            <a:ext cx="1512000" cy="1512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12000" y="7776000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71D30"/>
                </a:solidFill>
                <a:latin typeface="Arimo"/>
              </a:rPr>
              <a:t>Explora HelioML</a:t>
            </a:r>
          </a:p>
          <a:p>
            <a:r>
              <a:rPr sz="1600" b="0">
                <a:solidFill>
                  <a:srgbClr val="087F8C"/>
                </a:solidFill>
                <a:latin typeface="Arimo"/>
              </a:rPr>
              <a:t>helioml.org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Bobra y Mason (2018), HelioML, doi:10.5281/zenodo.1412824 · Bobra e Ilonidis (2016), ApJ 821, 127 · Díaz Baso y Asensio Ramos (2018), A&amp;A 614, A5 · Felipe y Asensio Ramos (2019), A&amp;A 632, A82.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Invierte </a:t>
            </a:r>
            <a:r>
              <a:rPr lang="en-US" sz="21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Stokes </a:t>
            </a:r>
            <a:r>
              <a:rPr lang="en-US" sz="2100" spc="-37" strike="noStrike" u="none" b="1" i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I</a:t>
            </a:r>
            <a:r>
              <a:rPr lang="en-US" sz="21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 y </a:t>
            </a:r>
            <a:r>
              <a:rPr lang="en-US" sz="2100" spc="-37" strike="noStrike" u="none" b="1" i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en </a:t>
            </a:r>
            <a:r>
              <a:rPr lang="en-US" sz="2100" spc="-37" strike="noStrike" u="none" i="1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</a:t>
            </a:r>
            <a:r>
              <a:rPr lang="en-US" sz="2100" spc="-37" strike="noStrike" u="none" i="1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v</a:t>
            </a:r>
            <a:r>
              <a:rPr lang="en-US" sz="2100" spc="-37" strike="noStrike" u="none" i="0" baseline="-25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LOS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y </a:t>
            </a:r>
            <a:r>
              <a:rPr lang="en-US" sz="2100" spc="-37" strike="noStrike" u="none" i="1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B</a:t>
            </a:r>
            <a:r>
              <a:rPr lang="en-US" sz="2100" spc="-37" strike="noStrike" u="none" i="0" baseline="-25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LOS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en </a:t>
            </a:r>
            <a:r>
              <a:rPr lang="en-US" sz="21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nodos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profundidad óptica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CNN multiescala entrenada con perfiles de </a:t>
            </a:r>
            <a:r>
              <a:rPr lang="en-US" sz="21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NICOLE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simulaciones </a:t>
            </a:r>
            <a:r>
              <a:rPr lang="en-US" sz="21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MURaM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Loss con términos físicos: </a:t>
            </a:r>
            <a:r>
              <a:rPr lang="en-US" sz="21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WFA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Doppler y cuerpo negro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480 × 480 px en una GPU, 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10</a:t>
            </a:r>
            <a:r>
              <a:rPr lang="en-US" sz="2100" spc="-37" strike="noStrike" u="none" i="0" baseline="30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–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10</a:t>
            </a:r>
            <a:r>
              <a:rPr lang="en-US" sz="2100" spc="-37" strike="noStrike" u="none" i="0" baseline="30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veces más rápido que sintetizar con NICOLE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MUISCA: inversión de Stokes con física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EN PREPARACIÓN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En preparación: el término WFA generaliza mejor, pero aún no iguala a los códigos numéricos.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Arquitectura y </a:t>
            </a:r>
            <a:r>
              <a:rPr lang="en-US" sz="1350" i="1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B</a:t>
            </a:r>
            <a:r>
              <a:rPr lang="en-US" sz="1350" i="0" baseline="-250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LOS</a:t>
            </a: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 en una mancha (Hinode/MODEST, log </a:t>
            </a:r>
            <a:r>
              <a:rPr lang="en-US" sz="1350" i="1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τ</a:t>
            </a: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 = −0,8). Agudelo Ortiz, Morales, Vargas Domínguez, Castellanos Durán y Shelyag, en prep.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muisca_compue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865530"/>
            <a:ext cx="8424000" cy="770094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Agudelo Ortiz, Morales, Vargas Domínguez, Castellanos Durán y Shelyag, MUISCA (en preparación).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6500"/>
                </a:lnSpc>
                <a:spcBef>
                  <a:spcPct val="0"/>
                </a:spcBef>
              </a:pPr>
              <a:r>
                <a:rPr lang="en-US" sz="5000" spc="-240" strike="noStrike" u="none" i="0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Por tarea vs. foundation model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Del modelo especializado al foundation model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 modelo por tarea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Una red para una sola tarea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Sus propios labels e instrumento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U-Net, Enhance, FarNet, MUISCA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Foundation model (Surya)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Pretrained con 13 canales de SDO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Se adapta con poco fine-tuning (LoRA)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Flares, viento solar, EUV…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31" name="TextBox 30"/>
          <p:cNvSpPr txBox="1"/>
          <p:nvPr/>
        </p:nvSpPr>
        <p:spPr>
          <a:xfrm>
            <a:off x="1800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DCEEF0"/>
                </a:solidFill>
                <a:latin typeface="Arimo"/>
              </a:rPr>
              <a:t>Referencias: Roy et al. (2025), arXiv:2508.14112 (Surya).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 i="0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 i="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¿Puede un modelo describir con palabras lo que ve Surya?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Meta: “muéstrame esta región activa y estima la probabilidad de un flare M en 24 h”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LLM orquesta los datos, ejecuta Surya y explica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Ruta: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VLM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→ preguntas → herramientas → agente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Hoy, el primer paso: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describir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una observación de SDO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El copiloto de física solar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MOTIVACIÓN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Antes de razonar sobre lo que ve Surya, sus embeddings deben traducirse al espacio del LLM.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magnetograma de HMI del 7 ene 2014 y la caja de una región activa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16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 i="0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fuentes de texto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Para entrenar hacen falta pares observación–caption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Artículos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Figuras y textos de la literatura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Hay que re-consultar la observación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Pocos pares y metadatos ruidosos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Catálogo (HEK, NOAA)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Posición, manchas y clases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Captions con plantilla fija, sin LLM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Muchos pares, texto repetitivo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 i="0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en cifras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366 M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parámetros: transformer espaciotemporal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+60 min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pretrained para hacer forecasting del Sol una hora adelante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13 canales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8 de AIA y 5 de HMI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4096²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píxeles: la resolución nativa de SDO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UN FOUNDATION MODEL PARA HELIOFÍSICA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41" name="TextBox 40"/>
          <p:cNvSpPr txBox="1"/>
          <p:nvPr/>
        </p:nvSpPr>
        <p:spPr>
          <a:xfrm>
            <a:off x="684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AFC0CE"/>
                </a:solidFill>
                <a:latin typeface="Arimo"/>
              </a:rPr>
              <a:t>Referencias: Roy et al. (2025), Surya: Foundation Model for Heliophysics, arXiv:2508.14112.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Normalización de Surya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Scaling, signed log y standardization con </a:t>
              </a:r>
              <a:r>
                <a:rPr lang="en-US" sz="2499" spc="-37" strike="noStrike" u="none" i="1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μ</a:t>
              </a: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 y </a:t>
              </a:r>
              <a:r>
                <a:rPr lang="en-US" sz="2499" spc="-37" strike="noStrike" u="none" i="1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σ</a:t>
              </a: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 globales de cada canal. Por eso una imagen no queda con media 0: aia94 va de −0,53 a 219,6.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0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surya.datasets.helio.transform; notebook, sección 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histogramas de aia94 en cada paso, AR 11944 (notebook, sección 2)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eq_norm_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" y="1224000"/>
            <a:ext cx="5893882" cy="2664000"/>
          </a:xfrm>
          <a:prstGeom prst="rect">
            <a:avLst/>
          </a:prstGeom>
        </p:spPr>
      </p:pic>
      <p:pic>
        <p:nvPicPr>
          <p:cNvPr id="24" name="Picture 23" descr="hist_nor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Recorte de </a:t>
            </a: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704 × 704 px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alrededor de la AR 11944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token por patch de </a:t>
            </a: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16 × 16 px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</a:t>
            </a: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× 45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Adaptive pooling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 16 × 16 = </a:t>
            </a: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256 tokens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corre sobre el </a:t>
            </a: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disco completo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se recortan tokens, no la imagen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 la región a 256 tokens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Recortar la imagen quitaría el contexto de posición y escala que Surya aprendió.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norma L2 de los tokens antes y después del pooling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3053248"/>
            <a:ext cx="8424000" cy="3325504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1: del dato a los tokens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1 a 5 del notebook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Cambia nombre a otro canal y compara los pasos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por qué la media no queda en 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nombre = "aia94"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k = constantes[nombre]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x = crudo[canales.index(nombre)].astype(np.float64)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paso1 = x * k["sl_scale_factor"]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paso2 = np.sign(paso1) * np.log1p(np.abs(paso1))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paso3 = (paso2 - k["mean"]) / (k["std"] + k["epsilon"])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 i="0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paso 3: mín −0,526 · máx 219,601 · media 9,203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 i="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Entender la normalización de Surya y sus constantes globales.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Surya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frozen: 256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Projector MLP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1280 → 4096 → GELU → 4096: </a:t>
            </a: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22 M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parámetros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Qwen3-8B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frozen lee los visual tokens y escribe el caption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receta de LLaVA (Liu et al., 2023)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+ projector + LLM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ARQUITECTURA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Solo se entrena el projector: 22 M de parámetros frente a 366 M de Surya.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propia, con las formas reales de cada paso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arquitectura_vl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Liu et al. (2023), Visual Instruction Tuning (LLaVA), arXiv:2304.08485.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316 posiciones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La secuencia que lee el LLM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Encabezado, 256 visual tokens (posiciones 4 a 259), el prompt y el caption. La loss solo cuenta el caption y su token de fin (275 a 314), no el prompt ni la imagen.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0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notebook, sección 7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a partir de 03_Datos/secuencia_ejemplo.json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secuenc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2: el projector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6 y 7 del notebook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Cuenta los parámetros del projector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qué posiciones entran en la loss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def gelu(x):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return 0.5 * x * (1.0 + erf(x / np.sqrt(2.0)))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class Proyector: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def __call__(self, x):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    return gelu(x @ self.w1 + self.b1) @ self.w2 + self.b2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proyector = Proyector()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visuales = proyector(agrupados.reshape(256, 1280))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 i="0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(256, 4096) · 22.028.288 parámetros entrenables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 i="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Ver cómo los 256 tokens de Surya se vuelven vectores que el LLM puede leer.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 i="0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Resultados del prototipo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0,557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mejor loss en las regiones held-out (epoch 15)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29 / 55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captions que dicen «sur»; solo 12 regiones lo son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+0,18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image gap: cuánto sube la loss si se cambia la imagen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17 / 19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hemisferio correcto en días nuevos (baseline: 7)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PRUEBA DE QUE EL FLUJO ENTRENA, NO UN RESULTADO CIENTÍFICO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loss held-out baja hasta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0,557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y se estabiliza;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la imagen importa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con otra imagen la loss sube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las 2 regiones del 7 ene,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«siempre norte»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gana (36/36 frente a 21/36)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No aprendió a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contar manchas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(6 de 19 en días nuevos)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Datos de pocos días y captions de plantilla: aún no hay generalización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Lo que funciona y lo que no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RESULTADOS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porcentaje global engaña: hay que comparar contra baselines y desglosar por clase.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loss curves y image gap del prototipo (run 2, 9 oct 2026)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loss_curv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 es un instrumento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operativo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GOES-R: daría datos en vivo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Solo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6 de los 13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canales de Surya tienen equivalente en SUVI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SUVI: 1280² px a 2,5″/px; AIA: 4096² a 0,6″/px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Hay cuadros de SUVI con ruido anómalo: falta un filtro de calidad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¿Ve Surya a través de GOES-SUVI?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MÁS ALLÁ DE SDO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Si Surya transfiere, el copiloto podría trabajar con datos en vivo además de SDO.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propia. SUVI 195 Å (GOES-18, NOAA) y AIA 193 Å (SDO, NASA), 15 mar 2023, 09:56 UT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suvi_a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57280"/>
            <a:ext cx="8424000" cy="471744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Darnel et al. (2022), Space Weather 20, e2022SW003044.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Conclusiones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LO QUE NOS LLEVAMOS HOY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1.  El ML ya resuelve tareas solares: segmentation, super-resolution, inversión y forecasting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2.  Los foundation models como Surya pasan de una tarea a muchas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3.  Un projector pequeño conecta Surya con un LLM; faltan mejores datos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 i="0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TAREA  ›  Ejercicios 1–4 del notebook (sección 9). Para seguir: HelioML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28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 i="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Referencias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LECTURAS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Asensio Ramos, Cheung, Chifu y Gafeira (2023). Machine learning in solar physics. Living Rev. Sol. Phys. 20, 4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y Mason (2018). Machine Learning, Statistics, and Data Mining for Heliophysics (HelioML). doi:10.5281/zenodo.1412824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Roy et al. (2025). Surya: Foundation Model for Heliophysics. arXiv:2508.14112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Liu et al. (2023). Visual Instruction Tuning (LLaVA). arXiv:2304.08485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Díaz Baso y Asensio Ramos (2018). Enhancing SDO/HMI images using deep learning. A&amp;A 614, A5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e Ilonidis (2016). Predicting Coronal Mass Ejections Using Machine Learning Methods. ApJ 821, 127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Reiss et al. (2021). The Observational Uncertainty of Coronal Hole Boundaries in Automated Detection Schemes. ApJ 913, 28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 i="0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MÁS LECTURAS  ›  04_Lecturas en el repositorio de la escuela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Python desde cero para </a:t>
            </a:r>
            <a:r>
              <a:rPr lang="en-US" sz="19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Ciencia de Datos, ML e IA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NumPy con datos reales de </a:t>
            </a:r>
            <a:r>
              <a:rPr lang="en-US" sz="19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TESS</a:t>
            </a:r>
            <a:r>
              <a:rPr lang="en-US" sz="19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el tránsito de WASP-18 b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Juan Esteban Agudelo Ortiz</a:t>
            </a:r>
            <a:r>
              <a:rPr lang="en-US" sz="19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(líder y guion); Thomas Gonzales, Milena Barrios y Claudia Cuellar (presentación); Santiago Pinilla y Daniel Rodríguez (edición)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colaboración con miembros del GoSA del OAN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Datos de Ciencia en YouTube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 de hoy (arrays, normalización, imshow) está en la serie de NumPy.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Videos de @Datos.deCiencia: 1 a 3 publicados; 4 en producción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2" name="Picture 21" descr="canal_vide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093690"/>
            <a:ext cx="8424000" cy="5244619"/>
          </a:xfrm>
          <a:prstGeom prst="rect">
            <a:avLst/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247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@Datos.deCiencia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¡Suscríbete!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Escanea el código o busca el canal en YouTube. Los notebooks de la serie de NumPy están en github.com/Datos-De-Ciencia.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0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youtube.com/@Datos.deCiencia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Logo del canal y código QR al canal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3" name="Picture 22" descr="canal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486118"/>
            <a:ext cx="8424000" cy="4459764"/>
          </a:xfrm>
          <a:prstGeom prst="rect">
            <a:avLst/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0"/>
            <a:ext cx="7858125" cy="10287000"/>
            <a:chOff x="0" y="0"/>
            <a:chExt cx="1031988" cy="135096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31988" cy="1350966"/>
            </a:xfrm>
            <a:custGeom>
              <a:avLst/>
              <a:gdLst/>
              <a:ahLst/>
              <a:cxnLst/>
              <a:rect r="r" b="b" t="t" l="l"/>
              <a:pathLst>
                <a:path h="1350966" w="1031988">
                  <a:moveTo>
                    <a:pt x="0" y="0"/>
                  </a:moveTo>
                  <a:lnTo>
                    <a:pt x="1031988" y="0"/>
                  </a:lnTo>
                  <a:lnTo>
                    <a:pt x="1031988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52512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9315450" y="2914650"/>
            <a:ext cx="8324850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40"/>
              </a:lnSpc>
              <a:spcBef>
                <a:spcPct val="0"/>
              </a:spcBef>
            </a:pPr>
            <a:r>
              <a:rPr lang="en-US" sz="3800" spc="-57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¿Preguntas?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03759" y="942975"/>
            <a:ext cx="8317491" cy="1999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956"/>
              </a:lnSpc>
            </a:pPr>
            <a:r>
              <a:rPr lang="en-US" sz="14956" spc="-523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¡Gracias!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315450" y="3943350"/>
            <a:ext cx="8096250" cy="8877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Juan Esteban Agudelo Ortiz</a:t>
            </a:r>
          </a:p>
          <a:p>
            <a:pPr algn="l">
              <a:lnSpc>
                <a:spcPts val="3569"/>
              </a:lnSpc>
            </a:pPr>
            <a:r>
              <a:rPr lang="en-US" sz="255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juagudeloo@unal.edu.co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315450" y="533400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315450" y="5715000"/>
            <a:ext cx="2000250" cy="2000250"/>
            <a:chOff x="0" y="0"/>
            <a:chExt cx="2667000" cy="2667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667000" cy="2667000"/>
            </a:xfrm>
            <a:custGeom>
              <a:avLst/>
              <a:gdLst/>
              <a:ahLst/>
              <a:cxnLst/>
              <a:rect r="r" b="b" t="t" l="l"/>
              <a:pathLst>
                <a:path h="2667000" w="2667000">
                  <a:moveTo>
                    <a:pt x="177800" y="0"/>
                  </a:moveTo>
                  <a:lnTo>
                    <a:pt x="2489200" y="0"/>
                  </a:lnTo>
                  <a:cubicBezTo>
                    <a:pt x="2587396" y="0"/>
                    <a:pt x="2667000" y="79604"/>
                    <a:pt x="2667000" y="177800"/>
                  </a:cubicBezTo>
                  <a:lnTo>
                    <a:pt x="2667000" y="2489200"/>
                  </a:lnTo>
                  <a:cubicBezTo>
                    <a:pt x="2667000" y="2587396"/>
                    <a:pt x="2587396" y="2667000"/>
                    <a:pt x="2489200" y="2667000"/>
                  </a:cubicBezTo>
                  <a:lnTo>
                    <a:pt x="177800" y="2667000"/>
                  </a:lnTo>
                  <a:cubicBezTo>
                    <a:pt x="79604" y="2667000"/>
                    <a:pt x="0" y="2587396"/>
                    <a:pt x="0" y="2489200"/>
                  </a:cubicBezTo>
                  <a:lnTo>
                    <a:pt x="0" y="177800"/>
                  </a:lnTo>
                  <a:cubicBezTo>
                    <a:pt x="0" y="79604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667000" cy="270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15" id="15" descr="Código QR de registro a la escuela"/>
          <p:cNvSpPr/>
          <p:nvPr/>
        </p:nvSpPr>
        <p:spPr>
          <a:xfrm flipH="false" flipV="false" rot="0">
            <a:off x="9410700" y="5810250"/>
            <a:ext cx="1809750" cy="1809750"/>
          </a:xfrm>
          <a:custGeom>
            <a:avLst/>
            <a:gdLst/>
            <a:ahLst/>
            <a:cxnLst/>
            <a:rect r="r" b="b" t="t" l="l"/>
            <a:pathLst>
              <a:path h="1809750" w="1809750">
                <a:moveTo>
                  <a:pt x="0" y="0"/>
                </a:moveTo>
                <a:lnTo>
                  <a:pt x="1809750" y="0"/>
                </a:lnTo>
                <a:lnTo>
                  <a:pt x="1809750" y="1809750"/>
                </a:lnTo>
                <a:lnTo>
                  <a:pt x="0" y="18097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1668125" y="5772150"/>
            <a:ext cx="6096000" cy="176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Registro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tiny.cc/escuelasolar</a:t>
            </a:r>
          </a:p>
          <a:p>
            <a:pPr algn="l">
              <a:lnSpc>
                <a:spcPts val="2835"/>
              </a:lnSpc>
            </a:pP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Más información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astronomiaoan.co/gosa/escuela.html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315450" y="8382000"/>
            <a:ext cx="2857500" cy="952500"/>
            <a:chOff x="0" y="0"/>
            <a:chExt cx="3810000" cy="1270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8100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3810000">
                  <a:moveTo>
                    <a:pt x="203200" y="0"/>
                  </a:moveTo>
                  <a:lnTo>
                    <a:pt x="3606800" y="0"/>
                  </a:lnTo>
                  <a:cubicBezTo>
                    <a:pt x="3719024" y="0"/>
                    <a:pt x="3810000" y="90976"/>
                    <a:pt x="3810000" y="203200"/>
                  </a:cubicBezTo>
                  <a:lnTo>
                    <a:pt x="3810000" y="1066800"/>
                  </a:lnTo>
                  <a:cubicBezTo>
                    <a:pt x="3810000" y="1179024"/>
                    <a:pt x="3719024" y="1270000"/>
                    <a:pt x="36068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8100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0" id="20" descr="Logo GoSA"/>
          <p:cNvSpPr/>
          <p:nvPr/>
        </p:nvSpPr>
        <p:spPr>
          <a:xfrm flipH="false" flipV="false" rot="0">
            <a:off x="9458325" y="8496300"/>
            <a:ext cx="1524000" cy="714375"/>
          </a:xfrm>
          <a:custGeom>
            <a:avLst/>
            <a:gdLst/>
            <a:ahLst/>
            <a:cxnLst/>
            <a:rect r="r" b="b" t="t" l="l"/>
            <a:pathLst>
              <a:path h="714375" w="1524000">
                <a:moveTo>
                  <a:pt x="0" y="0"/>
                </a:moveTo>
                <a:lnTo>
                  <a:pt x="1524000" y="0"/>
                </a:lnTo>
                <a:lnTo>
                  <a:pt x="1524000" y="714375"/>
                </a:lnTo>
                <a:lnTo>
                  <a:pt x="0" y="7143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2" t="0" r="-82" b="0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11163300" y="8477250"/>
            <a:ext cx="819150" cy="762000"/>
          </a:xfrm>
          <a:custGeom>
            <a:avLst/>
            <a:gdLst/>
            <a:ahLst/>
            <a:cxnLst/>
            <a:rect r="r" b="b" t="t" l="l"/>
            <a:pathLst>
              <a:path h="762000" w="819150">
                <a:moveTo>
                  <a:pt x="0" y="0"/>
                </a:moveTo>
                <a:lnTo>
                  <a:pt x="819150" y="0"/>
                </a:lnTo>
                <a:lnTo>
                  <a:pt x="8191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61" r="0" b="-61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2430125" y="8515350"/>
            <a:ext cx="5334000" cy="5876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Organiza: Group of Solar Astrophysics GoSA</a:t>
            </a:r>
          </a:p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200025" y="200025"/>
              <a:ext cx="1377950" cy="1377950"/>
            </a:xfrm>
            <a:custGeom>
              <a:avLst/>
              <a:gdLst/>
              <a:ahLst/>
              <a:cxnLst/>
              <a:rect r="r" b="b" t="t" l="l"/>
              <a:pathLst>
                <a:path h="1377950" w="1377950">
                  <a:moveTo>
                    <a:pt x="296333" y="688975"/>
                  </a:moveTo>
                  <a:cubicBezTo>
                    <a:pt x="296333" y="905825"/>
                    <a:pt x="472125" y="1081617"/>
                    <a:pt x="688975" y="1081617"/>
                  </a:cubicBezTo>
                  <a:cubicBezTo>
                    <a:pt x="905825" y="1081617"/>
                    <a:pt x="1081617" y="905825"/>
                    <a:pt x="1081617" y="688975"/>
                  </a:cubicBezTo>
                  <a:cubicBezTo>
                    <a:pt x="1081617" y="472125"/>
                    <a:pt x="905825" y="296333"/>
                    <a:pt x="688975" y="296333"/>
                  </a:cubicBezTo>
                  <a:cubicBezTo>
                    <a:pt x="472125" y="296333"/>
                    <a:pt x="296333" y="472125"/>
                    <a:pt x="296333" y="688975"/>
                  </a:cubicBezTo>
                  <a:close/>
                  <a:moveTo>
                    <a:pt x="1342390" y="280776"/>
                  </a:moveTo>
                  <a:cubicBezTo>
                    <a:pt x="1296472" y="202770"/>
                    <a:pt x="1127955" y="209077"/>
                    <a:pt x="900934" y="297297"/>
                  </a:cubicBezTo>
                  <a:cubicBezTo>
                    <a:pt x="673912" y="385518"/>
                    <a:pt x="423278" y="542093"/>
                    <a:pt x="244359" y="707470"/>
                  </a:cubicBezTo>
                  <a:cubicBezTo>
                    <a:pt x="65441" y="872847"/>
                    <a:pt x="-14264" y="1021609"/>
                    <a:pt x="35560" y="1097174"/>
                  </a:cubicBezTo>
                  <a:cubicBezTo>
                    <a:pt x="81478" y="1175180"/>
                    <a:pt x="249995" y="1168873"/>
                    <a:pt x="477016" y="1080653"/>
                  </a:cubicBezTo>
                  <a:cubicBezTo>
                    <a:pt x="704038" y="992432"/>
                    <a:pt x="954672" y="835857"/>
                    <a:pt x="1133591" y="670480"/>
                  </a:cubicBezTo>
                  <a:cubicBezTo>
                    <a:pt x="1312509" y="505103"/>
                    <a:pt x="1392214" y="356341"/>
                    <a:pt x="1342390" y="280776"/>
                  </a:cubicBezTo>
                  <a:close/>
                  <a:moveTo>
                    <a:pt x="688975" y="118533"/>
                  </a:moveTo>
                  <a:lnTo>
                    <a:pt x="688975" y="0"/>
                  </a:lnTo>
                  <a:moveTo>
                    <a:pt x="688975" y="1377950"/>
                  </a:moveTo>
                  <a:lnTo>
                    <a:pt x="688975" y="1259417"/>
                  </a:lnTo>
                  <a:moveTo>
                    <a:pt x="118533" y="688975"/>
                  </a:moveTo>
                  <a:lnTo>
                    <a:pt x="0" y="688975"/>
                  </a:lnTo>
                  <a:moveTo>
                    <a:pt x="1377950" y="688975"/>
                  </a:moveTo>
                  <a:lnTo>
                    <a:pt x="1259417" y="688975"/>
                  </a:lnTo>
                  <a:moveTo>
                    <a:pt x="288925" y="288925"/>
                  </a:moveTo>
                  <a:lnTo>
                    <a:pt x="207433" y="207433"/>
                  </a:lnTo>
                  <a:moveTo>
                    <a:pt x="1089025" y="1089025"/>
                  </a:moveTo>
                  <a:lnTo>
                    <a:pt x="1170517" y="1170517"/>
                  </a:lnTo>
                  <a:moveTo>
                    <a:pt x="325967" y="740833"/>
                  </a:moveTo>
                  <a:lnTo>
                    <a:pt x="488950" y="740833"/>
                  </a:lnTo>
                  <a:lnTo>
                    <a:pt x="570442" y="570442"/>
                  </a:lnTo>
                  <a:lnTo>
                    <a:pt x="696383" y="866775"/>
                  </a:lnTo>
                  <a:lnTo>
                    <a:pt x="807508" y="644525"/>
                  </a:lnTo>
                  <a:lnTo>
                    <a:pt x="881592" y="740833"/>
                  </a:lnTo>
                  <a:lnTo>
                    <a:pt x="1059392" y="740833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274233" y="229658"/>
              <a:ext cx="237067" cy="237067"/>
            </a:xfrm>
            <a:custGeom>
              <a:avLst/>
              <a:gdLst/>
              <a:ahLst/>
              <a:cxnLst/>
              <a:rect r="r" b="b" t="t" l="l"/>
              <a:pathLst>
                <a:path h="237067" w="237067">
                  <a:moveTo>
                    <a:pt x="118534" y="0"/>
                  </a:moveTo>
                  <a:lnTo>
                    <a:pt x="148167" y="88900"/>
                  </a:lnTo>
                  <a:lnTo>
                    <a:pt x="237067" y="118534"/>
                  </a:lnTo>
                  <a:lnTo>
                    <a:pt x="148167" y="148167"/>
                  </a:lnTo>
                  <a:lnTo>
                    <a:pt x="118534" y="237067"/>
                  </a:lnTo>
                  <a:lnTo>
                    <a:pt x="88900" y="148167"/>
                  </a:lnTo>
                  <a:lnTo>
                    <a:pt x="0" y="118534"/>
                  </a:lnTo>
                  <a:lnTo>
                    <a:pt x="88900" y="889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Presentación - HelioData Academy 2026</dc:description>
  <dc:identifier>DAHV1papYog</dc:identifier>
  <dcterms:modified xsi:type="dcterms:W3CDTF">2011-08-01T06:04:30Z</dcterms:modified>
  <cp:revision>1</cp:revision>
  <dc:title>Machine Learning aplicado al estudio del Sol</dc:title>
  <dc:creator>Juan Esteban Agudelo Ortiz</dc:creator>
</cp:coreProperties>
</file>