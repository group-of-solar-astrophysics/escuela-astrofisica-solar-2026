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Empezar por lo que ya conocen: los asistentes de chat se usan para resumir, traducir, explicar y programar, y es el mismo modelo en todos los casos. Eso es un foundation model: según Bommasani et al. (2021), un modelo entrenado con datos amplios a gran escala y adaptable a una gran variedad de tareas finales (downstream tasks). Otros ejemplos del día a día: generación de imágenes (Stable Diffusion, Rombach et al.), transcripción de voz (Whisper, Radford et al.), asistentes de programación. En las ciencias aparece lo mismo: modelos base para imágenes de teledetección y, en el Sol, Surya, que veremos en la lámina siguiente. Pregunta para el público: ¿qué tareas le han pedido ustedes a un asistente de chat? Transición: ¿y qué pasa cuando el modelo base es para el Sol?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Surya aparece aquí como el ejemplo que nos acompaña toda la sesión; los conceptos que usa (pretraining, fine-tuning, loss) se explican en las láminas siguientes. Una downstream task es la tarea final para la que se aprovecha un modelo preentrenado: en lugar de entrenar una red desde cero para cada problema, se parte de un modelo que ya aprendió cómo se ve el Sol y se ajusta, poco o nada, a cada tarea. Según el resumen del artículo (Roy et al. 2025): sin ajuste (zero-shot) se evaluó en dinámica solar y en forecasting de flares; con fine-tuning ligero (LoRA) en viento solar, segmentation de regiones activas, flares y espectros EUV. La figura es la arquitectura: bloques espectrales y de atención de corto y largo alcance sobre 13 canales y dos instantes (T0 y T1). En el bloque 03 le pondremos un LLM encima. Transición: para entender qué es aprender y cómo se adapta un modelo así, veamos primero los conceptos.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 Para cerrar la lámina: Con labels confiables, supervised; para explorar datos sin labels, unsupervised.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5.1: las CNN leen imágenes con filtros locales, las RNN y LSTM leen secuencias y los transformers relacionan todos los elementos con attention. Surya, que acabamos de ver, es un transformer; el esquema muestra la idea común a todas: capas de neuronas apiladas, cada una con pesos que se aprenden.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cerrar la lámina: vemos cuatro casos (agujeros coronales, flares y CME, HelioML y MUISCA). 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 Para cerrar la lámina: Nuestra pregunta: ¿se pueden traducir los embeddings de Surya al lenguaje?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 Para cerrar la lámina: El prototipo usa el catálogo; los artículos llegan cuando el pipeline madure.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 i="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modelo entrenado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una vez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datos muy amplios, que luego se adapta 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muchas tareas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Texto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los asistentes de chat como ChatGPT, Claude o Gemini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Imagen y voz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generadores como Stable Diffusion y transcripción automática como Whisper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Código</a:t>
            </a: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asistentes de programación como GitHub Copilot</a:t>
            </a:r>
          </a:p>
          <a:p>
            <a:pPr algn="l" marL="539748" indent="-269874" lvl="1">
              <a:lnSpc>
                <a:spcPts val="2632"/>
              </a:lnSpc>
              <a:spcBef>
                <a:spcPct val="0"/>
              </a:spcBef>
              <a:buFont typeface="Arial"/>
              <a:buChar char="•"/>
            </a:pPr>
            <a:r>
              <a:rPr lang="en-US" sz="188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Cada tarea final es una </a:t>
            </a:r>
            <a:r>
              <a:rPr lang="en-US" sz="188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¿Qué es un foundation model?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mismo modelo base sirve para muchas tareas distintas, no uno por tarea.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found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Bommasani et al. (2021), On the Opportunities and Risks of Foundation Models, arXiv:2108.07258 · Rombach et al. (2021), Stable Diffusion, arXiv:2112.10752 · Radford et al. (2022), Whisper, arXiv:2212.04356.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 un foundation model de heliofísica: un transformer espaciotemporal con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366 M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parámetros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Lee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13 canales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SDO en dos instantes y se entrenó (pretraining) para hacer forecasting del Sol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60 min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adelante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Después se adapta a </a:t>
            </a:r>
            <a:r>
              <a:rPr lang="en-US" sz="1767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downstream tasks</a:t>
            </a: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tareas concretas para las que se ajusta el modelo ya preentrenado</a:t>
            </a:r>
          </a:p>
          <a:p>
            <a:pPr algn="l" marL="539748" indent="-269874" lvl="1">
              <a:lnSpc>
                <a:spcPts val="2474"/>
              </a:lnSpc>
              <a:spcBef>
                <a:spcPct val="0"/>
              </a:spcBef>
              <a:buFont typeface="Arial"/>
              <a:buChar char="•"/>
            </a:pPr>
            <a:r>
              <a:rPr lang="en-US" sz="1767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Evaluadas: dinámica solar y flares sin ajuste (zero-shot); viento solar, regiones activas, flares y espectros EUV con fine-tuning (LoRA)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Surya: un modelo para el Sol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EJEMPLO DE LA SESIÓN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solo modelo preentrenado sirve de base para muchas tareas finales (downstream tasks).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Definición según Asensio Ramos et al. (2023), sección 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d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Asensio Ramos, Cheung, Chifu y Gafeira (2023), Living Rev. Sol. Phys. 20, 4, sección 5.1.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354201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4326001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10</a:t>
              </a:r>
              <a:r>
                <a:rPr lang="en-US" sz="2499" spc="-37" strike="noStrike" u="none" i="0" baseline="3000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7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3468751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pic>
        <p:nvPicPr>
          <p:cNvPr id="24" name="Picture 23" descr="qr_helio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00" y="7452000"/>
            <a:ext cx="1512000" cy="151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12000" y="777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71D30"/>
                </a:solidFill>
                <a:latin typeface="Arimo"/>
              </a:rPr>
              <a:t>Explora HelioML</a:t>
            </a:r>
          </a:p>
          <a:p>
            <a:r>
              <a:rPr sz="1600" b="0">
                <a:solidFill>
                  <a:srgbClr val="087F8C"/>
                </a:solidFill>
                <a:latin typeface="Arimo"/>
              </a:rPr>
              <a:t>helioml.org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I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 y </a:t>
            </a:r>
            <a:r>
              <a:rPr lang="en-US" sz="2100" spc="-37" strike="noStrike" u="none" b="1" i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</a:t>
            </a:r>
            <a:r>
              <a:rPr lang="en-US" sz="2100" spc="-37" strike="noStrike" u="none" i="1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</a:t>
            </a:r>
            <a:r>
              <a:rPr lang="en-US" sz="2100" spc="-37" strike="noStrike" u="none" i="0" baseline="-25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</a:t>
            </a:r>
            <a:r>
              <a:rPr lang="en-US" sz="2100" spc="-37" strike="noStrike" u="none" i="0" baseline="30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  <a:r>
              <a:rPr lang="en-US" sz="21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B</a:t>
            </a:r>
            <a:r>
              <a:rPr lang="en-US" sz="1350" i="0" baseline="-250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LOS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en una mancha (Hinode/MODEST, log </a:t>
            </a:r>
            <a:r>
              <a:rPr lang="en-US" sz="1350" i="1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τ</a:t>
            </a: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15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1800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 i="0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 i="0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 i="0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y </a:t>
              </a:r>
              <a:r>
                <a:rPr lang="en-US" sz="2499" spc="-37" strike="noStrike" u="none" i="1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σ</a:t>
              </a: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 i="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 i="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 i="0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 i="0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30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 i="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 i="0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 i="0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i="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 i="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 i="0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 i="0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 i="0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0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i="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 i="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