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 Para cerrar la lámina: Con labels confiables, supervised; para explorar datos sin labels, unsupervised.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5.1: las CNN leen imágenes con filtros locales, las RNN y LSTM leen secuencias y los transformers relacionan todos los elementos con attention. Los transformers son hoy la arquitectura de los modelos de lenguaje y también la de Surya, que veremos en el bloque 03; el esquema muestra la idea común a todas: capas de neuronas apiladas, cada una con pesos que se aprenden.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cuatro palabras vuelven en toda la sesión: la U-Net de agujeros coronales minimiza una loss (binary cross-entropy), en los flares hay que comparar contra un baseline porque los flares grandes son raros, y los resultados del prototipo se miden en regiones held-out contra baselines. Si el modelo solo mejora en train y no en held-out, memorizó (overfitting).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cerrar la lámina: vemos cuatro casos (agujeros coronales, flares y CME, HelioML y MUISCA). La lista completa de la sección 7 de la revisión (Asensio Ramos et al. 2023): 7.1 segmentation, 7.2 classification, 7.3 y 7.4 flare prediction y modelos explicables, 7.5 heliosfera y space weather, 7.6 ciclo solar, 7.7 inversión de Stokes (acelerar y caracterizar la incertidumbre), 7.8 reconstrucción 3D de la corona, 7.9 deconvolution, 7.10 image-to-image: datos sintéticos, velocidades, super-resolution, denoising, desaturación y far-side imaging. HelioML añade otras, como la estimación de DEM (DeepEM). No las vamos a ver todas: elegimos cuatro casos para ver cómo se plantea cada tipo de problema. Cifras para tener a mano: U-Net con 2385 mapas (7.1); Enhance lleva el píxel de HMI de 0,5″ a 0,25″ y puede crear artefactos (7.10.3); SICON invierte un mapa de 512 × 512 de Hinode en ≈ 200 ms (7.7.1); FarNet detecta ≈ 47 % más regiones del far side a iguales falsos positivos (7.10.6).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 Para cerrar la lámina: Nuestra pregunta: ¿se pueden traducir los embeddings de Surya al lenguaje?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Empezar por lo que ya conocen: los asistentes de chat se usan para resumir, traducir, explicar y programar, y es el mismo modelo en todos los casos. Eso es un foundation model: según Bommasani et al. (2021), un modelo entrenado con datos amplios a gran escala y adaptable a una gran variedad de tareas finales (downstream tasks). Otros ejemplos del día a día: generación de imágenes (Stable Diffusion, Rombach et al.), transcripción de voz (Whisper, Radford et al.), asistentes de programación. En las ciencias aparece lo mismo: modelos base para imágenes de teledetección y, en el Sol, Surya, que veremos en la lámina siguiente. Pregunta para el público: ¿qué tareas le han pedido ustedes a un asistente de chat? Transición: ¿y qué pasa cuando el modelo base es para el Sol?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Surya es el modelo sobre el que construimos el resto de la sesión; los conceptos que usa (loss, held-out, deep learning) ya se vieron en el bloque 01. Una downstream task es la tarea final para la que se aprovecha un modelo preentrenado: en lugar de entrenar una red desde cero para cada problema, se parte de un modelo que ya aprendió cómo se ve el Sol y se ajusta, poco o nada, a cada tarea. Según el resumen del artículo (Roy et al. 2025): sin ajuste (zero-shot) se evaluó en dinámica solar y en forecasting de flares; con fine-tuning ligero (LoRA) en viento solar, segmentation de regiones activas, flares y espectros EUV. La figura es la arquitectura: bloques espectrales y de atención de corto y largo alcance sobre 13 canales y dos instantes (T0 y T1). Ahora le ponemos un LLM encima. Transición: ¿cómo le enseñamos a ese modelo a hablar de lo que ve? Empecemos por el objetivo: un copiloto.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 Transición: para enseñarle a un modelo a describir, hacen falta pares observación–caption; ¿de dónde salen?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 Ejemplo de caption de plantilla: «An active region in the southern hemisphere on the east side of the disk (S05 E32) with 1 sunspot. It is a small single unipolar sunspot.» Transición: ya sabemos qué texto queremos; ahora, qué ve el modelo de la imagen. Para cerrar la lámina: El prototipo usa el catálogo; los artículos llegan cuando el pipeline madure.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histogramas muestran qué hace cada paso: el signed log comprime la cola larga de valores brillantes; la standardization con constantes globales deja los píxeles del flare a cientos de desviaciones. 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 Transición: ahora lo hacen ustedes, del dato crudo a los 256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min. Celda de la sección 2 del notebook (sin el bucle de impresión). Después, secciones 3 a 5: región de interés, tokens y pooling. Pregunta de la sección 4 para discutir: ¿qué estructuras de la imagen se ven en el mapa de normas de los tokens? Transición: ya tenemos 256 tokens de 1280 números; el LLM espera vectores de 4096.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la figura de arriba abajo con las formas de los tensores. Por qué no lineal: Surya se entrenó para pronosticar, no para alinearse con texto. 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el caption de plantilla de la AR 11892 (9 nov 2013), 40 tokens con el &lt;|im_end|&gt;; posiciones calculadas con el tokenizer de Qwen3-8B y el mismo código del entrenamiento. Entre el prompt y el caption hay un bloque &lt;think&gt;&lt;/think&gt; vacío: Qwen3 puede razonar antes de responder y aquí ese modo está apagado. Transición: ahora lo ven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 ≈ 10 min. Transición: con el projector entrenado (en GPU, fuera de la clase), ¿qué aprendió?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0,557 y +0,18 salen del log de entrenamiento (la siguiente lámina los muestra en las curvas); el image gap es el promedio de las epochs 5 a 20. 17/19 está en la sección 8 del notebook; 29/55 sale del ejercicio 4. Recordar la lámina de entrenar y evaluar: todo se mide en held-out y contra un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la sección 8 del notebook: seis captions generados y la tabla contra los baselines. La loss en train sigue bajando mientras la held-out se estanca desde la epoch 9: más epochs no ayudan con 139 muestras. 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(2022), Space Weather 20, e2022SW003044.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tres ideas y dejar la tarea: los ejercicios 1 a 4 del notebook; las soluciones están en 05_Recursos_adicionales/soluciones_ejercicios.ipynb. Luego,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3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 i="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unsupervised, deep learning, y cómo se entrena y se evalúa un modelo.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Definición según Asensio Ramos et al. (2023), sección 5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d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Asensio Ramos, Cheung, Chifu y Gafeira (2023), Living Rev. Sol. Phys. 20, 4, sección 5.1.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loss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mide qué tan lejos está la predicción del label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Entrenar es bajar la loss con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gradient descent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; backpropagation dice cómo mover cada peso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evalúa en datos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held-out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que el modelo nunca vio al entrenar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Siempre contra un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baseline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tonto, p. ej. «nunca hay flare»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Entrenar y evaluar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modelo es bueno solo si supera a un baseline en datos que no vio.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entrenar_evalu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Aplicaciones del ML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se ha hecho con ML en datos solares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41040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Entender el Sol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Segmentation: agujeros coronales, manchas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Classification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Inversión de Stokes, y su incertidumbre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Reconstrucción 3D de la corona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Deconvolution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Estimación de velocidades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41040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Predecir y mejorar datos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Forecasting de flares y de CME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Heliosfera y space weather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Predicción del ciclo solar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Super-resolution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Denoising y desaturación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Far-side imaging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Generación de datos sintéticos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4104000"/>
            <a:ext cx="28575" cy="360000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7.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Illarionov y Tlatov (2018), MNRAS 481, 5014 · Jarolim et al. (2021), A&amp;A 652, A13 · Reiss et al. (2021), ApJ 913, 28 · Asensio Ramos, Cheung, Chifu y Gafeira (2023), Living Rev. Sol. Phys. 20, 4, sección 7.1.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Huang et al. (2018), ApJ 856, 7 · Liu et al. (2019), ApJ 877, 121 · Bobra e Ilonidis (2016), ApJ 821, 127 · Asensio Ramos, Cheung, Chifu y Gafeira (2023), Living Rev. Sol. Phys. 20, 4, sección 7.3.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1354201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4326001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10</a:t>
              </a:r>
              <a:r>
                <a:rPr lang="en-US" sz="2499" spc="-37" strike="noStrike" u="none" i="0" baseline="3000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7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3468751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pic>
        <p:nvPicPr>
          <p:cNvPr id="24" name="Picture 23" descr="qr_heliom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00" y="7452000"/>
            <a:ext cx="1512000" cy="1512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12000" y="777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71D30"/>
                </a:solidFill>
                <a:latin typeface="Arimo"/>
              </a:rPr>
              <a:t>Explora HelioML</a:t>
            </a:r>
          </a:p>
          <a:p>
            <a:r>
              <a:rPr sz="1600" b="0">
                <a:solidFill>
                  <a:srgbClr val="087F8C"/>
                </a:solidFill>
                <a:latin typeface="Arimo"/>
              </a:rPr>
              <a:t>helioml.org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Bobra y Mason (2018), HelioML, doi:10.5281/zenodo.1412824 · Bobra e Ilonidis (2016), ApJ 821, 127 · Díaz Baso y Asensio Ramos (2018), A&amp;A 614, A5 · Felipe y Asensio Ramos (2019), A&amp;A 632, A82.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</a:t>
            </a:r>
            <a:r>
              <a:rPr lang="en-US" sz="2100" spc="-37" strike="noStrike" u="none" b="1" i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I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 y </a:t>
            </a:r>
            <a:r>
              <a:rPr lang="en-US" sz="2100" spc="-37" strike="noStrike" u="none" b="1" i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v</a:t>
            </a:r>
            <a:r>
              <a:rPr lang="en-US" sz="2100" spc="-37" strike="noStrike" u="none" i="0" baseline="-25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</a:t>
            </a:r>
            <a:r>
              <a:rPr lang="en-US" sz="2100" spc="-37" strike="noStrike" u="none" i="0" baseline="-25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</a:t>
            </a:r>
            <a:r>
              <a:rPr lang="en-US" sz="2100" spc="-37" strike="noStrike" u="none" i="0" baseline="30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</a:t>
            </a:r>
            <a:r>
              <a:rPr lang="en-US" sz="2100" spc="-37" strike="noStrike" u="none" i="0" baseline="30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</a:t>
            </a:r>
            <a:r>
              <a:rPr lang="en-US" sz="1350" i="1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B</a:t>
            </a:r>
            <a:r>
              <a:rPr lang="en-US" sz="1350" i="0" baseline="-250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LOS</a:t>
            </a: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 en una mancha (Hinode/MODEST, log </a:t>
            </a:r>
            <a:r>
              <a:rPr lang="en-US" sz="1350" i="1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τ</a:t>
            </a: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Agudelo Ortiz, Morales, Vargas Domínguez, Castellanos Durán y Shelyag, MUISCA (en preparación).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Roy et al. (2025), arXiv:2508.14112 (Surya).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modelo entrenado </a:t>
            </a: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una vez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datos muy amplios, que luego se adapta a </a:t>
            </a: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muchas tareas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Texto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los asistentes de chat como ChatGPT, Claude o Gemini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Imagen y voz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generadores como Stable Diffusion y transcripción automática como Whisper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Código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asistentes de programación como GitHub Copilot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Cada tarea final es una </a:t>
            </a: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downstream task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¿Qué es un foundation model?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mismo modelo base sirve para muchas tareas distintas, no uno por tarea.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found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Bommasani et al. (2021), On the Opportunities and Risks of Foundation Models, arXiv:2108.07258 · Rombach et al. (2021), Stable Diffusion, arXiv:2112.10752 · Radford et al. (2022), Whisper, arXiv:2212.04356.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 un foundation model de heliofísica: un transformer espaciotemporal con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366 M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parámetros</a:t>
            </a:r>
          </a:p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Lee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13 canales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SDO en dos instantes y se entrenó (pretraining) para hacer forecasting del Sol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60 min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adelante</a:t>
            </a:r>
          </a:p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Después se adapta a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downstream tasks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tareas concretas para las que se ajusta el modelo ya preentrenado</a:t>
            </a:r>
          </a:p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Evaluadas: dinámica solar y flares sin ajuste (zero-shot); viento solar, regiones activas, flares y espectros EUV con fine-tuning (LoRA)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Surya: un modelo para el Sol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EJEMPLO DE LA SESIÓN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solo modelo preentrenado sirve de base para muchas tareas finales (downstream tasks).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Roy et al. (2025), Surya: Foundation Model for Heliophysics, arXiv:2508.14112.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 i="0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UN FOUNDATION MODEL PARA HELIOFÍSICA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41" name="TextBox 4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AFC0CE"/>
                </a:solidFill>
                <a:latin typeface="Arimo"/>
              </a:rPr>
              <a:t>Referencias: Roy et al. (2025), Surya: Foundation Model for Heliophysics, arXiv:2508.14112.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</a:t>
              </a:r>
              <a:r>
                <a:rPr lang="en-US" sz="2499" spc="-37" strike="noStrike" u="none" i="1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μ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y </a:t>
              </a:r>
              <a:r>
                <a:rPr lang="en-US" sz="2499" spc="-37" strike="noStrike" u="none" i="1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σ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histogramas de aia94 en cada paso, AR 11944 (notebook, sección 2)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hist_n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propia, con las formas reales de cada paso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arquitectura_v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Liu et al. (2023), Visual Instruction Tuning (LLaVA), arXiv:2304.08485.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316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314),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 i="0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held-out baja hasta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0,557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se estabiliza;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con otra imagen la loss sube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y image gap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loss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Darnel et al. (2022), Space Weather 20, e2022SW003044.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29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TAREA  ›  Ejercicios 1–4 del notebook (sección 9). Para seguir: HelioML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30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 i="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 (2018). Machine Learning, Statistics, and Data Mining for Heliophysics (HelioML). doi:10.5281/zenodo.1412824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Enhancing SDO/HMI images using deep learning. A&amp;A 614, A5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Coronal Mass Ejections Using Machine Learning Methods. ApJ 821, 127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Reiss et al. (2021). The Observational Uncertainty of Coronal Hole Boundaries in Automated Detection Schemes. ApJ 913, 28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